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/>
          <a:p>
            <a:r>
              <a:t>Dynamic LQR had the smallest errors on the four built-in routes.</a:t>
            </a:r>
          </a:p>
          <a:p/>
          <a:p>
            <a:r>
              <a:t>All tests used a kinematic model to move the car. The dynamic model helped design one controller. These results compare the controllers in this simulation.</a:t>
            </a:r>
          </a:p>
          <a:p/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/>
          <a:p>
            <a:r>
              <a:t>Dynamic LQR had the smallest errors on the four built-in routes.</a:t>
            </a:r>
          </a:p>
          <a:p/>
          <a:p>
            <a:r>
              <a:t>All tests used a kinematic model to move the car. The dynamic model helped design one controller. These results compare the controllers in this simulation.</a:t>
            </a:r>
          </a:p>
          <a:p/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/>
          <a:p>
            <a:r>
              <a:t>Dynamic LQR had the smallest errors on the four built-in routes.</a:t>
            </a:r>
          </a:p>
          <a:p/>
          <a:p>
            <a:r>
              <a:t>All tests used a kinematic model to move the car. The dynamic model helped design one controller. These results compare the controllers in this simulation.</a:t>
            </a:r>
          </a:p>
          <a:p/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/>
          <a:p>
            <a:r>
              <a:t>Dynamic LQR had the smallest errors on the four built-in routes.</a:t>
            </a:r>
          </a:p>
          <a:p/>
          <a:p>
            <a:r>
              <a:t>All tests used a kinematic model to move the car. The dynamic model helped design one controller. These results compare the controllers in this simulation.</a:t>
            </a:r>
          </a:p>
          <a:p/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/>
          <a:p>
            <a:r>
              <a:t>Dynamic LQR had the smallest errors on the four built-in routes.</a:t>
            </a:r>
          </a:p>
          <a:p/>
          <a:p>
            <a:r>
              <a:t>All tests used a kinematic model to move the car. The dynamic model helped design one controller. These results compare the controllers in this simulation.</a:t>
            </a:r>
          </a:p>
          <a:p/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0"/>
          <p:cNvSpPr/>
          <p:nvPr/>
        </p:nvSpPr>
        <p:spPr>
          <a:xfrm>
            <a:off x="0" y="4670948"/>
            <a:ext cx="5099112" cy="913263"/>
          </a:xfrm>
          <a:custGeom>
            <a:avLst/>
            <a:gdLst>
              <a:gd name="connsiteX0" fmla="*/ 0 w 5099112"/>
              <a:gd name="connsiteY0" fmla="*/ 0 h 913263"/>
              <a:gd name="connsiteX1" fmla="*/ 5099112 w 5099112"/>
              <a:gd name="connsiteY1" fmla="*/ 0 h 913263"/>
              <a:gd name="connsiteX2" fmla="*/ 4498020 w 5099112"/>
              <a:gd name="connsiteY2" fmla="*/ 913263 h 913263"/>
              <a:gd name="connsiteX3" fmla="*/ 0 w 5099112"/>
              <a:gd name="connsiteY3" fmla="*/ 913263 h 91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99112" h="913263">
                <a:moveTo>
                  <a:pt x="0" y="0"/>
                </a:moveTo>
                <a:lnTo>
                  <a:pt x="5099112" y="0"/>
                </a:lnTo>
                <a:lnTo>
                  <a:pt x="4498020" y="913263"/>
                </a:lnTo>
                <a:lnTo>
                  <a:pt x="0" y="913263"/>
                </a:lnTo>
                <a:close/>
              </a:path>
            </a:pathLst>
          </a:custGeom>
          <a:solidFill>
            <a:srgbClr val="1737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 flipH="1" flipV="1">
            <a:off x="4434659" y="1493294"/>
            <a:ext cx="7757341" cy="1453487"/>
          </a:xfrm>
          <a:custGeom>
            <a:avLst/>
            <a:gdLst>
              <a:gd name="connsiteX0" fmla="*/ 6800683 w 7757341"/>
              <a:gd name="connsiteY0" fmla="*/ 1453487 h 1453487"/>
              <a:gd name="connsiteX1" fmla="*/ 0 w 7757341"/>
              <a:gd name="connsiteY1" fmla="*/ 1453487 h 1453487"/>
              <a:gd name="connsiteX2" fmla="*/ 0 w 7757341"/>
              <a:gd name="connsiteY2" fmla="*/ 0 h 1453487"/>
              <a:gd name="connsiteX3" fmla="*/ 7757341 w 7757341"/>
              <a:gd name="connsiteY3" fmla="*/ 0 h 145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341" h="1453487">
                <a:moveTo>
                  <a:pt x="6800683" y="1453487"/>
                </a:moveTo>
                <a:lnTo>
                  <a:pt x="0" y="1453487"/>
                </a:lnTo>
                <a:lnTo>
                  <a:pt x="0" y="0"/>
                </a:lnTo>
                <a:lnTo>
                  <a:pt x="7757341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0" y="1997124"/>
            <a:ext cx="7757341" cy="2906973"/>
          </a:xfrm>
          <a:custGeom>
            <a:avLst/>
            <a:gdLst>
              <a:gd name="connsiteX0" fmla="*/ 0 w 7757341"/>
              <a:gd name="connsiteY0" fmla="*/ 0 h 2906973"/>
              <a:gd name="connsiteX1" fmla="*/ 7757341 w 7757341"/>
              <a:gd name="connsiteY1" fmla="*/ 0 h 2906973"/>
              <a:gd name="connsiteX2" fmla="*/ 5844026 w 7757341"/>
              <a:gd name="connsiteY2" fmla="*/ 2906973 h 2906973"/>
              <a:gd name="connsiteX3" fmla="*/ 0 w 7757341"/>
              <a:gd name="connsiteY3" fmla="*/ 2906973 h 290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341" h="2906973">
                <a:moveTo>
                  <a:pt x="0" y="0"/>
                </a:moveTo>
                <a:lnTo>
                  <a:pt x="7757341" y="0"/>
                </a:lnTo>
                <a:lnTo>
                  <a:pt x="5844026" y="2906973"/>
                </a:lnTo>
                <a:lnTo>
                  <a:pt x="0" y="290697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135805" y="1750678"/>
            <a:ext cx="2512226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Century Gothic" panose="020B0502020202020204" pitchFamily="34" charset="0"/>
              </a:rPr>
              <a:t>Part  2.</a:t>
            </a:r>
            <a:endParaRPr lang="zh-CN" altLang="en-US" sz="55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7335" y="2687955"/>
            <a:ext cx="5817235" cy="1663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Three Key Variables 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Analysis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10030" y="6155140"/>
            <a:ext cx="181970" cy="54591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1" grpId="0" bldLvl="0" animBg="1"/>
      <p:bldP spid="2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33451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Design</a:t>
            </a:r>
            <a:endParaRPr lang="en-US" altLang="zh-CN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  <p:sp>
        <p:nvSpPr>
          <p:cNvPr id="34" name="Main explanation"/>
          <p:cNvSpPr>
            <a:spLocks noGrp="1"/>
          </p:cNvSpPr>
          <p:nvPr/>
        </p:nvSpPr>
        <p:spPr>
          <a:xfrm>
            <a:off x="677545" y="1093470"/>
            <a:ext cx="10842625" cy="49409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Background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path tracking is a fundamental capability of autonomous driving, requiring the vehicle to follow a reference path accurately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Objective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identify the key factors affecting tracking performance and how they act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Variables studied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control algorithm, target speed, and path geometry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control-variable approach — change one variable at a time while holding the others fixed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Scope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ten experiment runs in total, all reaching the goal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Common settings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the same vehicle parameters, the same reference implementations, and unified evaluation metrics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Metrics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lateral error, steering angle, normal acceleration, yaw rate, and steering rate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35610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Target Speed</a:t>
            </a:r>
            <a:endParaRPr lang="en-US" altLang="zh-CN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762000" y="1757045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00" b="0">
              <a:solidFill>
                <a:srgbClr val="7575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8135" y="1310640"/>
            <a:ext cx="6010910" cy="51193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/>
              <a:t>Comparison across three speed levels</a:t>
            </a:r>
            <a:r>
              <a:rPr lang="en-US" altLang="zh-CN" sz="1875" dirty="0"/>
              <a:t>: low, medium, and high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As speed increases, the mean tracking error changes little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peak error at sharp turns increases markedly, so the difficulty is concentrated in the transient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normal acceleration grows with the square of speed, so the lateral demand rises sharply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yaw rate grows linearly with speed, so the yaw response must be established faster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steady-state steering angle is independent of speed, but the time available for correction shrinks with speed</a:t>
            </a:r>
            <a:endParaRPr lang="en-US" altLang="zh-CN" sz="1875" dirty="0"/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/>
              <a:t>Conclusion</a:t>
            </a:r>
            <a:r>
              <a:rPr lang="en-US" altLang="zh-CN" sz="1875" dirty="0"/>
              <a:t>: tracking is harder at high speed because of the lateral load and the response time, not because of the steering angle magnitude</a:t>
            </a:r>
            <a:endParaRPr lang="en-US" altLang="zh-CN" sz="1875" dirty="0"/>
          </a:p>
        </p:txBody>
      </p:sp>
      <p:pic>
        <p:nvPicPr>
          <p:cNvPr id="8" name="图片 7" descr="spe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680" y="498475"/>
            <a:ext cx="5407660" cy="6172835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41579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Control Algorithm</a:t>
            </a:r>
            <a:endParaRPr lang="en-US" altLang="zh-CN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618490" y="1285240"/>
            <a:ext cx="5640705" cy="52381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algorithms compared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Pure Pursuit (PP), kinematic LQR, dynamic LQR, and MPC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 tracks using geometric relations; it is simple and produces the smoothest control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Kinematic LQR introduces error feedback, improving accuracy, but changes the steering angle most rapidly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LQR accounts for tire sideslip and achieves the highest tracking accuracy with the smallest error along the path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MPC plans ahead through receding-horizon optimization, achieving the best endpoint convergence and the most accurate final position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no single algorithm is optimal on all metrics; the choice depends on the priority among accuracy, endpoint convergence, and smoothness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00" b="0">
              <a:solidFill>
                <a:srgbClr val="7575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" name="图片 4" descr="algorith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410" y="495935"/>
            <a:ext cx="5490210" cy="6204585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69538" y="366987"/>
            <a:ext cx="383413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Path Geometry</a:t>
            </a:r>
            <a:endParaRPr lang="zh-CN" altLang="en-US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474345" y="1489710"/>
            <a:ext cx="5621020" cy="47167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Five routes compared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double lane change, right-angle turn, S-curve, circle, and mixed course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double lane change involves consecutive lane changes with rapid reversal of curvature sign, stressing the transient response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right-angle turn has a step change in curvature, producing a prominent error spike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S-curve alternates positive and negative curvature and is the hardest to track, with the largest peak error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circular path of constant curvature is the easiest, with the smallest error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a curvature discontinuity is harder to handle than the curvature magnitude itself; smooth geometry is easier to track</a:t>
            </a:r>
            <a:endParaRPr lang="en-US" altLang="zh-CN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00" b="0">
              <a:solidFill>
                <a:srgbClr val="7575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" name="图片 3" descr="geomet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4590" y="429260"/>
            <a:ext cx="5586730" cy="6306820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138" y="6639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763518" y="444457"/>
            <a:ext cx="187833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endParaRPr lang="en-US" altLang="zh-CN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/>
          <p:cNvSpPr>
            <a:spLocks noGrp="1"/>
          </p:cNvSpPr>
          <p:nvPr/>
        </p:nvSpPr>
        <p:spPr>
          <a:xfrm>
            <a:off x="913130" y="1117600"/>
            <a:ext cx="10260965" cy="5299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control algorithm determines tracking accuracy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dynamic LQR is the most accurate, MPC has the best endpoint accuracy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target speed determines the transient difficulty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high speed amplifies the peak error at sharp turns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1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path geometry determines the peak error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a curvature discontinuity is harder to track than its magnitude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three variables act on different aspects of tracking and can compound with one another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Engineering implications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choose the algorithm by scenario, reserve a lateral margin at high speed, and smooth the response ahead of sharp turns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Limitations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simplified simulation models; normal acceleration is a reference value; the geometry dimension was verified with only a single algorithm</a:t>
            </a: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3437</Words>
  <Application>WPS 演示</Application>
  <PresentationFormat>宽屏</PresentationFormat>
  <Paragraphs>69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Century Gothic</vt:lpstr>
      <vt:lpstr>Arial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江流万年</cp:lastModifiedBy>
  <cp:revision>160</cp:revision>
  <dcterms:created xsi:type="dcterms:W3CDTF">2019-06-19T02:08:00Z</dcterms:created>
  <dcterms:modified xsi:type="dcterms:W3CDTF">2026-09-17T16:48:42Z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5061509B925D410A97B367D36156F26F_11</vt:lpwstr>
  </property>
</Properties>
</file>