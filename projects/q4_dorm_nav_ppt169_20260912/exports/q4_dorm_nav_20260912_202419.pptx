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gif" ContentType="image/gi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各位老师、同学好，我汇报问题四：从寝室导航到教室。做了四件事——建地图、生成参考路径并配速度、用 Pure Pursuit 做跟踪，然后跑实验看数据。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这是整条流程。四个环节依次是地图构建、参考路径生成、PP 算法实现、实验数据分析，前一个的输出就是后一个的输入。全程离线跑，不联网。下面这段是车沿参考路径走完全程的第一视角，1450.6 米。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地图用 OSM 原始数据，把校园周边的可行驶道路抽出来建成路网：1745 个节点、1989 条边、总长 146.7 公里，整张图是连通的。起终点先吸附到最近节点，分别偏了 44.4 米和 74.5 米，再跑 Dijkstra，得到 1463.5 米的折线。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这一步问题最大。折线直接拿来用，曲率最大 1.6049，半径只有 0.62 米。而这台车前轮最大 35 度、轴距 2.5 米，曲率极限 0.2801，对应 3.57 米半径——超了 5.7 倍，物理上过不去。我做了两步：先对曲率做高斯平滑，再对拐点倒圆角，曲率降到 0.1166。其中平滑贡献了 92% 的降幅，倒圆角只有 14%。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有了曲率就能配速度，v 等于根号下侧向加速度上限除以曲率。同一条路上，匀速时峰值侧向加速度 7.30，换成曲率限速后降到 4.34。这里踩过一个坑：限速必须逐点递推，减速段从后往前扫、加速段从前往后扫。我一开始写成一次性数组运算，每个点只看自己，车根本减不下来。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这一页扫了两个参数：前视距离 1 到 12 米、速度 3 到 8 米每秒，一共 18 组仿真。前视距离变大，误差峰值从 1.06 涨到 4.12 米，但转向抖动从 23.8 降到 1.8 度每秒，贴线和平顺只能选一头。速度提上去误差也涨，3 到 7 米每秒，误差峰值从 1.42 到 1.64 米。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四条结论。一是曲率平滑影响最大，同一台车同一速度，只加平滑，峰值侧向加速度从 17.83 降到 7.97。二是曲率限速把侧向加速度从 7.30 压到 4.34，代价是终点误差多了 0.31 米。三是速度越高误差越大，3 到 7 米每秒误差峰值从 1.42 涨到 1.64 米。四是前视距离要折中。另外有个细节我印象很深：18 组仿真的误差峰值全都落在同一个地方，s 大约 589 米、半径 2.4 米那个急弯。整条路线的跟踪质量上限，就是这一个弯决定的。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汇报完毕，谢谢老师，请批评指正。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078696422cac77.gi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ff1d098d28d5989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7186023ac6c0964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fc2dbbc634a4c7b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cd0bd3096327e95.png"/>
  <Relationship Id="rId3" Type="http://schemas.openxmlformats.org/officeDocument/2006/relationships/image" Target="../media/image_c835eed2c935c528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107bd29b021310d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0194" y="2209800"/>
            <a:ext cx="5673090" cy="1685925"/>
            <a:chOff x="790194" y="2209800"/>
            <a:chExt cx="5673090" cy="1685925"/>
          </a:xfrm>
        </p:grpSpPr>
        <p:sp>
          <p:nvSpPr>
            <p:cNvPr id="11" name="TextBox 11"/>
            <p:cNvSpPr txBox="1"/>
            <p:nvPr/>
          </p:nvSpPr>
          <p:spPr>
            <a:xfrm>
              <a:off x="790194" y="2209800"/>
              <a:ext cx="567309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从寝室到教室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484" y="3225165"/>
              <a:ext cx="476490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1450.6 m · 全程离线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7538" y="3860482"/>
            <a:ext cx="5732431" cy="454343"/>
            <a:chOff x="877538" y="3860482"/>
            <a:chExt cx="5732431" cy="454343"/>
          </a:xfrm>
        </p:grpSpPr>
        <p:sp>
          <p:nvSpPr>
            <p:cNvPr id="14" name="TextBox 14"/>
            <p:cNvSpPr txBox="1"/>
            <p:nvPr/>
          </p:nvSpPr>
          <p:spPr>
            <a:xfrm>
              <a:off x="880872" y="3860482"/>
              <a:ext cx="57290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问题四 · 地图构建 / 参考路径 / 轨迹跟踪 / 实验分析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77538" y="430530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65470" y="4788508"/>
            <a:ext cx="3807080" cy="345491"/>
            <a:chOff x="865470" y="4788508"/>
            <a:chExt cx="3807080" cy="345491"/>
          </a:xfrm>
        </p:grpSpPr>
        <p:sp>
          <p:nvSpPr>
            <p:cNvPr id="17" name="TextBox 17"/>
            <p:cNvSpPr txBox="1"/>
            <p:nvPr/>
          </p:nvSpPr>
          <p:spPr>
            <a:xfrm>
              <a:off x="865470" y="4788508"/>
              <a:ext cx="1483451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汇报人 / ___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0777" y="4788508"/>
              <a:ext cx="1731773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指导教师 / ___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74837" y="5819775"/>
            <a:ext cx="2795231" cy="845344"/>
            <a:chOff x="9174837" y="5819775"/>
            <a:chExt cx="2795231" cy="845344"/>
          </a:xfrm>
        </p:grpSpPr>
        <p:sp>
          <p:nvSpPr>
            <p:cNvPr id="20" name="Rectangle 20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任务流程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39501" y="812006"/>
              <a:ext cx="4004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全程 1450.6 m · 2903 个参考点 · 7 个拐点 · 离线运行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7255" y="1473200"/>
            <a:ext cx="1055489" cy="1034256"/>
            <a:chOff x="1377255" y="1473200"/>
            <a:chExt cx="1055489" cy="1034256"/>
          </a:xfrm>
        </p:grpSpPr>
        <p:grpSp>
          <p:nvGrpSpPr>
            <p:cNvPr id="12" name="Group 12"/>
            <p:cNvGrpSpPr/>
            <p:nvPr/>
          </p:nvGrpSpPr>
          <p:grpSpPr>
            <a:xfrm>
              <a:off x="1762125" y="1473200"/>
              <a:ext cx="305371" cy="285750"/>
              <a:chOff x="1762125" y="1473200"/>
              <a:chExt cx="305371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762125" y="1473200"/>
                <a:ext cx="2857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54000">
                    <a:moveTo>
                      <a:pt x="142875" y="230188"/>
                    </a:moveTo>
                    <a:lnTo>
                      <a:pt x="95250" y="206375"/>
                    </a:lnTo>
                    <a:lnTo>
                      <a:pt x="0" y="254000"/>
                    </a:lnTo>
                    <a:lnTo>
                      <a:pt x="0" y="47625"/>
                    </a:lnTo>
                    <a:lnTo>
                      <a:pt x="95250" y="0"/>
                    </a:lnTo>
                    <a:lnTo>
                      <a:pt x="190500" y="47625"/>
                    </a:lnTo>
                    <a:lnTo>
                      <a:pt x="285750" y="0"/>
                    </a:lnTo>
                    <a:lnTo>
                      <a:pt x="285750" y="119062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857375" y="14732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52625" y="1520825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64753" y="1647815"/>
                <a:ext cx="102743" cy="111135"/>
              </a:xfrm>
              <a:custGeom>
                <a:avLst/>
                <a:gdLst/>
                <a:ahLst/>
                <a:cxnLst/>
                <a:rect l="l" t="t" r="r" b="b"/>
                <a:pathLst>
                  <a:path w="102743" h="111135">
                    <a:moveTo>
                      <a:pt x="85043" y="81306"/>
                    </a:moveTo>
                    <a:cubicBezTo>
                      <a:pt x="98666" y="67687"/>
                      <a:pt x="102743" y="47201"/>
                      <a:pt x="95373" y="29403"/>
                    </a:cubicBezTo>
                    <a:cubicBezTo>
                      <a:pt x="88002" y="11605"/>
                      <a:pt x="70636" y="0"/>
                      <a:pt x="51372" y="0"/>
                    </a:cubicBezTo>
                    <a:cubicBezTo>
                      <a:pt x="32108" y="0"/>
                      <a:pt x="14741" y="11605"/>
                      <a:pt x="7371" y="29403"/>
                    </a:cubicBezTo>
                    <a:cubicBezTo>
                      <a:pt x="0" y="47201"/>
                      <a:pt x="4077" y="67687"/>
                      <a:pt x="17701" y="81306"/>
                    </a:cubicBezTo>
                    <a:cubicBezTo>
                      <a:pt x="24337" y="87958"/>
                      <a:pt x="35560" y="97895"/>
                      <a:pt x="51372" y="111135"/>
                    </a:cubicBezTo>
                    <a:cubicBezTo>
                      <a:pt x="68056" y="97006"/>
                      <a:pt x="79296" y="87069"/>
                      <a:pt x="85043" y="81306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161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25892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7255" y="2278856"/>
              <a:ext cx="1055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 GPX 路径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62864" y="1457325"/>
            <a:ext cx="1418272" cy="1050131"/>
            <a:chOff x="3862864" y="1457325"/>
            <a:chExt cx="1418272" cy="1050131"/>
          </a:xfrm>
        </p:grpSpPr>
        <p:grpSp>
          <p:nvGrpSpPr>
            <p:cNvPr id="19" name="Group 19"/>
            <p:cNvGrpSpPr/>
            <p:nvPr/>
          </p:nvGrpSpPr>
          <p:grpSpPr>
            <a:xfrm>
              <a:off x="4429125" y="1457325"/>
              <a:ext cx="285750" cy="285750"/>
              <a:chOff x="4429125" y="1457325"/>
              <a:chExt cx="285750" cy="285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429125" y="1679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51375" y="14573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40250" y="148907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862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参考路径生成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4794" y="22788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输出速度剖面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98872" y="1457325"/>
            <a:ext cx="1280255" cy="1050131"/>
            <a:chOff x="6598872" y="1457325"/>
            <a:chExt cx="1280255" cy="1050131"/>
          </a:xfrm>
        </p:grpSpPr>
        <p:grpSp>
          <p:nvGrpSpPr>
            <p:cNvPr id="28" name="Group 28"/>
            <p:cNvGrpSpPr/>
            <p:nvPr/>
          </p:nvGrpSpPr>
          <p:grpSpPr>
            <a:xfrm>
              <a:off x="7096125" y="1457325"/>
              <a:ext cx="285750" cy="285750"/>
              <a:chOff x="7096125" y="1457325"/>
              <a:chExt cx="285750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096125" y="14573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7250" y="15684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39000" y="16319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00094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107156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70750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0" y="31750"/>
                    </a:move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598872" y="2009775"/>
              <a:ext cx="12802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PP 算法实现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13947" y="22788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输出控制器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96864" y="1520825"/>
            <a:ext cx="1418272" cy="986631"/>
            <a:chOff x="9196864" y="1520825"/>
            <a:chExt cx="1418272" cy="986631"/>
          </a:xfrm>
        </p:grpSpPr>
        <p:grpSp>
          <p:nvGrpSpPr>
            <p:cNvPr id="34" name="Group 34"/>
            <p:cNvGrpSpPr/>
            <p:nvPr/>
          </p:nvGrpSpPr>
          <p:grpSpPr>
            <a:xfrm>
              <a:off x="9763125" y="1520825"/>
              <a:ext cx="285750" cy="158750"/>
              <a:chOff x="9763125" y="1520825"/>
              <a:chExt cx="285750" cy="158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763125" y="1520825"/>
                <a:ext cx="285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8750">
                    <a:moveTo>
                      <a:pt x="0" y="158750"/>
                    </a:moveTo>
                    <a:lnTo>
                      <a:pt x="95250" y="63500"/>
                    </a:lnTo>
                    <a:lnTo>
                      <a:pt x="158750" y="127000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937750" y="15208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111125" y="0"/>
                    </a:lnTo>
                    <a:lnTo>
                      <a:pt x="111125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196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实验数据分析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63100" y="22788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输出结论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1600200"/>
            <a:ext cx="10668000" cy="1076325"/>
            <a:chOff x="762000" y="1600200"/>
            <a:chExt cx="10668000" cy="1076325"/>
          </a:xfrm>
        </p:grpSpPr>
        <p:sp>
          <p:nvSpPr>
            <p:cNvPr id="38" name="Line 38"/>
            <p:cNvSpPr/>
            <p:nvPr/>
          </p:nvSpPr>
          <p:spPr>
            <a:xfrm>
              <a:off x="2781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5448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8115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762000" y="266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429000" y="2785110"/>
            <a:ext cx="5334000" cy="3989546"/>
            <a:chOff x="3429000" y="2785110"/>
            <a:chExt cx="5334000" cy="3989546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2785110"/>
              <a:ext cx="5334000" cy="372618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5145167" y="654605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跟随动画，全程 1450.6 m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46" name="TextBox 46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1" grpId="0"/>
      <p:bldP spid="37" grpId="0"/>
      <p:bldP spid="42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地图构建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428750"/>
            <a:ext cx="2457450" cy="1714500"/>
            <a:chOff x="762000" y="1428750"/>
            <a:chExt cx="2457450" cy="17145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3462" y="1802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346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1,745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27360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合并重复交叉口后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48050" y="1428750"/>
            <a:ext cx="2457450" cy="1714500"/>
            <a:chOff x="3448050" y="1428750"/>
            <a:chExt cx="2457450" cy="1714500"/>
          </a:xfrm>
        </p:grpSpPr>
        <p:sp>
          <p:nvSpPr>
            <p:cNvPr id="12" name="Rectangle 12"/>
            <p:cNvSpPr/>
            <p:nvPr/>
          </p:nvSpPr>
          <p:spPr>
            <a:xfrm>
              <a:off x="344805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344805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19512" y="18026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路段边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951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1,989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19512" y="27360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可通行路段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333750"/>
            <a:ext cx="2457450" cy="1714500"/>
            <a:chOff x="762000" y="3333750"/>
            <a:chExt cx="2457450" cy="1714500"/>
          </a:xfrm>
        </p:grpSpPr>
        <p:sp>
          <p:nvSpPr>
            <p:cNvPr id="18" name="Rectangle 18"/>
            <p:cNvSpPr/>
            <p:nvPr/>
          </p:nvSpPr>
          <p:spPr>
            <a:xfrm>
              <a:off x="76200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762000" y="3562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346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路网总长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3460" y="4147185"/>
              <a:ext cx="17661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146.7 km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6410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校园及周边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48050" y="3333750"/>
            <a:ext cx="2457450" cy="1714500"/>
            <a:chOff x="3448050" y="3333750"/>
            <a:chExt cx="24574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344805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3448050" y="3562350"/>
              <a:ext cx="57150" cy="533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951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连通分量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99510" y="4147185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19512" y="46410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全图连通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950" y="5324475"/>
            <a:ext cx="6643211" cy="954881"/>
            <a:chOff x="742950" y="5324475"/>
            <a:chExt cx="6643211" cy="954881"/>
          </a:xfrm>
        </p:grpSpPr>
        <p:sp>
          <p:nvSpPr>
            <p:cNvPr id="30" name="TextBox 30"/>
            <p:cNvSpPr txBox="1"/>
            <p:nvPr/>
          </p:nvSpPr>
          <p:spPr>
            <a:xfrm>
              <a:off x="742950" y="5324475"/>
              <a:ext cx="6643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起终点先吸附到最近节点（偏离 44.4 m / 74.5 m），跑 Dijkstra。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950" y="5648325"/>
              <a:ext cx="56245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得到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54 个节点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1463.5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的折线，倒圆角后 1450.6 m。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712" y="60507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全程离线，不联网。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05575" y="1434151"/>
            <a:ext cx="4705350" cy="4807105"/>
            <a:chOff x="6505575" y="1434151"/>
            <a:chExt cx="4705350" cy="4807105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5575" y="1434151"/>
              <a:ext cx="4705350" cy="4465947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940278" y="60126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路网图，高亮为本次路径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7" name="TextBox 37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3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参考路径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2506" y="8120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原始折线在 s = 589 m 处半径仅 2.4 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2950" y="1247775"/>
            <a:ext cx="8143875" cy="304800"/>
            <a:chOff x="742950" y="1247775"/>
            <a:chExt cx="8143875" cy="30480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1247775"/>
              <a:ext cx="8143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虚线为车辆曲率极限 </a:t>
              </a:r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0.2801 1/m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（前轮 35°、轴距 2.50 m），原始折线超限 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5.7 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9" name="Rectangle 9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23241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81250" y="2895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E92E2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2324100"/>
              <a:ext cx="7239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2895600"/>
              <a:ext cx="622935" cy="3810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42950" y="1857375"/>
            <a:ext cx="1133475" cy="1447800"/>
            <a:chOff x="742950" y="1857375"/>
            <a:chExt cx="1133475" cy="1447800"/>
          </a:xfrm>
        </p:grpSpPr>
        <p:sp>
          <p:nvSpPr>
            <p:cNvPr id="17" name="TextBox 17"/>
            <p:cNvSpPr txBox="1"/>
            <p:nvPr/>
          </p:nvSpPr>
          <p:spPr>
            <a:xfrm>
              <a:off x="742950" y="1857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原始折线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242887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高斯平滑后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950" y="3000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再倒圆角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95625" y="1857375"/>
            <a:ext cx="7762875" cy="1447800"/>
            <a:chOff x="3095625" y="1857375"/>
            <a:chExt cx="7762875" cy="1447800"/>
          </a:xfrm>
        </p:grpSpPr>
        <p:sp>
          <p:nvSpPr>
            <p:cNvPr id="21" name="TextBox 21"/>
            <p:cNvSpPr txBox="1"/>
            <p:nvPr/>
          </p:nvSpPr>
          <p:spPr>
            <a:xfrm>
              <a:off x="8278582" y="1857375"/>
              <a:ext cx="25799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1.6049 1/m（R 0.62 m）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0400" y="242887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0.1355 1/m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95625" y="3000375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0.1166 1/m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77628" y="1554956"/>
            <a:ext cx="400050" cy="1874044"/>
            <a:chOff x="3877628" y="1554956"/>
            <a:chExt cx="400050" cy="1874044"/>
          </a:xfrm>
        </p:grpSpPr>
        <p:sp>
          <p:nvSpPr>
            <p:cNvPr id="25" name="Line 25"/>
            <p:cNvSpPr/>
            <p:nvPr/>
          </p:nvSpPr>
          <p:spPr>
            <a:xfrm>
              <a:off x="3877628" y="15621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0490" y="1554956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极限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725" y="3619500"/>
            <a:ext cx="5924550" cy="2926556"/>
            <a:chOff x="3133725" y="3619500"/>
            <a:chExt cx="5924550" cy="2926556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3725" y="3619500"/>
              <a:ext cx="5924550" cy="26670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4114145" y="6317456"/>
              <a:ext cx="3963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沿里程的曲率，平滑贡献 92% 降幅，倒圆角再贡献 14%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1" name="TextBox 31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7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9435" cy="518160"/>
            <a:chOff x="729615" y="658178"/>
            <a:chExt cx="10719435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速度设置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351645" y="771525"/>
              <a:ext cx="2097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v = √(a</a:t>
              </a:r>
              <a:r>
                <a:rPr lang="zh-CN" sz="1125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lat,max</a:t>
              </a:r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 xml:space="preserve"> / κ)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3400425" cy="1333500"/>
            <a:chOff x="762000" y="1428750"/>
            <a:chExt cx="3400425" cy="1333500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4412" y="16692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峰值侧向加速度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410" y="2070735"/>
              <a:ext cx="20974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4.34 m/s²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4412" y="2488406"/>
              <a:ext cx="2526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同一路径匀速时为 7.30，降幅 41%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91025" y="1428750"/>
            <a:ext cx="3400425" cy="1333500"/>
            <a:chOff x="4391025" y="1428750"/>
            <a:chExt cx="3400425" cy="1333500"/>
          </a:xfrm>
        </p:grpSpPr>
        <p:sp>
          <p:nvSpPr>
            <p:cNvPr id="13" name="Rectangle 13"/>
            <p:cNvSpPr/>
            <p:nvPr/>
          </p:nvSpPr>
          <p:spPr>
            <a:xfrm>
              <a:off x="4391025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4391025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43438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规划减速度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435" y="2070735"/>
              <a:ext cx="19939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1.75 m/s²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3438" y="24884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减速斜坡斜率，取轮胎极限一半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20050" y="1428750"/>
            <a:ext cx="3400425" cy="1333500"/>
            <a:chOff x="8020050" y="1428750"/>
            <a:chExt cx="3400425" cy="1333500"/>
          </a:xfrm>
        </p:grpSpPr>
        <p:sp>
          <p:nvSpPr>
            <p:cNvPr id="19" name="Rectangle 19"/>
            <p:cNvSpPr/>
            <p:nvPr/>
          </p:nvSpPr>
          <p:spPr>
            <a:xfrm>
              <a:off x="802005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802005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2462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减速提前量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52460" y="2070735"/>
              <a:ext cx="8552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15 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2462" y="24884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曲率峰值前的减速斜坡长度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2943225"/>
            <a:ext cx="9239250" cy="304800"/>
            <a:chOff x="742950" y="2943225"/>
            <a:chExt cx="9239250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742950" y="2943225"/>
              <a:ext cx="9239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限速要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逐点递推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：减速段从后往前扫，加速段从前往后扫。写成一次性数组运算会漏掉相邻点。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62250" y="3314700"/>
            <a:ext cx="6667500" cy="3231356"/>
            <a:chOff x="2762250" y="3314700"/>
            <a:chExt cx="6667500" cy="3231356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2250" y="3314700"/>
              <a:ext cx="6667500" cy="3000375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5095875" y="63174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速度剖面，拐点前提前减速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0" name="TextBox 30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26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3" cy="518160"/>
            <a:chOff x="729615" y="658178"/>
            <a:chExt cx="10714673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2802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前视距离与速度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55932" y="812006"/>
              <a:ext cx="3988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18 组 L_f 扫描，全部工况的误差峰值都落在 s ≈ 589 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5393" y="1333500"/>
            <a:ext cx="3907288" cy="3012281"/>
            <a:chOff x="1775393" y="1333500"/>
            <a:chExt cx="3907288" cy="301228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5393" y="1333500"/>
              <a:ext cx="3907288" cy="2667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3077408" y="4117181"/>
              <a:ext cx="1293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误差峰值 vs 速度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57925" y="1333500"/>
            <a:ext cx="4152900" cy="3012281"/>
            <a:chOff x="6257925" y="1333500"/>
            <a:chExt cx="4152900" cy="3012281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925" y="1333500"/>
              <a:ext cx="4152900" cy="2667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523202" y="4117181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误差峰值 vs 前视距离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476750"/>
            <a:ext cx="10668000" cy="1790700"/>
            <a:chOff x="762000" y="4476750"/>
            <a:chExt cx="10668000" cy="1790700"/>
          </a:xfrm>
        </p:grpSpPr>
        <p:sp>
          <p:nvSpPr>
            <p:cNvPr id="13" name="Rectangle 13"/>
            <p:cNvSpPr/>
            <p:nvPr/>
          </p:nvSpPr>
          <p:spPr>
            <a:xfrm>
              <a:off x="762000" y="4476750"/>
              <a:ext cx="10668000" cy="179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4476750"/>
              <a:ext cx="10668000" cy="361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725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自变量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850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观测项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43500" y="45624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048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5314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5314950"/>
              <a:ext cx="10668000" cy="476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57250" y="4981575"/>
            <a:ext cx="8859202" cy="1257300"/>
            <a:chOff x="857250" y="4981575"/>
            <a:chExt cx="8859202" cy="1257300"/>
          </a:xfrm>
        </p:grpSpPr>
        <p:sp>
          <p:nvSpPr>
            <p:cNvPr id="24" name="TextBox 24"/>
            <p:cNvSpPr txBox="1"/>
            <p:nvPr/>
          </p:nvSpPr>
          <p:spPr>
            <a:xfrm>
              <a:off x="857250" y="498157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8500" y="49815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43500" y="4981575"/>
              <a:ext cx="29846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@8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1.06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涨到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4.12 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250" y="545782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8500" y="5457825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转向速率 P95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43500" y="5457825"/>
              <a:ext cx="45729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@3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23.8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降到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1.8 °/s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，反向 463 → 1 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7250" y="5934075"/>
              <a:ext cx="23164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提高车速（3 → 8 m/s）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8500" y="59340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3500" y="5934075"/>
              <a:ext cx="3181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L_f = 3 m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1.42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涨到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1.71 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4" name="TextBox 34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3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四条结论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47750" y="1809750"/>
            <a:ext cx="9525" cy="3810000"/>
            <a:chOff x="1047750" y="1809750"/>
            <a:chExt cx="9525" cy="3810000"/>
          </a:xfrm>
        </p:grpSpPr>
        <p:sp>
          <p:nvSpPr>
            <p:cNvPr id="6" name="Line 6"/>
            <p:cNvSpPr/>
            <p:nvPr/>
          </p:nvSpPr>
          <p:spPr>
            <a:xfrm>
              <a:off x="1047750" y="1809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38100">
              <a:gradFill>
                <a:gsLst>
                  <a:gs pos="0">
                    <a:srgbClr val="17375E"/>
                  </a:gs>
                  <a:gs pos="100000">
                    <a:srgbClr val="A6A6A6"/>
                  </a:gs>
                </a:gsLst>
                <a:lin ang="5400000" scaled="1"/>
              </a:gra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714500"/>
            <a:ext cx="5721191" cy="657225"/>
            <a:chOff x="762000" y="1714500"/>
            <a:chExt cx="5721191" cy="657225"/>
          </a:xfrm>
        </p:grpSpPr>
        <p:sp>
          <p:nvSpPr>
            <p:cNvPr id="8" name="Ellipse 8"/>
            <p:cNvSpPr/>
            <p:nvPr/>
          </p:nvSpPr>
          <p:spPr>
            <a:xfrm>
              <a:off x="762000" y="1714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1809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4196" y="190500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9235" y="1751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曲率平滑影响最大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950" y="2066925"/>
              <a:ext cx="49782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同一台车同一速度，只加平滑：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17.83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7.97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m/s²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2857500"/>
            <a:ext cx="6630352" cy="657225"/>
            <a:chOff x="762000" y="2857500"/>
            <a:chExt cx="6630352" cy="657225"/>
          </a:xfrm>
        </p:grpSpPr>
        <p:sp>
          <p:nvSpPr>
            <p:cNvPr id="14" name="Ellipse 14"/>
            <p:cNvSpPr/>
            <p:nvPr/>
          </p:nvSpPr>
          <p:spPr>
            <a:xfrm>
              <a:off x="762000" y="2857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7250" y="2952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5442" y="3048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235" y="2894648"/>
              <a:ext cx="33389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曲率限速压低侧向加速度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4950" y="3209925"/>
              <a:ext cx="58874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同一条路，匀速 7.30 → 限速 4.34 m/s²，终点误差 +0.31 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4000500"/>
            <a:ext cx="6126480" cy="657225"/>
            <a:chOff x="762000" y="4000500"/>
            <a:chExt cx="6126480" cy="657225"/>
          </a:xfrm>
        </p:grpSpPr>
        <p:sp>
          <p:nvSpPr>
            <p:cNvPr id="20" name="Ellipse 20"/>
            <p:cNvSpPr/>
            <p:nvPr/>
          </p:nvSpPr>
          <p:spPr>
            <a:xfrm>
              <a:off x="762000" y="4000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57250" y="4095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5442" y="4191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235" y="4037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速度越高误差越大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4950" y="4352925"/>
              <a:ext cx="53835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3 → 7 m/s，误差峰值 1.42 → 1.64 m，定量确认了问题 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5143500"/>
            <a:ext cx="6630352" cy="657225"/>
            <a:chOff x="762000" y="5143500"/>
            <a:chExt cx="6630352" cy="657225"/>
          </a:xfrm>
        </p:grpSpPr>
        <p:sp>
          <p:nvSpPr>
            <p:cNvPr id="26" name="Ellipse 26"/>
            <p:cNvSpPr/>
            <p:nvPr/>
          </p:nvSpPr>
          <p:spPr>
            <a:xfrm>
              <a:off x="762000" y="5143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57250" y="5238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442" y="5334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9235" y="5180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前视距离需要折中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4950" y="5495925"/>
              <a:ext cx="58874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L_f 1 → 12 m：误差峰值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1.06 → 4.12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，抖动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23.8 → 1.8 °/s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1428750"/>
            <a:ext cx="4200525" cy="4679156"/>
            <a:chOff x="7239000" y="1428750"/>
            <a:chExt cx="4200525" cy="4679156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428750"/>
              <a:ext cx="4200525" cy="4286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701796" y="587930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s ≈ 589 m 急弯放大，全程误差峰值都在这里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5" name="TextBox 35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79570" y="2781300"/>
            <a:ext cx="3832860" cy="2105025"/>
            <a:chOff x="4179570" y="2781300"/>
            <a:chExt cx="3832860" cy="2105025"/>
          </a:xfrm>
        </p:grpSpPr>
        <p:sp>
          <p:nvSpPr>
            <p:cNvPr id="11" name="TextBox 11"/>
            <p:cNvSpPr txBox="1"/>
            <p:nvPr/>
          </p:nvSpPr>
          <p:spPr>
            <a:xfrm>
              <a:off x="4179570" y="2781300"/>
              <a:ext cx="38328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谢谢聆听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3886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5900" y="4215765"/>
              <a:ext cx="3120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欢迎批评指正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19325" y="5022532"/>
            <a:ext cx="7753350" cy="335280"/>
            <a:chOff x="2219325" y="5022532"/>
            <a:chExt cx="7753350" cy="335280"/>
          </a:xfrm>
        </p:grpSpPr>
        <p:sp>
          <p:nvSpPr>
            <p:cNvPr id="15" name="TextBox 15"/>
            <p:cNvSpPr txBox="1"/>
            <p:nvPr/>
          </p:nvSpPr>
          <p:spPr>
            <a:xfrm>
              <a:off x="2219325" y="5022532"/>
              <a:ext cx="7753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 · 参考路径生成 · Pure Pursuit 实现 · 跟踪可视化 · 实验分析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0570" y="5819775"/>
            <a:ext cx="11219498" cy="845344"/>
            <a:chOff x="750570" y="5819775"/>
            <a:chExt cx="11219498" cy="845344"/>
          </a:xfrm>
        </p:grpSpPr>
        <p:sp>
          <p:nvSpPr>
            <p:cNvPr id="17" name="Rectangle 17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