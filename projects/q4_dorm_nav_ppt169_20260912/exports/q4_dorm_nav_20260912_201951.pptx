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gif" ContentType="image/gif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各位老师、各位同学，大家好。我汇报的是问题四，从寝室到教室的一次完整导航任务。整个过程分成四块：先把地图建出来，再生成参考路径并给它配速度，然后实现 Pure Pursuit 控制器，最后跑实验、看数据。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这是整条链路。上面四个环节是串起来的：地图构建交付一条 GPX 路径，参考路径生成交付一条速度剖面，PP 实现交付一个控制器，实验分析交付结论。整条链路都是离线跑的，不连任何在线地图服务。下面这段动画，是车沿着参考路径从寝室一路开到教室的第一视角，全程 1450.6 米。先看个整体印象，后面逐段拆。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地图用的是 OSM 的原始数据。我把校园和周边的可行驶道路抽出来，合并掉同一个交叉口上的重复顶点，建成一张路网图，最后是 1745 个节点、1989 条边，总长 146.7 公里，整张图是连通的，任意两点都走得到。起点和终点先吸附到最近的路网节点上，起点偏了 44.4 米，终点偏了 74.5 米。然后在这张图上跑 Dijkstra，得到 54 个节点、1463.5 米的原始路径。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这一页是全程最大的坑。把 Dijkstra 出来的折线直接当参考路径，曲率最大值是 1.6049，换算成半径只有 0.62 米。而这台车前轮最大 35 度、轴距 2.5 米，曲率极限是 0.2801，对应 3.57 米半径。也就是说原始路径超了整整 5.7 倍，这个弯物理上根本过不去。我做了两步修正：先对曲率做高斯平滑，再对拐点倒圆角，曲率降到 0.1166。这里有个细节值得说：平滑一项就贡献了 92% 的降幅，倒圆角只额外贡献 14%。关键在平滑，不在倒圆角。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有了曲率就能配速度。限速公式就是 v 等于根号下侧向加速度上限除以曲率，说白了就是弯越急、车速越低。同一条倒圆角路径，匀速的时候峰值侧向加速度是 7.30，换成曲率限速之后降到 4.34，降了 41%。这里我踩过一个坑：限速必须逐点递推，减速段要从后往前扫一遍，加速段再从前往后扫一遍。我一开始写成一次性的数组运算，结果每个点都只看自己，完全漏掉了相邻点的影响，车根本减不下来。另外减速要提前，我在曲率峰值前面铺了 15 米的减速斜坡。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这一页把两个关键权衡扫了一遍：前视距离 1 到 12 米、速度 3 到 8 米每秒，一共 18 组闭环仿真。两条规律都很干净。前视距离变大，误差峰值单调上升，8 米每秒下从 1.06 米涨到 4.12 米；但转向速率的 P95 从 23.8 降到 1.8 度每秒，反向次数从 463 次掉到 1 次，明显更平顺了。速度提上去误差也单调上升，3 到 7 米每秒，误差峰值从 1.42 涨到 1.64 米——这就定量确认了问题一。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最后是四条结论。第一，曲率平滑是最关键的一步。同一台车、同一个速度，只加平滑这一项，峰值侧向加速度就从 17.83 降到 7.97，这就是前面那个 5.7 倍超限的直接后果。第二，曲率限速能把侧向加速度压回设计值，在同一条倒圆角路径上从 7.30 降到 4.34，代价只是终点误差多了 0.31 米，相对 1450 米可以忽略。第三，速度越快误差越大，3 到 7 米每秒误差峰值从 1.42 涨到 1.64 米，定量确认了问题一。第四，前视距离是个两难：从 1 米加到 12 米，误差峰值从 1.06 涨到 4.12 米，但转向抖动的 P95 从 23.8 降到 1.8 度每秒，贴线和平顺只能选一头。还有一个我印象很深的细节：18 组仿真的误差峰值全部落在同一个地方，s 大约 589 米、半径 2.4 米那个急弯。整条路线的跟踪质量上限，就是这一个弯决定的。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以上就是我的汇报，谢谢大家，欢迎批评指正。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10078696422cac77.gif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4ff1d098d28d5989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77186023ac6c0964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fc2dbbc634a4c7b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2cd0bd3096327e95.png"/>
  <Relationship Id="rId3" Type="http://schemas.openxmlformats.org/officeDocument/2006/relationships/image" Target="../media/image_c835eed2c935c528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107bd29b021310d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90194" y="2209800"/>
            <a:ext cx="5673090" cy="1685925"/>
            <a:chOff x="790194" y="2209800"/>
            <a:chExt cx="5673090" cy="1685925"/>
          </a:xfrm>
        </p:grpSpPr>
        <p:sp>
          <p:nvSpPr>
            <p:cNvPr id="11" name="TextBox 11"/>
            <p:cNvSpPr txBox="1"/>
            <p:nvPr/>
          </p:nvSpPr>
          <p:spPr>
            <a:xfrm>
              <a:off x="790194" y="2209800"/>
              <a:ext cx="567309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从寝室到教室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4484" y="3225165"/>
              <a:ext cx="476490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1450.6 m · 全程离线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77538" y="3860482"/>
            <a:ext cx="5732431" cy="454343"/>
            <a:chOff x="877538" y="3860482"/>
            <a:chExt cx="5732431" cy="454343"/>
          </a:xfrm>
        </p:grpSpPr>
        <p:sp>
          <p:nvSpPr>
            <p:cNvPr id="14" name="TextBox 14"/>
            <p:cNvSpPr txBox="1"/>
            <p:nvPr/>
          </p:nvSpPr>
          <p:spPr>
            <a:xfrm>
              <a:off x="880872" y="3860482"/>
              <a:ext cx="57290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问题四 · 地图构建 / 参考路径 / 轨迹跟踪 / 实验分析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877538" y="4305300"/>
              <a:ext cx="5146834" cy="9525"/>
            </a:xfrm>
            <a:custGeom>
              <a:avLst/>
              <a:gdLst/>
              <a:ahLst/>
              <a:cxnLst/>
              <a:rect l="l" t="t" r="r" b="b"/>
              <a:pathLst>
                <a:path w="5146834" h="9525">
                  <a:moveTo>
                    <a:pt x="0" y="0"/>
                  </a:moveTo>
                  <a:lnTo>
                    <a:pt x="5146834" y="0"/>
                  </a:lnTo>
                </a:path>
              </a:pathLst>
            </a:custGeom>
            <a:noFill/>
            <a:ln w="6353">
              <a:solidFill>
                <a:srgbClr val="17375E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865470" y="4788508"/>
            <a:ext cx="3807080" cy="345491"/>
            <a:chOff x="865470" y="4788508"/>
            <a:chExt cx="3807080" cy="345491"/>
          </a:xfrm>
        </p:grpSpPr>
        <p:sp>
          <p:nvSpPr>
            <p:cNvPr id="17" name="TextBox 17"/>
            <p:cNvSpPr txBox="1"/>
            <p:nvPr/>
          </p:nvSpPr>
          <p:spPr>
            <a:xfrm>
              <a:off x="865470" y="4788508"/>
              <a:ext cx="1483451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汇报人 / ___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940777" y="4788508"/>
              <a:ext cx="1731773" cy="3454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指导教师 / ___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74837" y="5819775"/>
            <a:ext cx="2795231" cy="845344"/>
            <a:chOff x="9174837" y="5819775"/>
            <a:chExt cx="2795231" cy="845344"/>
          </a:xfrm>
        </p:grpSpPr>
        <p:sp>
          <p:nvSpPr>
            <p:cNvPr id="20" name="Rectangle 20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任务流程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39501" y="812006"/>
              <a:ext cx="4004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全程 1450.6 m · 2903 个参考点 · 7 个拐点 · 离线运行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77255" y="1473200"/>
            <a:ext cx="1055489" cy="1034256"/>
            <a:chOff x="1377255" y="1473200"/>
            <a:chExt cx="1055489" cy="1034256"/>
          </a:xfrm>
        </p:grpSpPr>
        <p:grpSp>
          <p:nvGrpSpPr>
            <p:cNvPr id="12" name="Group 12"/>
            <p:cNvGrpSpPr/>
            <p:nvPr/>
          </p:nvGrpSpPr>
          <p:grpSpPr>
            <a:xfrm>
              <a:off x="1762125" y="1473200"/>
              <a:ext cx="305371" cy="285750"/>
              <a:chOff x="1762125" y="1473200"/>
              <a:chExt cx="30537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762125" y="1473200"/>
                <a:ext cx="285750" cy="254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54000">
                    <a:moveTo>
                      <a:pt x="142875" y="230188"/>
                    </a:moveTo>
                    <a:lnTo>
                      <a:pt x="95250" y="206375"/>
                    </a:lnTo>
                    <a:lnTo>
                      <a:pt x="0" y="254000"/>
                    </a:lnTo>
                    <a:lnTo>
                      <a:pt x="0" y="47625"/>
                    </a:lnTo>
                    <a:lnTo>
                      <a:pt x="95250" y="0"/>
                    </a:lnTo>
                    <a:lnTo>
                      <a:pt x="190500" y="47625"/>
                    </a:lnTo>
                    <a:lnTo>
                      <a:pt x="285750" y="0"/>
                    </a:lnTo>
                    <a:lnTo>
                      <a:pt x="285750" y="119062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857375" y="1473200"/>
                <a:ext cx="9525" cy="206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6375">
                    <a:moveTo>
                      <a:pt x="0" y="0"/>
                    </a:moveTo>
                    <a:lnTo>
                      <a:pt x="0" y="20637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952625" y="1520825"/>
                <a:ext cx="9525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87313">
                    <a:moveTo>
                      <a:pt x="0" y="0"/>
                    </a:moveTo>
                    <a:lnTo>
                      <a:pt x="0" y="87313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964753" y="1647815"/>
                <a:ext cx="102743" cy="111135"/>
              </a:xfrm>
              <a:custGeom>
                <a:avLst/>
                <a:gdLst/>
                <a:ahLst/>
                <a:cxnLst/>
                <a:rect l="l" t="t" r="r" b="b"/>
                <a:pathLst>
                  <a:path w="102743" h="111135">
                    <a:moveTo>
                      <a:pt x="85043" y="81306"/>
                    </a:moveTo>
                    <a:cubicBezTo>
                      <a:pt x="98666" y="67687"/>
                      <a:pt x="102743" y="47201"/>
                      <a:pt x="95373" y="29403"/>
                    </a:cubicBezTo>
                    <a:cubicBezTo>
                      <a:pt x="88002" y="11605"/>
                      <a:pt x="70636" y="0"/>
                      <a:pt x="51372" y="0"/>
                    </a:cubicBezTo>
                    <a:cubicBezTo>
                      <a:pt x="32108" y="0"/>
                      <a:pt x="14741" y="11605"/>
                      <a:pt x="7371" y="29403"/>
                    </a:cubicBezTo>
                    <a:cubicBezTo>
                      <a:pt x="0" y="47201"/>
                      <a:pt x="4077" y="67687"/>
                      <a:pt x="17701" y="81306"/>
                    </a:cubicBezTo>
                    <a:cubicBezTo>
                      <a:pt x="24337" y="87958"/>
                      <a:pt x="35560" y="97895"/>
                      <a:pt x="51372" y="111135"/>
                    </a:cubicBezTo>
                    <a:cubicBezTo>
                      <a:pt x="68056" y="97006"/>
                      <a:pt x="79296" y="87069"/>
                      <a:pt x="85043" y="81306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016125" y="169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425892" y="2009775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77255" y="2278856"/>
              <a:ext cx="10554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 GPX 路径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862864" y="1457325"/>
            <a:ext cx="1418272" cy="1050131"/>
            <a:chOff x="3862864" y="1457325"/>
            <a:chExt cx="1418272" cy="1050131"/>
          </a:xfrm>
        </p:grpSpPr>
        <p:grpSp>
          <p:nvGrpSpPr>
            <p:cNvPr id="19" name="Group 19"/>
            <p:cNvGrpSpPr/>
            <p:nvPr/>
          </p:nvGrpSpPr>
          <p:grpSpPr>
            <a:xfrm>
              <a:off x="4429125" y="1457325"/>
              <a:ext cx="285750" cy="285750"/>
              <a:chOff x="4429125" y="1457325"/>
              <a:chExt cx="285750" cy="28575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4429125" y="1679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4651375" y="145732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40250" y="148907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3862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参考路径生成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4794" y="22788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输出速度剖面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598872" y="1457325"/>
            <a:ext cx="1280255" cy="1050131"/>
            <a:chOff x="6598872" y="1457325"/>
            <a:chExt cx="1280255" cy="1050131"/>
          </a:xfrm>
        </p:grpSpPr>
        <p:grpSp>
          <p:nvGrpSpPr>
            <p:cNvPr id="28" name="Group 28"/>
            <p:cNvGrpSpPr/>
            <p:nvPr/>
          </p:nvGrpSpPr>
          <p:grpSpPr>
            <a:xfrm>
              <a:off x="7096125" y="1457325"/>
              <a:ext cx="285750" cy="285750"/>
              <a:chOff x="7096125" y="1457325"/>
              <a:chExt cx="285750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096125" y="1457325"/>
                <a:ext cx="28575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285750">
                    <a:moveTo>
                      <a:pt x="0" y="142875"/>
                    </a:moveTo>
                    <a:cubicBezTo>
                      <a:pt x="0" y="221783"/>
                      <a:pt x="63967" y="285750"/>
                      <a:pt x="142875" y="285750"/>
                    </a:cubicBezTo>
                    <a:cubicBezTo>
                      <a:pt x="221783" y="285750"/>
                      <a:pt x="285750" y="221783"/>
                      <a:pt x="285750" y="142875"/>
                    </a:cubicBezTo>
                    <a:cubicBezTo>
                      <a:pt x="285750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207250" y="15684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239000" y="1631950"/>
                <a:ext cx="95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1125">
                    <a:moveTo>
                      <a:pt x="0" y="0"/>
                    </a:moveTo>
                    <a:lnTo>
                      <a:pt x="0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7100094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107156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270750" y="1568450"/>
                <a:ext cx="107156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31750">
                    <a:moveTo>
                      <a:pt x="0" y="31750"/>
                    </a:move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598872" y="2009775"/>
              <a:ext cx="128025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PP 算法实现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13947" y="22788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输出控制器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96864" y="1520825"/>
            <a:ext cx="1418272" cy="986631"/>
            <a:chOff x="9196864" y="1520825"/>
            <a:chExt cx="1418272" cy="986631"/>
          </a:xfrm>
        </p:grpSpPr>
        <p:grpSp>
          <p:nvGrpSpPr>
            <p:cNvPr id="34" name="Group 34"/>
            <p:cNvGrpSpPr/>
            <p:nvPr/>
          </p:nvGrpSpPr>
          <p:grpSpPr>
            <a:xfrm>
              <a:off x="9763125" y="1520825"/>
              <a:ext cx="285750" cy="158750"/>
              <a:chOff x="9763125" y="1520825"/>
              <a:chExt cx="285750" cy="15875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9763125" y="1520825"/>
                <a:ext cx="285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8750">
                    <a:moveTo>
                      <a:pt x="0" y="158750"/>
                    </a:moveTo>
                    <a:lnTo>
                      <a:pt x="95250" y="63500"/>
                    </a:lnTo>
                    <a:lnTo>
                      <a:pt x="158750" y="127000"/>
                    </a:ln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9937750" y="152082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0"/>
                    </a:moveTo>
                    <a:lnTo>
                      <a:pt x="111125" y="0"/>
                    </a:lnTo>
                    <a:lnTo>
                      <a:pt x="111125" y="111125"/>
                    </a:lnTo>
                  </a:path>
                </a:pathLst>
              </a:custGeom>
              <a:noFill/>
              <a:ln w="19050">
                <a:solidFill>
                  <a:srgbClr val="17375E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9196864" y="2009775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实验数据分析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563100" y="22788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输出结论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62000" y="1600200"/>
            <a:ext cx="10668000" cy="1076325"/>
            <a:chOff x="762000" y="1600200"/>
            <a:chExt cx="10668000" cy="1076325"/>
          </a:xfrm>
        </p:grpSpPr>
        <p:sp>
          <p:nvSpPr>
            <p:cNvPr id="38" name="Line 38"/>
            <p:cNvSpPr/>
            <p:nvPr/>
          </p:nvSpPr>
          <p:spPr>
            <a:xfrm>
              <a:off x="2781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>
              <a:off x="5448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8115300" y="1600200"/>
              <a:ext cx="952500" cy="1"/>
            </a:xfrm>
            <a:prstGeom prst="line">
              <a:avLst/>
            </a:prstGeom>
            <a:noFill/>
            <a:ln w="19050">
              <a:solidFill>
                <a:srgbClr val="17375E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26670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3429000" y="2785110"/>
            <a:ext cx="5334000" cy="3989546"/>
            <a:chOff x="3429000" y="2785110"/>
            <a:chExt cx="5334000" cy="3989546"/>
          </a:xfrm>
        </p:grpSpPr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29000" y="2785110"/>
              <a:ext cx="5334000" cy="3726180"/>
            </a:xfrm>
            <a:prstGeom prst="rect">
              <a:avLst/>
            </a:prstGeom>
          </p:spPr>
        </p:pic>
        <p:sp>
          <p:nvSpPr>
            <p:cNvPr id="44" name="TextBox 44"/>
            <p:cNvSpPr txBox="1"/>
            <p:nvPr/>
          </p:nvSpPr>
          <p:spPr>
            <a:xfrm>
              <a:off x="5145167" y="6546056"/>
              <a:ext cx="19016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跟随动画，全程 1450.6 m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46" name="TextBox 46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2" grpId="0"/>
      <p:bldP spid="31" grpId="0"/>
      <p:bldP spid="37" grpId="0"/>
      <p:bldP spid="42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地图构建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762000" y="1428750"/>
            <a:ext cx="2457450" cy="1714500"/>
            <a:chOff x="762000" y="1428750"/>
            <a:chExt cx="2457450" cy="1714500"/>
          </a:xfrm>
        </p:grpSpPr>
        <p:sp>
          <p:nvSpPr>
            <p:cNvPr id="6" name="Rectangle 6"/>
            <p:cNvSpPr/>
            <p:nvPr/>
          </p:nvSpPr>
          <p:spPr>
            <a:xfrm>
              <a:off x="76200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7" name="Rectangle 7"/>
            <p:cNvSpPr/>
            <p:nvPr/>
          </p:nvSpPr>
          <p:spPr>
            <a:xfrm>
              <a:off x="76200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3462" y="1802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路网节点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1346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1,745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33462" y="27360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合并重复交叉口后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48050" y="1428750"/>
            <a:ext cx="2457450" cy="1714500"/>
            <a:chOff x="3448050" y="1428750"/>
            <a:chExt cx="2457450" cy="1714500"/>
          </a:xfrm>
        </p:grpSpPr>
        <p:sp>
          <p:nvSpPr>
            <p:cNvPr id="12" name="Rectangle 12"/>
            <p:cNvSpPr/>
            <p:nvPr/>
          </p:nvSpPr>
          <p:spPr>
            <a:xfrm>
              <a:off x="3448050" y="1428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3" name="Rectangle 13"/>
            <p:cNvSpPr/>
            <p:nvPr/>
          </p:nvSpPr>
          <p:spPr>
            <a:xfrm>
              <a:off x="3448050" y="1657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19512" y="1802606"/>
              <a:ext cx="5214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路段边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99510" y="2242185"/>
              <a:ext cx="1103709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1,989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19512" y="2736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可通行路段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3333750"/>
            <a:ext cx="2457450" cy="1714500"/>
            <a:chOff x="762000" y="3333750"/>
            <a:chExt cx="2457450" cy="1714500"/>
          </a:xfrm>
        </p:grpSpPr>
        <p:sp>
          <p:nvSpPr>
            <p:cNvPr id="18" name="Rectangle 18"/>
            <p:cNvSpPr/>
            <p:nvPr/>
          </p:nvSpPr>
          <p:spPr>
            <a:xfrm>
              <a:off x="76200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9" name="Rectangle 19"/>
            <p:cNvSpPr/>
            <p:nvPr/>
          </p:nvSpPr>
          <p:spPr>
            <a:xfrm>
              <a:off x="762000" y="3562350"/>
              <a:ext cx="57150" cy="5334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346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路网总长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13460" y="4147185"/>
              <a:ext cx="1766192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146.7 km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3462" y="46410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校园及周边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448050" y="3333750"/>
            <a:ext cx="2457450" cy="1714500"/>
            <a:chOff x="3448050" y="3333750"/>
            <a:chExt cx="2457450" cy="1714500"/>
          </a:xfrm>
        </p:grpSpPr>
        <p:sp>
          <p:nvSpPr>
            <p:cNvPr id="24" name="Rectangle 24"/>
            <p:cNvSpPr/>
            <p:nvPr/>
          </p:nvSpPr>
          <p:spPr>
            <a:xfrm>
              <a:off x="3448050" y="3333750"/>
              <a:ext cx="2457450" cy="1714500"/>
            </a:xfrm>
            <a:prstGeom prst="roundRect">
              <a:avLst>
                <a:gd name="adj" fmla="val 444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5" name="Rectangle 25"/>
            <p:cNvSpPr/>
            <p:nvPr/>
          </p:nvSpPr>
          <p:spPr>
            <a:xfrm>
              <a:off x="3448050" y="3562350"/>
              <a:ext cx="57150" cy="5334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719512" y="370760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连通分量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99510" y="4147185"/>
              <a:ext cx="192796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719512" y="4641056"/>
              <a:ext cx="685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全图连通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42950" y="5324475"/>
            <a:ext cx="6643211" cy="954881"/>
            <a:chOff x="742950" y="5324475"/>
            <a:chExt cx="6643211" cy="954881"/>
          </a:xfrm>
        </p:grpSpPr>
        <p:sp>
          <p:nvSpPr>
            <p:cNvPr id="30" name="TextBox 30"/>
            <p:cNvSpPr txBox="1"/>
            <p:nvPr/>
          </p:nvSpPr>
          <p:spPr>
            <a:xfrm>
              <a:off x="742950" y="5324475"/>
              <a:ext cx="664321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起终点先吸附到最近节点（偏离 44.4 m / 74.5 m），跑 Dijkstra。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950" y="5648325"/>
              <a:ext cx="56245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得到 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54 个节点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、</a:t>
              </a:r>
              <a:r>
                <a:rPr lang="zh-CN" sz="150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1463.5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的折线，倒圆角后 1450.6 m。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7712" y="6050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全程离线，不联网。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05575" y="1434151"/>
            <a:ext cx="4705350" cy="4807105"/>
            <a:chOff x="6505575" y="1434151"/>
            <a:chExt cx="4705350" cy="4807105"/>
          </a:xfrm>
        </p:grpSpPr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5575" y="1434151"/>
              <a:ext cx="4705350" cy="4465947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940278" y="60126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路网图，高亮为本次路径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7" name="TextBox 37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9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3" grpId="0"/>
      <p:bldP spid="29" grpId="0"/>
      <p:bldP spid="33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2" cy="518160"/>
            <a:chOff x="729615" y="658178"/>
            <a:chExt cx="10714672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参考路径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622506" y="812006"/>
              <a:ext cx="2821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原始折线在 s = 589 m 处半径仅 2.4 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2950" y="1247775"/>
            <a:ext cx="8143875" cy="304800"/>
            <a:chOff x="742950" y="1247775"/>
            <a:chExt cx="8143875" cy="304800"/>
          </a:xfrm>
        </p:grpSpPr>
        <p:sp>
          <p:nvSpPr>
            <p:cNvPr id="7" name="TextBox 7"/>
            <p:cNvSpPr txBox="1"/>
            <p:nvPr/>
          </p:nvSpPr>
          <p:spPr>
            <a:xfrm>
              <a:off x="742950" y="1247775"/>
              <a:ext cx="81438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虚线为车辆曲率极限 </a:t>
              </a:r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0.2801 1/m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（前轮 35°、轴距 2.50 m），原始折线超限 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5.7 倍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9" name="Rectangle 9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381250" y="23241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2381250" y="2895600"/>
              <a:ext cx="8572500" cy="38100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381250" y="1752600"/>
            <a:ext cx="8572500" cy="1524000"/>
            <a:chOff x="2381250" y="1752600"/>
            <a:chExt cx="8572500" cy="1524000"/>
          </a:xfrm>
        </p:grpSpPr>
        <p:sp>
          <p:nvSpPr>
            <p:cNvPr id="13" name="Rectangle 13"/>
            <p:cNvSpPr/>
            <p:nvPr/>
          </p:nvSpPr>
          <p:spPr>
            <a:xfrm>
              <a:off x="2381250" y="1752600"/>
              <a:ext cx="8572500" cy="381000"/>
            </a:xfrm>
            <a:prstGeom prst="rect">
              <a:avLst/>
            </a:prstGeom>
            <a:solidFill>
              <a:srgbClr val="E92E25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381250" y="2324100"/>
              <a:ext cx="723900" cy="381000"/>
            </a:xfrm>
            <a:prstGeom prst="rect">
              <a:avLst/>
            </a:prstGeom>
            <a:solidFill>
              <a:srgbClr val="2E7D3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381250" y="2895600"/>
              <a:ext cx="622935" cy="38100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742950" y="1857375"/>
            <a:ext cx="1133475" cy="1447800"/>
            <a:chOff x="742950" y="1857375"/>
            <a:chExt cx="1133475" cy="1447800"/>
          </a:xfrm>
        </p:grpSpPr>
        <p:sp>
          <p:nvSpPr>
            <p:cNvPr id="17" name="TextBox 17"/>
            <p:cNvSpPr txBox="1"/>
            <p:nvPr/>
          </p:nvSpPr>
          <p:spPr>
            <a:xfrm>
              <a:off x="742950" y="1857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原始折线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950" y="2428875"/>
              <a:ext cx="113347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高斯平滑后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950" y="30003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再倒圆角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095625" y="1857375"/>
            <a:ext cx="7762875" cy="1447800"/>
            <a:chOff x="3095625" y="1857375"/>
            <a:chExt cx="7762875" cy="1447800"/>
          </a:xfrm>
        </p:grpSpPr>
        <p:sp>
          <p:nvSpPr>
            <p:cNvPr id="21" name="TextBox 21"/>
            <p:cNvSpPr txBox="1"/>
            <p:nvPr/>
          </p:nvSpPr>
          <p:spPr>
            <a:xfrm>
              <a:off x="8278582" y="1857375"/>
              <a:ext cx="257991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1.6049 1/m（R 0.62 m）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200400" y="2428875"/>
              <a:ext cx="117674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0.1355 1/m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095625" y="3000375"/>
              <a:ext cx="111923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0.1166 1/m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877628" y="1554956"/>
            <a:ext cx="400050" cy="1874044"/>
            <a:chOff x="3877628" y="1554956"/>
            <a:chExt cx="400050" cy="1874044"/>
          </a:xfrm>
        </p:grpSpPr>
        <p:sp>
          <p:nvSpPr>
            <p:cNvPr id="25" name="Line 25"/>
            <p:cNvSpPr/>
            <p:nvPr/>
          </p:nvSpPr>
          <p:spPr>
            <a:xfrm>
              <a:off x="3877628" y="1562100"/>
              <a:ext cx="9525" cy="1866900"/>
            </a:xfrm>
            <a:custGeom>
              <a:avLst/>
              <a:gdLst/>
              <a:ahLst/>
              <a:cxnLst/>
              <a:rect l="l" t="t" r="r" b="b"/>
              <a:pathLst>
                <a:path w="9525" h="1866900">
                  <a:moveTo>
                    <a:pt x="0" y="0"/>
                  </a:moveTo>
                  <a:lnTo>
                    <a:pt x="0" y="1866900"/>
                  </a:lnTo>
                </a:path>
              </a:pathLst>
            </a:custGeom>
            <a:noFill/>
            <a:ln w="28575">
              <a:solidFill>
                <a:srgbClr val="FFC000"/>
              </a:solidFill>
              <a:custDash>
                <a:ds d="266666" sp="200000"/>
              </a:custDash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20490" y="1554956"/>
              <a:ext cx="3571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极限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33725" y="3619500"/>
            <a:ext cx="5924550" cy="2926556"/>
            <a:chOff x="3133725" y="3619500"/>
            <a:chExt cx="5924550" cy="2926556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3725" y="3619500"/>
              <a:ext cx="5924550" cy="2667000"/>
            </a:xfrm>
            <a:prstGeom prst="rect">
              <a:avLst/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4114145" y="6317456"/>
              <a:ext cx="39637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沿里程的曲率，平滑贡献 92% 降幅，倒圆角再贡献 14%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1" name="TextBox 31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04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0" grpId="0"/>
      <p:bldP spid="24" grpId="0"/>
      <p:bldP spid="27" grpId="0"/>
      <p:bldP spid="3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9435" cy="518160"/>
            <a:chOff x="729615" y="658178"/>
            <a:chExt cx="10719435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速度设置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351645" y="771525"/>
              <a:ext cx="20974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v = √(a</a:t>
              </a:r>
              <a:r>
                <a:rPr lang="zh-CN" sz="1125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>lat,max</a:t>
              </a:r>
              <a:r>
                <a:rPr lang="zh-CN" sz="1500" dirty="0">
                  <a:solidFill>
                    <a:srgbClr val="002060"/>
                  </a:solidFill>
                  <a:latin typeface="Consolas"/>
                  <a:ea typeface="Microsoft YaHei"/>
                  <a:cs typeface="Consolas"/>
                </a:rPr>
                <a:t xml:space="preserve"> / κ)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3400425" cy="1333500"/>
            <a:chOff x="762000" y="1428750"/>
            <a:chExt cx="3400425" cy="1333500"/>
          </a:xfrm>
        </p:grpSpPr>
        <p:sp>
          <p:nvSpPr>
            <p:cNvPr id="7" name="Rectangle 7"/>
            <p:cNvSpPr/>
            <p:nvPr/>
          </p:nvSpPr>
          <p:spPr>
            <a:xfrm>
              <a:off x="76200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8" name="Rectangle 8"/>
            <p:cNvSpPr/>
            <p:nvPr/>
          </p:nvSpPr>
          <p:spPr>
            <a:xfrm>
              <a:off x="76200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14412" y="166925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峰值侧向加速度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4410" y="2070735"/>
              <a:ext cx="2097434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4.34 m/s²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14412" y="2488406"/>
              <a:ext cx="25260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同一路径匀速时为 7.30，降幅 41%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91025" y="1428750"/>
            <a:ext cx="3400425" cy="1333500"/>
            <a:chOff x="4391025" y="1428750"/>
            <a:chExt cx="3400425" cy="1333500"/>
          </a:xfrm>
        </p:grpSpPr>
        <p:sp>
          <p:nvSpPr>
            <p:cNvPr id="13" name="Rectangle 13"/>
            <p:cNvSpPr/>
            <p:nvPr/>
          </p:nvSpPr>
          <p:spPr>
            <a:xfrm>
              <a:off x="4391025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91025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643438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规划减速度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23435" y="2070735"/>
              <a:ext cx="1993921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1.75 m/s²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43438" y="24884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减速斜坡斜率，取轮胎极限一半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020050" y="1428750"/>
            <a:ext cx="3400425" cy="1333500"/>
            <a:chOff x="8020050" y="1428750"/>
            <a:chExt cx="3400425" cy="1333500"/>
          </a:xfrm>
        </p:grpSpPr>
        <p:sp>
          <p:nvSpPr>
            <p:cNvPr id="19" name="Rectangle 19"/>
            <p:cNvSpPr/>
            <p:nvPr/>
          </p:nvSpPr>
          <p:spPr>
            <a:xfrm>
              <a:off x="8020050" y="1428750"/>
              <a:ext cx="3400425" cy="1333500"/>
            </a:xfrm>
            <a:prstGeom prst="roundRect">
              <a:avLst>
                <a:gd name="adj" fmla="val 5714"/>
              </a:avLst>
            </a:prstGeom>
            <a:solidFill>
              <a:srgbClr val="F2F2F2"/>
            </a:solidFill>
            <a:ln>
              <a:noFill/>
            </a:ln>
            <a:effectLst>
              <a:outerShdw blurRad="47625" dist="19050" dir="5400000" algn="ctr" rotWithShape="0">
                <a:srgbClr val="000000">
                  <a:alpha val="75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020050" y="1619250"/>
              <a:ext cx="57150" cy="43815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72462" y="16692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减速提前量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52460" y="2070735"/>
              <a:ext cx="855278" cy="548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15 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72462" y="248840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曲率峰值前的减速斜坡长度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42950" y="2943225"/>
            <a:ext cx="9239250" cy="304800"/>
            <a:chOff x="742950" y="2943225"/>
            <a:chExt cx="9239250" cy="304800"/>
          </a:xfrm>
        </p:grpSpPr>
        <p:sp>
          <p:nvSpPr>
            <p:cNvPr id="25" name="TextBox 25"/>
            <p:cNvSpPr txBox="1"/>
            <p:nvPr/>
          </p:nvSpPr>
          <p:spPr>
            <a:xfrm>
              <a:off x="742950" y="2943225"/>
              <a:ext cx="9239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限速要</a:t>
              </a:r>
              <a:r>
                <a:rPr lang="zh-CN" sz="1500" b="1" dirty="0">
                  <a:solidFill>
                    <a:srgbClr val="E92E25"/>
                  </a:solidFill>
                  <a:latin typeface="Arial"/>
                  <a:ea typeface="Microsoft YaHei"/>
                  <a:cs typeface="Arial"/>
                </a:rPr>
                <a:t>逐点递推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：减速段从后往前扫，加速段从前往后扫。写成一次性数组运算会漏掉相邻点。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2250" y="3314700"/>
            <a:ext cx="6667500" cy="3231356"/>
            <a:chOff x="2762250" y="3314700"/>
            <a:chExt cx="6667500" cy="3231356"/>
          </a:xfrm>
        </p:grpSpPr>
        <p:pic>
          <p:nvPicPr>
            <p:cNvPr id="27" name="Image 2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62250" y="3314700"/>
              <a:ext cx="6667500" cy="3000375"/>
            </a:xfrm>
            <a:prstGeom prst="rect">
              <a:avLst/>
            </a:prstGeom>
          </p:spPr>
        </p:pic>
        <p:sp>
          <p:nvSpPr>
            <p:cNvPr id="28" name="TextBox 28"/>
            <p:cNvSpPr txBox="1"/>
            <p:nvPr/>
          </p:nvSpPr>
          <p:spPr>
            <a:xfrm>
              <a:off x="5095875" y="6317456"/>
              <a:ext cx="2000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速度剖面，拐点前提前减速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0" name="TextBox 30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4" grpId="0"/>
      <p:bldP spid="26" grpId="0"/>
      <p:bldP spid="2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729615" y="658178"/>
            <a:ext cx="10714673" cy="518160"/>
            <a:chOff x="729615" y="658178"/>
            <a:chExt cx="10714673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280211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前视距离与速度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455932" y="812006"/>
              <a:ext cx="39883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5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18 组 L_f 扫描，全部工况的误差峰值都落在 s ≈ 589 m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5393" y="1333500"/>
            <a:ext cx="3907288" cy="3012281"/>
            <a:chOff x="1775393" y="1333500"/>
            <a:chExt cx="3907288" cy="3012281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75393" y="1333500"/>
              <a:ext cx="3907288" cy="2667000"/>
            </a:xfrm>
            <a:prstGeom prst="rect">
              <a:avLst/>
            </a:prstGeom>
          </p:spPr>
        </p:pic>
        <p:sp>
          <p:nvSpPr>
            <p:cNvPr id="8" name="TextBox 8"/>
            <p:cNvSpPr txBox="1"/>
            <p:nvPr/>
          </p:nvSpPr>
          <p:spPr>
            <a:xfrm>
              <a:off x="3077408" y="4117181"/>
              <a:ext cx="12937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误差峰值 vs 速度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57925" y="1333500"/>
            <a:ext cx="4152900" cy="3012281"/>
            <a:chOff x="6257925" y="1333500"/>
            <a:chExt cx="4152900" cy="3012281"/>
          </a:xfrm>
        </p:grpSpPr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57925" y="1333500"/>
              <a:ext cx="4152900" cy="2667000"/>
            </a:xfrm>
            <a:prstGeom prst="rect">
              <a:avLst/>
            </a:prstGeom>
          </p:spPr>
        </p:pic>
        <p:sp>
          <p:nvSpPr>
            <p:cNvPr id="11" name="TextBox 11"/>
            <p:cNvSpPr txBox="1"/>
            <p:nvPr/>
          </p:nvSpPr>
          <p:spPr>
            <a:xfrm>
              <a:off x="7523202" y="4117181"/>
              <a:ext cx="16223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误差峰值 vs 前视距离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476750"/>
            <a:ext cx="10668000" cy="1790700"/>
            <a:chOff x="762000" y="4476750"/>
            <a:chExt cx="10668000" cy="1790700"/>
          </a:xfrm>
        </p:grpSpPr>
        <p:sp>
          <p:nvSpPr>
            <p:cNvPr id="13" name="Rectangle 13"/>
            <p:cNvSpPr/>
            <p:nvPr/>
          </p:nvSpPr>
          <p:spPr>
            <a:xfrm>
              <a:off x="762000" y="4476750"/>
              <a:ext cx="10668000" cy="17907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9D9D9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4476750"/>
              <a:ext cx="10668000" cy="361950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自变量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8500" y="4562475"/>
              <a:ext cx="72818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观测项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43500" y="4562475"/>
              <a:ext cx="498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规律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3143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048250" y="4476750"/>
              <a:ext cx="9525" cy="1790700"/>
            </a:xfrm>
            <a:custGeom>
              <a:avLst/>
              <a:gdLst/>
              <a:ahLst/>
              <a:cxnLst/>
              <a:rect l="l" t="t" r="r" b="b"/>
              <a:pathLst>
                <a:path w="9525" h="1790700">
                  <a:moveTo>
                    <a:pt x="0" y="0"/>
                  </a:moveTo>
                  <a:lnTo>
                    <a:pt x="0" y="179070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531495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D9D9D9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2000" y="5314950"/>
              <a:ext cx="10668000" cy="47625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57250" y="4981575"/>
            <a:ext cx="8859202" cy="1257300"/>
            <a:chOff x="857250" y="4981575"/>
            <a:chExt cx="8859202" cy="1257300"/>
          </a:xfrm>
        </p:grpSpPr>
        <p:sp>
          <p:nvSpPr>
            <p:cNvPr id="24" name="TextBox 24"/>
            <p:cNvSpPr txBox="1"/>
            <p:nvPr/>
          </p:nvSpPr>
          <p:spPr>
            <a:xfrm>
              <a:off x="857250" y="498157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238500" y="49815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143500" y="4981575"/>
              <a:ext cx="298465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@8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1.06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4.12 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57250" y="5457825"/>
              <a:ext cx="20754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增大 L_f（1 → 12 m）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238500" y="5457825"/>
              <a:ext cx="134159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转向速率 P95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43500" y="5457825"/>
              <a:ext cx="45729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@3 m/s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23.8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降到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1.8 °/s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，反向 463 → 1 次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7250" y="5934075"/>
              <a:ext cx="23164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提高车速（3 → 8 m/s）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8500" y="5934075"/>
              <a:ext cx="9144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误差峰值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143500" y="5934075"/>
              <a:ext cx="31818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L_f = 3 m 从 </a:t>
              </a:r>
              <a:r>
                <a:rPr lang="zh-CN" sz="15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1.42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涨到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1.71 m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4" name="TextBox 34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  <p:bldP spid="23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729615" y="658178"/>
            <a:ext cx="1628966" cy="518160"/>
            <a:chOff x="729615" y="658178"/>
            <a:chExt cx="1628966" cy="518160"/>
          </a:xfrm>
        </p:grpSpPr>
        <p:sp>
          <p:nvSpPr>
            <p:cNvPr id="3" name="TextBox 3"/>
            <p:cNvSpPr txBox="1"/>
            <p:nvPr/>
          </p:nvSpPr>
          <p:spPr>
            <a:xfrm>
              <a:off x="729615" y="658178"/>
              <a:ext cx="162896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四条结论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762000" y="1085850"/>
              <a:ext cx="533400" cy="4762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1047750" y="1809750"/>
            <a:ext cx="9525" cy="3810000"/>
            <a:chOff x="1047750" y="1809750"/>
            <a:chExt cx="9525" cy="3810000"/>
          </a:xfrm>
        </p:grpSpPr>
        <p:sp>
          <p:nvSpPr>
            <p:cNvPr id="6" name="Line 6"/>
            <p:cNvSpPr/>
            <p:nvPr/>
          </p:nvSpPr>
          <p:spPr>
            <a:xfrm>
              <a:off x="1047750" y="18097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38100">
              <a:gradFill>
                <a:gsLst>
                  <a:gs pos="0">
                    <a:srgbClr val="17375E"/>
                  </a:gs>
                  <a:gs pos="100000">
                    <a:srgbClr val="A6A6A6"/>
                  </a:gs>
                </a:gsLst>
                <a:lin ang="5400000" scaled="1"/>
              </a:gra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62000" y="1714500"/>
            <a:ext cx="5721191" cy="657225"/>
            <a:chOff x="762000" y="1714500"/>
            <a:chExt cx="5721191" cy="657225"/>
          </a:xfrm>
        </p:grpSpPr>
        <p:sp>
          <p:nvSpPr>
            <p:cNvPr id="8" name="Ellipse 8"/>
            <p:cNvSpPr/>
            <p:nvPr/>
          </p:nvSpPr>
          <p:spPr>
            <a:xfrm>
              <a:off x="762000" y="1714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57250" y="1809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4196" y="1905000"/>
              <a:ext cx="1071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99235" y="1751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曲率平滑影响最大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4950" y="2066925"/>
              <a:ext cx="497824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同一台车同一速度，只加平滑：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17.83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→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7.97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 m/s²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62000" y="2857500"/>
            <a:ext cx="6630352" cy="657225"/>
            <a:chOff x="762000" y="2857500"/>
            <a:chExt cx="6630352" cy="657225"/>
          </a:xfrm>
        </p:grpSpPr>
        <p:sp>
          <p:nvSpPr>
            <p:cNvPr id="14" name="Ellipse 14"/>
            <p:cNvSpPr/>
            <p:nvPr/>
          </p:nvSpPr>
          <p:spPr>
            <a:xfrm>
              <a:off x="762000" y="2857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857250" y="2952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65442" y="3048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99235" y="2894648"/>
              <a:ext cx="333894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曲率限速压低侧向加速度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04950" y="3209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同一条路，匀速 7.30 → 限速 4.34 m/s²，终点误差 +0.31 m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2000" y="4000500"/>
            <a:ext cx="6126480" cy="657225"/>
            <a:chOff x="762000" y="4000500"/>
            <a:chExt cx="6126480" cy="657225"/>
          </a:xfrm>
        </p:grpSpPr>
        <p:sp>
          <p:nvSpPr>
            <p:cNvPr id="20" name="Ellipse 20"/>
            <p:cNvSpPr/>
            <p:nvPr/>
          </p:nvSpPr>
          <p:spPr>
            <a:xfrm>
              <a:off x="762000" y="4000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57250" y="4095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5442" y="4191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99235" y="4037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速度越高误差越大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4950" y="4352925"/>
              <a:ext cx="53835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3 → 7 m/s，误差峰值 1.42 → 1.64 m，定量确认了问题 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5143500"/>
            <a:ext cx="6630352" cy="657225"/>
            <a:chOff x="762000" y="5143500"/>
            <a:chExt cx="6630352" cy="657225"/>
          </a:xfrm>
        </p:grpSpPr>
        <p:sp>
          <p:nvSpPr>
            <p:cNvPr id="26" name="Ellipse 26"/>
            <p:cNvSpPr/>
            <p:nvPr/>
          </p:nvSpPr>
          <p:spPr>
            <a:xfrm>
              <a:off x="762000" y="5143500"/>
              <a:ext cx="571500" cy="571500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857250" y="5238750"/>
              <a:ext cx="381000" cy="381000"/>
            </a:xfrm>
            <a:prstGeom prst="ellipse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5442" y="5334000"/>
              <a:ext cx="1646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entury Gothic"/>
                  <a:ea typeface="Microsoft YaHei"/>
                  <a:cs typeface="Century Gothic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99235" y="5180648"/>
              <a:ext cx="244182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7375E"/>
                  </a:solidFill>
                  <a:latin typeface="Arial"/>
                  <a:ea typeface="Microsoft YaHei"/>
                  <a:cs typeface="Arial"/>
                </a:rPr>
                <a:t>前视距离需要折中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04950" y="5495925"/>
              <a:ext cx="588740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L_f 1 → 12 m：误差峰值 </a:t>
              </a:r>
              <a:r>
                <a:rPr lang="zh-CN" sz="1500" b="1" dirty="0">
                  <a:solidFill>
                    <a:srgbClr val="E92E25"/>
                  </a:solidFill>
                  <a:latin typeface="Century Gothic"/>
                  <a:ea typeface="Microsoft YaHei"/>
                  <a:cs typeface="Century Gothic"/>
                </a:rPr>
                <a:t>1.06 → 4.12 m</a:t>
              </a:r>
              <a:r>
                <a:rPr lang="zh-CN" sz="150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 xml:space="preserve">，抖动 </a:t>
              </a:r>
              <a:r>
                <a:rPr lang="zh-CN" sz="1500" b="1" dirty="0">
                  <a:solidFill>
                    <a:srgbClr val="2E7D32"/>
                  </a:solidFill>
                  <a:latin typeface="Century Gothic"/>
                  <a:ea typeface="Microsoft YaHei"/>
                  <a:cs typeface="Century Gothic"/>
                </a:rPr>
                <a:t>23.8 → 1.8 °/s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0" y="1428750"/>
            <a:ext cx="4200525" cy="4679156"/>
            <a:chOff x="7239000" y="1428750"/>
            <a:chExt cx="4200525" cy="4679156"/>
          </a:xfrm>
        </p:grpSpPr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39000" y="1428750"/>
              <a:ext cx="4200525" cy="4286250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7701796" y="5879306"/>
              <a:ext cx="3265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57070"/>
                  </a:solidFill>
                  <a:latin typeface="Arial"/>
                  <a:ea typeface="Microsoft YaHei"/>
                  <a:cs typeface="Arial"/>
                </a:rPr>
                <a:t>s ≈ 589 m 急弯放大，全程误差峰值都在这里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50570" y="6324600"/>
            <a:ext cx="11219498" cy="428625"/>
            <a:chOff x="750570" y="6324600"/>
            <a:chExt cx="11219498" cy="428625"/>
          </a:xfrm>
        </p:grpSpPr>
        <p:sp>
          <p:nvSpPr>
            <p:cNvPr id="35" name="TextBox 35"/>
            <p:cNvSpPr txBox="1"/>
            <p:nvPr/>
          </p:nvSpPr>
          <p:spPr>
            <a:xfrm>
              <a:off x="750570" y="657034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07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1788140" y="6324600"/>
              <a:ext cx="181928" cy="381000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5" grpId="0"/>
      <p:bldP spid="31" grpId="0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5400008" y="-514541"/>
            <a:ext cx="18473832" cy="12009407"/>
            <a:chOff x="-5400008" y="-514541"/>
            <a:chExt cx="18473832" cy="12009407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Polygon 3"/>
            <p:cNvSpPr/>
            <p:nvPr/>
          </p:nvSpPr>
          <p:spPr>
            <a:xfrm>
              <a:off x="-5400008" y="7052501"/>
              <a:ext cx="10799921" cy="4442365"/>
            </a:xfrm>
            <a:custGeom>
              <a:avLst/>
              <a:gdLst/>
              <a:ahLst/>
              <a:cxnLst/>
              <a:rect l="l" t="t" r="r" b="b"/>
              <a:pathLst>
                <a:path w="10799921" h="4442365">
                  <a:moveTo>
                    <a:pt x="10799921" y="0"/>
                  </a:moveTo>
                  <a:lnTo>
                    <a:pt x="10799921" y="4442365"/>
                  </a:lnTo>
                  <a:lnTo>
                    <a:pt x="0" y="444236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9225534" y="-514541"/>
              <a:ext cx="3848290" cy="2031492"/>
            </a:xfrm>
            <a:custGeom>
              <a:avLst/>
              <a:gdLst/>
              <a:ahLst/>
              <a:cxnLst/>
              <a:rect l="l" t="t" r="r" b="b"/>
              <a:pathLst>
                <a:path w="3848290" h="2031492">
                  <a:moveTo>
                    <a:pt x="0" y="0"/>
                  </a:moveTo>
                  <a:lnTo>
                    <a:pt x="0" y="448628"/>
                  </a:lnTo>
                  <a:lnTo>
                    <a:pt x="3848290" y="2031492"/>
                  </a:lnTo>
                  <a:lnTo>
                    <a:pt x="3848290" y="1582864"/>
                  </a:lnTo>
                  <a:close/>
                </a:path>
              </a:pathLst>
            </a:custGeom>
            <a:solidFill>
              <a:srgbClr val="17375E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6661690" y="676561"/>
              <a:ext cx="3176778" cy="1677067"/>
            </a:xfrm>
            <a:custGeom>
              <a:avLst/>
              <a:gdLst/>
              <a:ahLst/>
              <a:cxnLst/>
              <a:rect l="l" t="t" r="r" b="b"/>
              <a:pathLst>
                <a:path w="3176778" h="1677067">
                  <a:moveTo>
                    <a:pt x="0" y="0"/>
                  </a:moveTo>
                  <a:lnTo>
                    <a:pt x="0" y="370332"/>
                  </a:lnTo>
                  <a:lnTo>
                    <a:pt x="3176778" y="1677067"/>
                  </a:lnTo>
                  <a:lnTo>
                    <a:pt x="3176778" y="1306735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  <p:sp>
          <p:nvSpPr>
            <p:cNvPr id="6" name="Freeform 6"/>
            <p:cNvSpPr/>
            <p:nvPr/>
          </p:nvSpPr>
          <p:spPr>
            <a:xfrm>
              <a:off x="7192994" y="954215"/>
              <a:ext cx="2510885" cy="1325594"/>
            </a:xfrm>
            <a:custGeom>
              <a:avLst/>
              <a:gdLst/>
              <a:ahLst/>
              <a:cxnLst/>
              <a:rect l="l" t="t" r="r" b="b"/>
              <a:pathLst>
                <a:path w="2510885" h="1325594">
                  <a:moveTo>
                    <a:pt x="0" y="0"/>
                  </a:moveTo>
                  <a:lnTo>
                    <a:pt x="0" y="292703"/>
                  </a:lnTo>
                  <a:lnTo>
                    <a:pt x="2510885" y="1325594"/>
                  </a:lnTo>
                  <a:lnTo>
                    <a:pt x="2510885" y="103279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ffectLst>
              <a:outerShdw blurRad="50864" dist="38121" dir="2700000" algn="tl" rotWithShape="0">
                <a:srgbClr val="000000">
                  <a:alpha val="21000"/>
                </a:srgbClr>
              </a:outerShdw>
            </a:effectLst>
          </p:spPr>
        </p:sp>
      </p:grpSp>
      <p:grpSp>
        <p:nvGrpSpPr>
          <p:cNvPr id="10" name="Group 10"/>
          <p:cNvGrpSpPr/>
          <p:nvPr/>
        </p:nvGrpSpPr>
        <p:grpSpPr>
          <a:xfrm>
            <a:off x="707898" y="545592"/>
            <a:ext cx="7777924" cy="670560"/>
            <a:chOff x="707898" y="545592"/>
            <a:chExt cx="7777924" cy="670560"/>
          </a:xfrm>
        </p:grpSpPr>
        <p:sp>
          <p:nvSpPr>
            <p:cNvPr id="8" name="TextBox 8"/>
            <p:cNvSpPr txBox="1"/>
            <p:nvPr/>
          </p:nvSpPr>
          <p:spPr>
            <a:xfrm>
              <a:off x="707898" y="545592"/>
              <a:ext cx="201168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东南大学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00731" y="799910"/>
              <a:ext cx="5685091" cy="9525"/>
            </a:xfrm>
            <a:custGeom>
              <a:avLst/>
              <a:gdLst/>
              <a:ahLst/>
              <a:cxnLst/>
              <a:rect l="l" t="t" r="r" b="b"/>
              <a:pathLst>
                <a:path w="5685091" h="9525">
                  <a:moveTo>
                    <a:pt x="0" y="0"/>
                  </a:moveTo>
                  <a:lnTo>
                    <a:pt x="5685091" y="0"/>
                  </a:lnTo>
                </a:path>
              </a:pathLst>
            </a:custGeom>
            <a:noFill/>
            <a:ln w="28575">
              <a:solidFill>
                <a:srgbClr val="17375E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4179570" y="2781300"/>
            <a:ext cx="3832860" cy="2105025"/>
            <a:chOff x="4179570" y="2781300"/>
            <a:chExt cx="3832860" cy="2105025"/>
          </a:xfrm>
        </p:grpSpPr>
        <p:sp>
          <p:nvSpPr>
            <p:cNvPr id="11" name="TextBox 11"/>
            <p:cNvSpPr txBox="1"/>
            <p:nvPr/>
          </p:nvSpPr>
          <p:spPr>
            <a:xfrm>
              <a:off x="4179570" y="2781300"/>
              <a:ext cx="3832860" cy="1219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000" b="1" dirty="0">
                  <a:solidFill>
                    <a:srgbClr val="17375E"/>
                  </a:solidFill>
                  <a:latin typeface="Century Gothic"/>
                  <a:ea typeface="Microsoft YaHei"/>
                  <a:cs typeface="Century Gothic"/>
                </a:rPr>
                <a:t>谢谢聆听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4953000" y="3886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535900" y="4215765"/>
              <a:ext cx="312020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002060"/>
                  </a:solidFill>
                  <a:latin typeface="Century Gothic"/>
                  <a:ea typeface="Microsoft YaHei"/>
                  <a:cs typeface="Century Gothic"/>
                </a:rPr>
                <a:t>欢迎批评指正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219325" y="5022532"/>
            <a:ext cx="7753350" cy="335280"/>
            <a:chOff x="2219325" y="5022532"/>
            <a:chExt cx="7753350" cy="335280"/>
          </a:xfrm>
        </p:grpSpPr>
        <p:sp>
          <p:nvSpPr>
            <p:cNvPr id="15" name="TextBox 15"/>
            <p:cNvSpPr txBox="1"/>
            <p:nvPr/>
          </p:nvSpPr>
          <p:spPr>
            <a:xfrm>
              <a:off x="2219325" y="5022532"/>
              <a:ext cx="77533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404040"/>
                  </a:solidFill>
                  <a:latin typeface="Arial"/>
                  <a:ea typeface="Microsoft YaHei"/>
                  <a:cs typeface="Arial"/>
                </a:rPr>
                <a:t>地图构建 · 参考路径生成 · Pure Pursuit 实现 · 跟踪可视化 · 实验分析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50570" y="5819775"/>
            <a:ext cx="11219498" cy="845344"/>
            <a:chOff x="750570" y="5819775"/>
            <a:chExt cx="11219498" cy="845344"/>
          </a:xfrm>
        </p:grpSpPr>
        <p:sp>
          <p:nvSpPr>
            <p:cNvPr id="17" name="Rectangle 17"/>
            <p:cNvSpPr/>
            <p:nvPr/>
          </p:nvSpPr>
          <p:spPr>
            <a:xfrm>
              <a:off x="11788140" y="5819775"/>
              <a:ext cx="181928" cy="545878"/>
            </a:xfrm>
            <a:prstGeom prst="rect">
              <a:avLst/>
            </a:prstGeom>
            <a:solidFill>
              <a:srgbClr val="17375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0570" y="6475095"/>
              <a:ext cx="16744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A6A6A6"/>
                  </a:solidFill>
                  <a:latin typeface="Century Gothic"/>
                  <a:ea typeface="Microsoft YaHei"/>
                  <a:cs typeface="Century Gothic"/>
                </a:rPr>
                <a:t>08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174837" y="6466999"/>
              <a:ext cx="22675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75" b="1" dirty="0">
                  <a:solidFill>
                    <a:srgbClr val="A6A6A6"/>
                  </a:solidFill>
                  <a:latin typeface="Arial"/>
                  <a:ea typeface="Microsoft YaHei"/>
                  <a:cs typeface="Arial"/>
                </a:rPr>
                <a:t>《智能汽车与自动驾驶》课程作业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