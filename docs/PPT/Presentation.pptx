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2.xml" ContentType="application/vnd.openxmlformats-officedocument.drawingml.chart+xml"/>
  <Override PartName="/ppt/notesSlides/notesSlide19.xml" ContentType="application/vnd.openxmlformats-officedocument.presentationml.notesSlide+xml"/>
  <Override PartName="/ppt/charts/chart3.xml" ContentType="application/vnd.openxmlformats-officedocument.drawingml.chart+xml"/>
  <Override PartName="/ppt/notesSlides/notesSlide20.xml" ContentType="application/vnd.openxmlformats-officedocument.presentationml.notesSlide+xml"/>
  <Override PartName="/ppt/charts/chart4.xml" ContentType="application/vnd.openxmlformats-officedocument.drawingml.chart+xml"/>
  <Override PartName="/ppt/notesSlides/notesSlide21.xml" ContentType="application/vnd.openxmlformats-officedocument.presentationml.notesSlide+xml"/>
  <Override PartName="/ppt/charts/chart5.xml" ContentType="application/vnd.openxmlformats-officedocument.drawingml.chart+xml"/>
  <Override PartName="/ppt/notesSlides/notesSlide22.xml" ContentType="application/vnd.openxmlformats-officedocument.presentationml.notesSlide+xml"/>
  <Override PartName="/ppt/charts/chart6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79" r:id="rId2"/>
    <p:sldId id="280" r:id="rId3"/>
    <p:sldId id="256" r:id="rId4"/>
    <p:sldId id="257" r:id="rId5"/>
    <p:sldId id="258" r:id="rId6"/>
    <p:sldId id="259" r:id="rId7"/>
    <p:sldId id="260" r:id="rId8"/>
    <p:sldId id="261" r:id="rId9"/>
    <p:sldId id="281" r:id="rId10"/>
    <p:sldId id="282" r:id="rId11"/>
    <p:sldId id="283" r:id="rId12"/>
    <p:sldId id="284" r:id="rId13"/>
    <p:sldId id="285" r:id="rId14"/>
    <p:sldId id="286" r:id="rId15"/>
    <p:sldId id="271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2" r:id="rId24"/>
    <p:sldId id="273" r:id="rId25"/>
    <p:sldId id="274" r:id="rId26"/>
    <p:sldId id="275" r:id="rId27"/>
    <p:sldId id="276" r:id="rId28"/>
    <p:sldId id="277" r:id="rId29"/>
    <p:sldId id="262" r:id="rId30"/>
    <p:sldId id="278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51" autoAdjust="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30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-US" sz="1575" b="1">
                <a:solidFill>
                  <a:srgbClr val="19385D"/>
                </a:solidFill>
                <a:latin typeface="Arial"/>
                <a:ea typeface="Arial"/>
                <a:cs typeface="Arial"/>
              </a:rPr>
              <a:t>Experiment completion by test group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v>Completed</c:v>
          </c:tx>
          <c:spPr>
            <a:solidFill>
              <a:srgbClr val="19385D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16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026C-4F0B-A3B8-F965E9A0966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9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26C-4F0B-A3B8-F965E9A0966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/>
                      <a:t>2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26C-4F0B-A3B8-F965E9A0966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zh-CN"/>
                      <a:t>3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26C-4F0B-A3B8-F965E9A0966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Built-in routes</c:v>
                </c:pt>
                <c:pt idx="1">
                  <c:v>Circle tests</c:v>
                </c:pt>
                <c:pt idx="2">
                  <c:v>Steering limit</c:v>
                </c:pt>
                <c:pt idx="3">
                  <c:v>GPX route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16</c:v>
                </c:pt>
                <c:pt idx="1">
                  <c:v>9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026C-4F0B-A3B8-F965E9A09667}"/>
            </c:ext>
          </c:extLst>
        </c:ser>
        <c:ser>
          <c:idx val="1"/>
          <c:order val="1"/>
          <c:tx>
            <c:v>Stopped early</c:v>
          </c:tx>
          <c:spPr>
            <a:solidFill>
              <a:srgbClr val="FFBF00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026C-4F0B-A3B8-F965E9A0966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026C-4F0B-A3B8-F965E9A0966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026C-4F0B-A3B8-F965E9A0966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zh-CN"/>
                      <a:t>1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026C-4F0B-A3B8-F965E9A0966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Built-in routes</c:v>
                </c:pt>
                <c:pt idx="1">
                  <c:v>Circle tests</c:v>
                </c:pt>
                <c:pt idx="2">
                  <c:v>Steering limit</c:v>
                </c:pt>
                <c:pt idx="3">
                  <c:v>GPX route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9-026C-4F0B-A3B8-F965E9A096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8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3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125"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-US" sz="1575" b="1">
                <a:solidFill>
                  <a:srgbClr val="19385D"/>
                </a:solidFill>
                <a:latin typeface="Arial"/>
                <a:ea typeface="Arial"/>
                <a:cs typeface="Arial"/>
              </a:rPr>
              <a:t>Double lane change: mean error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Mean error</c:v>
          </c:tx>
          <c:spPr>
            <a:solidFill>
              <a:srgbClr val="19385D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FFBF00"/>
              </a:solidFill>
            </c:spPr>
            <c:extLst>
              <c:ext xmlns:c16="http://schemas.microsoft.com/office/drawing/2014/chart" uri="{C3380CC4-5D6E-409C-BE32-E72D297353CC}">
                <c16:uniqueId val="{00000001-8BBD-438D-B3F6-38E761E6FB3E}"/>
              </c:ext>
            </c:extLst>
          </c:dPt>
          <c:dPt>
            <c:idx val="1"/>
            <c:invertIfNegative val="0"/>
            <c:bubble3D val="0"/>
            <c:spPr>
              <a:solidFill>
                <a:srgbClr val="AAB4C1"/>
              </a:solidFill>
            </c:spPr>
            <c:extLst>
              <c:ext xmlns:c16="http://schemas.microsoft.com/office/drawing/2014/chart" uri="{C3380CC4-5D6E-409C-BE32-E72D297353CC}">
                <c16:uniqueId val="{00000003-8BBD-438D-B3F6-38E761E6FB3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BBD-438D-B3F6-38E761E6FB3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0.314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BBD-438D-B3F6-38E761E6FB3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0.190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BBD-438D-B3F6-38E761E6FB3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/>
                      <a:t>0.083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BBD-438D-B3F6-38E761E6FB3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PP</c:v>
                </c:pt>
                <c:pt idx="1">
                  <c:v>Kin. LQR</c:v>
                </c:pt>
                <c:pt idx="2">
                  <c:v>Dyn. LQR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0.31430000000000002</c:v>
                </c:pt>
                <c:pt idx="1">
                  <c:v>0.19040000000000001</c:v>
                </c:pt>
                <c:pt idx="2">
                  <c:v>8.2699999999999996E-2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8BBD-438D-B3F6-38E761E6FB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36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>
                    <a:latin typeface="Arial"/>
                    <a:ea typeface="Arial"/>
                    <a:cs typeface="Arial"/>
                  </a:rPr>
                  <a:t>m</a:t>
                </a:r>
              </a:p>
            </c:rich>
          </c:tx>
          <c:overlay val="0"/>
        </c:title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0.09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-US" sz="1575" b="1">
                <a:solidFill>
                  <a:srgbClr val="19385D"/>
                </a:solidFill>
                <a:latin typeface="Arial"/>
                <a:ea typeface="Arial"/>
                <a:cs typeface="Arial"/>
              </a:rPr>
              <a:t>Task 1: mean error by route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PP</c:v>
          </c:tx>
          <c:spPr>
            <a:solidFill>
              <a:srgbClr val="FFBF00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0.31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BF3E-464A-9279-FF39E986EA2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0.14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F3E-464A-9279-FF39E986EA2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/>
                      <a:t>0.33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F3E-464A-9279-FF39E986EA2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zh-CN"/>
                      <a:t>0.26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F3E-464A-9279-FF39E986EA2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Lane change</c:v>
                </c:pt>
                <c:pt idx="1">
                  <c:v>Right angle</c:v>
                </c:pt>
                <c:pt idx="2">
                  <c:v>S-curve</c:v>
                </c:pt>
                <c:pt idx="3">
                  <c:v>Mixed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0.31430000000000002</c:v>
                </c:pt>
                <c:pt idx="1">
                  <c:v>0.13519999999999999</c:v>
                </c:pt>
                <c:pt idx="2">
                  <c:v>0.3332</c:v>
                </c:pt>
                <c:pt idx="3">
                  <c:v>0.2555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BF3E-464A-9279-FF39E986EA2B}"/>
            </c:ext>
          </c:extLst>
        </c:ser>
        <c:ser>
          <c:idx val="1"/>
          <c:order val="1"/>
          <c:tx>
            <c:v>Kinematic LQR</c:v>
          </c:tx>
          <c:spPr>
            <a:solidFill>
              <a:srgbClr val="AAB4C1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0.19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BF3E-464A-9279-FF39E986EA2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0.10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BF3E-464A-9279-FF39E986EA2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/>
                      <a:t>0.22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BF3E-464A-9279-FF39E986EA2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zh-CN"/>
                      <a:t>0.16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BF3E-464A-9279-FF39E986EA2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Lane change</c:v>
                </c:pt>
                <c:pt idx="1">
                  <c:v>Right angle</c:v>
                </c:pt>
                <c:pt idx="2">
                  <c:v>S-curve</c:v>
                </c:pt>
                <c:pt idx="3">
                  <c:v>Mixed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0.19040000000000001</c:v>
                </c:pt>
                <c:pt idx="1">
                  <c:v>9.8900000000000002E-2</c:v>
                </c:pt>
                <c:pt idx="2">
                  <c:v>0.21640000000000001</c:v>
                </c:pt>
                <c:pt idx="3">
                  <c:v>0.15679999999999999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9-BF3E-464A-9279-FF39E986EA2B}"/>
            </c:ext>
          </c:extLst>
        </c:ser>
        <c:ser>
          <c:idx val="2"/>
          <c:order val="2"/>
          <c:tx>
            <c:v>Dynamic LQR</c:v>
          </c:tx>
          <c:spPr>
            <a:solidFill>
              <a:srgbClr val="19385D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0.08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BF3E-464A-9279-FF39E986EA2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0.06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BF3E-464A-9279-FF39E986EA2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/>
                      <a:t>0.09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BF3E-464A-9279-FF39E986EA2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zh-CN"/>
                      <a:t>0.07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BF3E-464A-9279-FF39E986EA2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Data'!$E$2:$E$5</c:f>
              <c:strCache>
                <c:ptCount val="4"/>
                <c:pt idx="0">
                  <c:v>Lane change</c:v>
                </c:pt>
                <c:pt idx="1">
                  <c:v>Right angle</c:v>
                </c:pt>
                <c:pt idx="2">
                  <c:v>S-curve</c:v>
                </c:pt>
                <c:pt idx="3">
                  <c:v>Mixed</c:v>
                </c:pt>
              </c:strCache>
            </c:strRef>
          </c:cat>
          <c:val>
            <c:numRef>
              <c:f>'Chart Data'!$F$2:$F$5</c:f>
              <c:numCache>
                <c:formatCode>0.00</c:formatCode>
                <c:ptCount val="4"/>
                <c:pt idx="0">
                  <c:v>8.2699999999999996E-2</c:v>
                </c:pt>
                <c:pt idx="1">
                  <c:v>5.6599999999999998E-2</c:v>
                </c:pt>
                <c:pt idx="2">
                  <c:v>9.2200000000000004E-2</c:v>
                </c:pt>
                <c:pt idx="3">
                  <c:v>7.0599999999999996E-2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E-BF3E-464A-9279-FF39E986EA2B}"/>
            </c:ext>
          </c:extLst>
        </c:ser>
        <c:ser>
          <c:idx val="3"/>
          <c:order val="3"/>
          <c:tx>
            <c:v>MPC</c:v>
          </c:tx>
          <c:spPr>
            <a:solidFill>
              <a:srgbClr val="248183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0.18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BF3E-464A-9279-FF39E986EA2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0.07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BF3E-464A-9279-FF39E986EA2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/>
                      <a:t>0.18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BF3E-464A-9279-FF39E986EA2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zh-CN"/>
                      <a:t>0.15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BF3E-464A-9279-FF39E986EA2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Data'!$G$2:$G$5</c:f>
              <c:strCache>
                <c:ptCount val="4"/>
                <c:pt idx="0">
                  <c:v>Lane change</c:v>
                </c:pt>
                <c:pt idx="1">
                  <c:v>Right angle</c:v>
                </c:pt>
                <c:pt idx="2">
                  <c:v>S-curve</c:v>
                </c:pt>
                <c:pt idx="3">
                  <c:v>Mixed</c:v>
                </c:pt>
              </c:strCache>
            </c:strRef>
          </c:cat>
          <c:val>
            <c:numRef>
              <c:f>'Chart Data'!$H$2:$H$5</c:f>
              <c:numCache>
                <c:formatCode>0.00</c:formatCode>
                <c:ptCount val="4"/>
                <c:pt idx="0">
                  <c:v>0.18490000000000001</c:v>
                </c:pt>
                <c:pt idx="1">
                  <c:v>6.6699999999999995E-2</c:v>
                </c:pt>
                <c:pt idx="2">
                  <c:v>0.18479999999999999</c:v>
                </c:pt>
                <c:pt idx="3">
                  <c:v>0.1527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3-BF3E-464A-9279-FF39E986EA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36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>
                    <a:latin typeface="Arial"/>
                    <a:ea typeface="Arial"/>
                    <a:cs typeface="Arial"/>
                  </a:rPr>
                  <a:t>Mean error (m)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0.09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125"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-US" sz="1575" b="1" dirty="0">
                <a:solidFill>
                  <a:srgbClr val="19385D"/>
                </a:solidFill>
                <a:latin typeface="Arial"/>
                <a:ea typeface="Arial"/>
                <a:cs typeface="Arial"/>
              </a:rPr>
              <a:t>Task 1: average mean error across four routes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Average mean error</c:v>
          </c:tx>
          <c:spPr>
            <a:solidFill>
              <a:srgbClr val="19385D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FFBF00"/>
              </a:solidFill>
            </c:spPr>
            <c:extLst>
              <c:ext xmlns:c16="http://schemas.microsoft.com/office/drawing/2014/chart" uri="{C3380CC4-5D6E-409C-BE32-E72D297353CC}">
                <c16:uniqueId val="{00000001-BB12-40B5-8D18-336E7C5EBBE6}"/>
              </c:ext>
            </c:extLst>
          </c:dPt>
          <c:dPt>
            <c:idx val="1"/>
            <c:invertIfNegative val="0"/>
            <c:bubble3D val="0"/>
            <c:spPr>
              <a:solidFill>
                <a:srgbClr val="AAB4C1"/>
              </a:solidFill>
            </c:spPr>
            <c:extLst>
              <c:ext xmlns:c16="http://schemas.microsoft.com/office/drawing/2014/chart" uri="{C3380CC4-5D6E-409C-BE32-E72D297353CC}">
                <c16:uniqueId val="{00000003-BB12-40B5-8D18-336E7C5EBBE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B12-40B5-8D18-336E7C5EBBE6}"/>
              </c:ext>
            </c:extLst>
          </c:dPt>
          <c:dPt>
            <c:idx val="3"/>
            <c:invertIfNegative val="0"/>
            <c:bubble3D val="0"/>
            <c:spPr>
              <a:solidFill>
                <a:srgbClr val="248183"/>
              </a:solidFill>
            </c:spPr>
            <c:extLst>
              <c:ext xmlns:c16="http://schemas.microsoft.com/office/drawing/2014/chart" uri="{C3380CC4-5D6E-409C-BE32-E72D297353CC}">
                <c16:uniqueId val="{00000007-BB12-40B5-8D18-336E7C5EBBE6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0.260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B12-40B5-8D18-336E7C5EBBE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0.166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B12-40B5-8D18-336E7C5EBBE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/>
                      <a:t>0.076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BB12-40B5-8D18-336E7C5EBBE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zh-CN"/>
                      <a:t>0.147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BB12-40B5-8D18-336E7C5EBBE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PP</c:v>
                </c:pt>
                <c:pt idx="1">
                  <c:v>Kin. LQR</c:v>
                </c:pt>
                <c:pt idx="2">
                  <c:v>Dyn. LQR</c:v>
                </c:pt>
                <c:pt idx="3">
                  <c:v>MPC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0.25950000000000001</c:v>
                </c:pt>
                <c:pt idx="1">
                  <c:v>0.1656</c:v>
                </c:pt>
                <c:pt idx="2">
                  <c:v>7.5499999999999998E-2</c:v>
                </c:pt>
                <c:pt idx="3">
                  <c:v>0.14729999999999999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BB12-40B5-8D18-336E7C5EBB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25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>
                    <a:latin typeface="Arial"/>
                    <a:ea typeface="Arial"/>
                    <a:cs typeface="Arial"/>
                  </a:rPr>
                  <a:t>Mean error (m)</a:t>
                </a:r>
              </a:p>
            </c:rich>
          </c:tx>
          <c:overlay val="0"/>
        </c:title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0.05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-US" sz="1575" b="1">
                <a:solidFill>
                  <a:srgbClr val="19385D"/>
                </a:solidFill>
                <a:latin typeface="Arial"/>
                <a:ea typeface="Arial"/>
                <a:cs typeface="Arial"/>
              </a:rPr>
              <a:t>Task 2: high-speed steering history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PP</c:v>
          </c:tx>
          <c:spPr>
            <a:ln w="19050">
              <a:solidFill>
                <a:srgbClr val="FFBF00"/>
              </a:solidFill>
            </a:ln>
          </c:spPr>
          <c:marker>
            <c:symbol val="none"/>
          </c:marker>
          <c:xVal>
            <c:numRef>
              <c:f>'Chart Data'!$A$2:$A$209</c:f>
              <c:numCache>
                <c:formatCode>General</c:formatCode>
                <c:ptCount val="208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9.3000000000000007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9.8000000000000007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  <c:pt idx="131">
                  <c:v>13.1</c:v>
                </c:pt>
                <c:pt idx="132">
                  <c:v>13.2</c:v>
                </c:pt>
                <c:pt idx="133">
                  <c:v>13.3</c:v>
                </c:pt>
                <c:pt idx="134">
                  <c:v>13.4</c:v>
                </c:pt>
                <c:pt idx="135">
                  <c:v>13.5</c:v>
                </c:pt>
                <c:pt idx="136">
                  <c:v>13.6</c:v>
                </c:pt>
                <c:pt idx="137">
                  <c:v>13.7</c:v>
                </c:pt>
                <c:pt idx="138">
                  <c:v>13.8</c:v>
                </c:pt>
                <c:pt idx="139">
                  <c:v>13.9</c:v>
                </c:pt>
                <c:pt idx="140">
                  <c:v>14</c:v>
                </c:pt>
                <c:pt idx="141">
                  <c:v>14.1</c:v>
                </c:pt>
                <c:pt idx="142">
                  <c:v>14.2</c:v>
                </c:pt>
                <c:pt idx="143">
                  <c:v>14.3</c:v>
                </c:pt>
                <c:pt idx="144">
                  <c:v>14.4</c:v>
                </c:pt>
                <c:pt idx="145">
                  <c:v>14.5</c:v>
                </c:pt>
                <c:pt idx="146">
                  <c:v>14.6</c:v>
                </c:pt>
                <c:pt idx="147">
                  <c:v>14.7</c:v>
                </c:pt>
                <c:pt idx="148">
                  <c:v>14.8</c:v>
                </c:pt>
                <c:pt idx="149">
                  <c:v>14.9</c:v>
                </c:pt>
                <c:pt idx="150">
                  <c:v>15</c:v>
                </c:pt>
                <c:pt idx="151">
                  <c:v>15.1</c:v>
                </c:pt>
                <c:pt idx="152">
                  <c:v>15.2</c:v>
                </c:pt>
                <c:pt idx="153">
                  <c:v>15.3</c:v>
                </c:pt>
                <c:pt idx="154">
                  <c:v>15.4</c:v>
                </c:pt>
                <c:pt idx="155">
                  <c:v>15.5</c:v>
                </c:pt>
                <c:pt idx="156">
                  <c:v>15.6</c:v>
                </c:pt>
                <c:pt idx="157">
                  <c:v>15.7</c:v>
                </c:pt>
                <c:pt idx="158">
                  <c:v>15.8</c:v>
                </c:pt>
                <c:pt idx="159">
                  <c:v>15.9</c:v>
                </c:pt>
                <c:pt idx="160">
                  <c:v>16</c:v>
                </c:pt>
                <c:pt idx="161">
                  <c:v>16.100000000000001</c:v>
                </c:pt>
                <c:pt idx="162">
                  <c:v>16.2</c:v>
                </c:pt>
                <c:pt idx="163">
                  <c:v>16.3</c:v>
                </c:pt>
                <c:pt idx="164">
                  <c:v>16.399999999999999</c:v>
                </c:pt>
                <c:pt idx="165">
                  <c:v>16.5</c:v>
                </c:pt>
                <c:pt idx="166">
                  <c:v>16.600000000000001</c:v>
                </c:pt>
                <c:pt idx="167">
                  <c:v>16.7</c:v>
                </c:pt>
                <c:pt idx="168">
                  <c:v>16.8</c:v>
                </c:pt>
                <c:pt idx="169">
                  <c:v>16.899999999999999</c:v>
                </c:pt>
                <c:pt idx="170">
                  <c:v>17</c:v>
                </c:pt>
                <c:pt idx="171">
                  <c:v>17.100000000000001</c:v>
                </c:pt>
                <c:pt idx="172">
                  <c:v>17.2</c:v>
                </c:pt>
                <c:pt idx="173">
                  <c:v>17.3</c:v>
                </c:pt>
                <c:pt idx="174">
                  <c:v>17.399999999999999</c:v>
                </c:pt>
                <c:pt idx="175">
                  <c:v>17.5</c:v>
                </c:pt>
                <c:pt idx="176">
                  <c:v>17.600000000000001</c:v>
                </c:pt>
                <c:pt idx="177">
                  <c:v>17.7</c:v>
                </c:pt>
                <c:pt idx="178">
                  <c:v>17.8</c:v>
                </c:pt>
                <c:pt idx="179">
                  <c:v>17.899999999999999</c:v>
                </c:pt>
                <c:pt idx="180">
                  <c:v>18</c:v>
                </c:pt>
                <c:pt idx="181">
                  <c:v>18.100000000000001</c:v>
                </c:pt>
                <c:pt idx="182">
                  <c:v>18.2</c:v>
                </c:pt>
                <c:pt idx="183">
                  <c:v>18.3</c:v>
                </c:pt>
                <c:pt idx="184">
                  <c:v>18.399999999999999</c:v>
                </c:pt>
                <c:pt idx="185">
                  <c:v>18.5</c:v>
                </c:pt>
                <c:pt idx="186">
                  <c:v>18.600000000000001</c:v>
                </c:pt>
                <c:pt idx="187">
                  <c:v>18.7</c:v>
                </c:pt>
                <c:pt idx="188">
                  <c:v>18.8</c:v>
                </c:pt>
                <c:pt idx="189">
                  <c:v>18.899999999999999</c:v>
                </c:pt>
                <c:pt idx="190">
                  <c:v>19</c:v>
                </c:pt>
                <c:pt idx="191">
                  <c:v>19.100000000000001</c:v>
                </c:pt>
                <c:pt idx="192">
                  <c:v>19.2</c:v>
                </c:pt>
                <c:pt idx="193">
                  <c:v>19.3</c:v>
                </c:pt>
                <c:pt idx="194">
                  <c:v>19.399999999999999</c:v>
                </c:pt>
                <c:pt idx="195">
                  <c:v>19.5</c:v>
                </c:pt>
                <c:pt idx="196">
                  <c:v>19.600000000000001</c:v>
                </c:pt>
                <c:pt idx="197">
                  <c:v>19.7</c:v>
                </c:pt>
                <c:pt idx="198">
                  <c:v>19.8</c:v>
                </c:pt>
                <c:pt idx="199">
                  <c:v>19.899999999999999</c:v>
                </c:pt>
                <c:pt idx="200">
                  <c:v>20</c:v>
                </c:pt>
                <c:pt idx="201">
                  <c:v>20.100000000000001</c:v>
                </c:pt>
                <c:pt idx="202">
                  <c:v>20.2</c:v>
                </c:pt>
                <c:pt idx="203">
                  <c:v>20.3</c:v>
                </c:pt>
                <c:pt idx="204">
                  <c:v>20.399999999999999</c:v>
                </c:pt>
                <c:pt idx="205">
                  <c:v>20.5</c:v>
                </c:pt>
                <c:pt idx="206">
                  <c:v>20.6</c:v>
                </c:pt>
                <c:pt idx="207">
                  <c:v>20.7</c:v>
                </c:pt>
              </c:numCache>
            </c:numRef>
          </c:xVal>
          <c:yVal>
            <c:numRef>
              <c:f>'Chart Data'!$B$2:$B$209</c:f>
              <c:numCache>
                <c:formatCode>0.00</c:formatCode>
                <c:ptCount val="20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1.9E-3</c:v>
                </c:pt>
                <c:pt idx="35">
                  <c:v>7.0000000000000001E-3</c:v>
                </c:pt>
                <c:pt idx="36">
                  <c:v>2.5399999999999999E-2</c:v>
                </c:pt>
                <c:pt idx="37">
                  <c:v>3.4299999999999997E-2</c:v>
                </c:pt>
                <c:pt idx="38">
                  <c:v>4.4200000000000003E-2</c:v>
                </c:pt>
                <c:pt idx="39">
                  <c:v>7.3200000000000001E-2</c:v>
                </c:pt>
                <c:pt idx="40">
                  <c:v>8.0399999999999999E-2</c:v>
                </c:pt>
                <c:pt idx="41">
                  <c:v>0.10979999999999999</c:v>
                </c:pt>
                <c:pt idx="42">
                  <c:v>0.113</c:v>
                </c:pt>
                <c:pt idx="43">
                  <c:v>0.1173</c:v>
                </c:pt>
                <c:pt idx="44">
                  <c:v>0.1467</c:v>
                </c:pt>
                <c:pt idx="45">
                  <c:v>0.1462</c:v>
                </c:pt>
                <c:pt idx="46">
                  <c:v>0.17449999999999999</c:v>
                </c:pt>
                <c:pt idx="47">
                  <c:v>0.1726</c:v>
                </c:pt>
                <c:pt idx="48">
                  <c:v>0.1726</c:v>
                </c:pt>
                <c:pt idx="49">
                  <c:v>0.17419999999999999</c:v>
                </c:pt>
                <c:pt idx="50">
                  <c:v>0.1769</c:v>
                </c:pt>
                <c:pt idx="51">
                  <c:v>0.18049999999999999</c:v>
                </c:pt>
                <c:pt idx="52">
                  <c:v>0.21340000000000001</c:v>
                </c:pt>
                <c:pt idx="53">
                  <c:v>0.21060000000000001</c:v>
                </c:pt>
                <c:pt idx="54">
                  <c:v>0.20930000000000001</c:v>
                </c:pt>
                <c:pt idx="55">
                  <c:v>0.20899999999999999</c:v>
                </c:pt>
                <c:pt idx="56">
                  <c:v>0.20949999999999999</c:v>
                </c:pt>
                <c:pt idx="57">
                  <c:v>0.21049999999999999</c:v>
                </c:pt>
                <c:pt idx="58">
                  <c:v>0.21199999999999999</c:v>
                </c:pt>
                <c:pt idx="59">
                  <c:v>0.1817</c:v>
                </c:pt>
                <c:pt idx="60">
                  <c:v>0.19139999999999999</c:v>
                </c:pt>
                <c:pt idx="61">
                  <c:v>0.19969999999999999</c:v>
                </c:pt>
                <c:pt idx="62">
                  <c:v>0.20680000000000001</c:v>
                </c:pt>
                <c:pt idx="63">
                  <c:v>0.21260000000000001</c:v>
                </c:pt>
                <c:pt idx="64">
                  <c:v>0.2175</c:v>
                </c:pt>
                <c:pt idx="65">
                  <c:v>0.22140000000000001</c:v>
                </c:pt>
                <c:pt idx="66">
                  <c:v>0.22439999999999999</c:v>
                </c:pt>
                <c:pt idx="67">
                  <c:v>0.22670000000000001</c:v>
                </c:pt>
                <c:pt idx="68">
                  <c:v>0.2283</c:v>
                </c:pt>
                <c:pt idx="69">
                  <c:v>0.19670000000000001</c:v>
                </c:pt>
                <c:pt idx="70">
                  <c:v>0.20499999999999999</c:v>
                </c:pt>
                <c:pt idx="71">
                  <c:v>0.21149999999999999</c:v>
                </c:pt>
                <c:pt idx="72">
                  <c:v>0.21640000000000001</c:v>
                </c:pt>
                <c:pt idx="73">
                  <c:v>0.22</c:v>
                </c:pt>
                <c:pt idx="74">
                  <c:v>0.2225</c:v>
                </c:pt>
                <c:pt idx="75">
                  <c:v>0.224</c:v>
                </c:pt>
                <c:pt idx="76">
                  <c:v>0.2248</c:v>
                </c:pt>
                <c:pt idx="77">
                  <c:v>0.22489999999999999</c:v>
                </c:pt>
                <c:pt idx="78">
                  <c:v>0.22439999999999999</c:v>
                </c:pt>
                <c:pt idx="79">
                  <c:v>0.22359999999999999</c:v>
                </c:pt>
                <c:pt idx="80">
                  <c:v>0.22239999999999999</c:v>
                </c:pt>
                <c:pt idx="81">
                  <c:v>0.21870000000000001</c:v>
                </c:pt>
                <c:pt idx="82">
                  <c:v>0.21460000000000001</c:v>
                </c:pt>
                <c:pt idx="83">
                  <c:v>0.2104</c:v>
                </c:pt>
                <c:pt idx="84">
                  <c:v>0.20619999999999999</c:v>
                </c:pt>
                <c:pt idx="85">
                  <c:v>0.20250000000000001</c:v>
                </c:pt>
                <c:pt idx="86">
                  <c:v>0.2271</c:v>
                </c:pt>
                <c:pt idx="87">
                  <c:v>0.21729999999999999</c:v>
                </c:pt>
                <c:pt idx="88">
                  <c:v>0.20930000000000001</c:v>
                </c:pt>
                <c:pt idx="89">
                  <c:v>0.2293</c:v>
                </c:pt>
                <c:pt idx="90">
                  <c:v>0.2175</c:v>
                </c:pt>
                <c:pt idx="91">
                  <c:v>0.2082</c:v>
                </c:pt>
                <c:pt idx="92">
                  <c:v>0.2268</c:v>
                </c:pt>
                <c:pt idx="93">
                  <c:v>0.21460000000000001</c:v>
                </c:pt>
                <c:pt idx="94">
                  <c:v>0.20530000000000001</c:v>
                </c:pt>
                <c:pt idx="95">
                  <c:v>0.22359999999999999</c:v>
                </c:pt>
                <c:pt idx="96">
                  <c:v>0.21179999999999999</c:v>
                </c:pt>
                <c:pt idx="97">
                  <c:v>0.22750000000000001</c:v>
                </c:pt>
                <c:pt idx="98">
                  <c:v>0.21429999999999999</c:v>
                </c:pt>
                <c:pt idx="99">
                  <c:v>0.22850000000000001</c:v>
                </c:pt>
                <c:pt idx="100">
                  <c:v>0.2145</c:v>
                </c:pt>
                <c:pt idx="101">
                  <c:v>0.20380000000000001</c:v>
                </c:pt>
                <c:pt idx="102">
                  <c:v>0.22070000000000001</c:v>
                </c:pt>
                <c:pt idx="103">
                  <c:v>0.20849999999999999</c:v>
                </c:pt>
                <c:pt idx="104">
                  <c:v>0.2238</c:v>
                </c:pt>
                <c:pt idx="105">
                  <c:v>0.2107</c:v>
                </c:pt>
                <c:pt idx="106">
                  <c:v>0.22500000000000001</c:v>
                </c:pt>
                <c:pt idx="107">
                  <c:v>0.2114</c:v>
                </c:pt>
                <c:pt idx="108">
                  <c:v>0.2011</c:v>
                </c:pt>
                <c:pt idx="109">
                  <c:v>0.21840000000000001</c:v>
                </c:pt>
                <c:pt idx="110">
                  <c:v>0.20660000000000001</c:v>
                </c:pt>
                <c:pt idx="111">
                  <c:v>0.2223</c:v>
                </c:pt>
                <c:pt idx="112">
                  <c:v>0.20960000000000001</c:v>
                </c:pt>
                <c:pt idx="113">
                  <c:v>0.2243</c:v>
                </c:pt>
                <c:pt idx="114">
                  <c:v>0.2109</c:v>
                </c:pt>
                <c:pt idx="115">
                  <c:v>0.22500000000000001</c:v>
                </c:pt>
                <c:pt idx="116">
                  <c:v>0.2112</c:v>
                </c:pt>
                <c:pt idx="117">
                  <c:v>0.22500000000000001</c:v>
                </c:pt>
                <c:pt idx="118">
                  <c:v>0.21110000000000001</c:v>
                </c:pt>
                <c:pt idx="119">
                  <c:v>0.20069999999999999</c:v>
                </c:pt>
                <c:pt idx="120">
                  <c:v>0.21779999999999999</c:v>
                </c:pt>
                <c:pt idx="121">
                  <c:v>0.20599999999999999</c:v>
                </c:pt>
                <c:pt idx="122">
                  <c:v>0.22170000000000001</c:v>
                </c:pt>
                <c:pt idx="123">
                  <c:v>0.20899999999999999</c:v>
                </c:pt>
                <c:pt idx="124">
                  <c:v>0.2238</c:v>
                </c:pt>
                <c:pt idx="125">
                  <c:v>0.21049999999999999</c:v>
                </c:pt>
                <c:pt idx="126">
                  <c:v>0.22459999999999999</c:v>
                </c:pt>
                <c:pt idx="127">
                  <c:v>0.21099999999999999</c:v>
                </c:pt>
                <c:pt idx="128">
                  <c:v>0.2248</c:v>
                </c:pt>
                <c:pt idx="129">
                  <c:v>0.21099999999999999</c:v>
                </c:pt>
                <c:pt idx="130">
                  <c:v>0.2006</c:v>
                </c:pt>
                <c:pt idx="131">
                  <c:v>0.21779999999999999</c:v>
                </c:pt>
                <c:pt idx="132">
                  <c:v>0.20610000000000001</c:v>
                </c:pt>
                <c:pt idx="133">
                  <c:v>0.2218</c:v>
                </c:pt>
                <c:pt idx="134">
                  <c:v>0.2092</c:v>
                </c:pt>
                <c:pt idx="135">
                  <c:v>0.22389999999999999</c:v>
                </c:pt>
                <c:pt idx="136">
                  <c:v>0.2107</c:v>
                </c:pt>
                <c:pt idx="137">
                  <c:v>0.2248</c:v>
                </c:pt>
                <c:pt idx="138">
                  <c:v>0.2112</c:v>
                </c:pt>
                <c:pt idx="139">
                  <c:v>0.22489999999999999</c:v>
                </c:pt>
                <c:pt idx="140">
                  <c:v>0.21110000000000001</c:v>
                </c:pt>
                <c:pt idx="141">
                  <c:v>0.22470000000000001</c:v>
                </c:pt>
                <c:pt idx="142">
                  <c:v>0.21079999999999999</c:v>
                </c:pt>
                <c:pt idx="143">
                  <c:v>0.20039999999999999</c:v>
                </c:pt>
                <c:pt idx="144">
                  <c:v>0.2175</c:v>
                </c:pt>
                <c:pt idx="145">
                  <c:v>0.20580000000000001</c:v>
                </c:pt>
                <c:pt idx="146">
                  <c:v>0.2218</c:v>
                </c:pt>
                <c:pt idx="147">
                  <c:v>0.2094</c:v>
                </c:pt>
                <c:pt idx="148">
                  <c:v>0.22470000000000001</c:v>
                </c:pt>
                <c:pt idx="149">
                  <c:v>0.21190000000000001</c:v>
                </c:pt>
                <c:pt idx="150">
                  <c:v>0.2026</c:v>
                </c:pt>
                <c:pt idx="151">
                  <c:v>0.221</c:v>
                </c:pt>
                <c:pt idx="152">
                  <c:v>0.20849999999999999</c:v>
                </c:pt>
                <c:pt idx="153">
                  <c:v>0.21390000000000001</c:v>
                </c:pt>
                <c:pt idx="154">
                  <c:v>0.19409999999999999</c:v>
                </c:pt>
                <c:pt idx="155">
                  <c:v>0.17580000000000001</c:v>
                </c:pt>
                <c:pt idx="156">
                  <c:v>0.15890000000000001</c:v>
                </c:pt>
                <c:pt idx="157">
                  <c:v>0.1515</c:v>
                </c:pt>
                <c:pt idx="158">
                  <c:v>0.1331</c:v>
                </c:pt>
                <c:pt idx="159">
                  <c:v>0.1168</c:v>
                </c:pt>
                <c:pt idx="160">
                  <c:v>0.1022</c:v>
                </c:pt>
                <c:pt idx="161">
                  <c:v>8.9099999999999999E-2</c:v>
                </c:pt>
                <c:pt idx="162">
                  <c:v>7.9899999999999999E-2</c:v>
                </c:pt>
                <c:pt idx="163">
                  <c:v>6.83E-2</c:v>
                </c:pt>
                <c:pt idx="164">
                  <c:v>5.8299999999999998E-2</c:v>
                </c:pt>
                <c:pt idx="165">
                  <c:v>4.9500000000000002E-2</c:v>
                </c:pt>
                <c:pt idx="166">
                  <c:v>4.2000000000000003E-2</c:v>
                </c:pt>
                <c:pt idx="167">
                  <c:v>3.5400000000000001E-2</c:v>
                </c:pt>
                <c:pt idx="168">
                  <c:v>2.98E-2</c:v>
                </c:pt>
                <c:pt idx="169">
                  <c:v>2.4899999999999999E-2</c:v>
                </c:pt>
                <c:pt idx="170">
                  <c:v>2.07E-2</c:v>
                </c:pt>
                <c:pt idx="171">
                  <c:v>1.7100000000000001E-2</c:v>
                </c:pt>
                <c:pt idx="172">
                  <c:v>1.4E-2</c:v>
                </c:pt>
                <c:pt idx="173">
                  <c:v>1.14E-2</c:v>
                </c:pt>
                <c:pt idx="174">
                  <c:v>9.1999999999999998E-3</c:v>
                </c:pt>
                <c:pt idx="175">
                  <c:v>7.3000000000000001E-3</c:v>
                </c:pt>
                <c:pt idx="176">
                  <c:v>6.1999999999999998E-3</c:v>
                </c:pt>
                <c:pt idx="177">
                  <c:v>4.7999999999999996E-3</c:v>
                </c:pt>
                <c:pt idx="178">
                  <c:v>3.5999999999999999E-3</c:v>
                </c:pt>
                <c:pt idx="179">
                  <c:v>2.5999999999999999E-3</c:v>
                </c:pt>
                <c:pt idx="180">
                  <c:v>1.8E-3</c:v>
                </c:pt>
                <c:pt idx="181">
                  <c:v>1.5E-3</c:v>
                </c:pt>
                <c:pt idx="182">
                  <c:v>8.9999999999999998E-4</c:v>
                </c:pt>
                <c:pt idx="183">
                  <c:v>8.0000000000000004E-4</c:v>
                </c:pt>
                <c:pt idx="184">
                  <c:v>6.9999999999999999E-4</c:v>
                </c:pt>
                <c:pt idx="185">
                  <c:v>5.9999999999999995E-4</c:v>
                </c:pt>
                <c:pt idx="186">
                  <c:v>5.0000000000000001E-4</c:v>
                </c:pt>
                <c:pt idx="187">
                  <c:v>5.0000000000000001E-4</c:v>
                </c:pt>
                <c:pt idx="188">
                  <c:v>4.0000000000000002E-4</c:v>
                </c:pt>
                <c:pt idx="189">
                  <c:v>4.0000000000000002E-4</c:v>
                </c:pt>
                <c:pt idx="190">
                  <c:v>4.0000000000000002E-4</c:v>
                </c:pt>
                <c:pt idx="191">
                  <c:v>2.9999999999999997E-4</c:v>
                </c:pt>
                <c:pt idx="192">
                  <c:v>2.9999999999999997E-4</c:v>
                </c:pt>
                <c:pt idx="193">
                  <c:v>2.9999999999999997E-4</c:v>
                </c:pt>
                <c:pt idx="194">
                  <c:v>2.9999999999999997E-4</c:v>
                </c:pt>
                <c:pt idx="195">
                  <c:v>4.0000000000000002E-4</c:v>
                </c:pt>
                <c:pt idx="196">
                  <c:v>4.0000000000000002E-4</c:v>
                </c:pt>
                <c:pt idx="197">
                  <c:v>6.9999999999999999E-4</c:v>
                </c:pt>
                <c:pt idx="198">
                  <c:v>-2.0000000000000001E-4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186-4BA2-8BE0-1E09DEBDD389}"/>
            </c:ext>
          </c:extLst>
        </c:ser>
        <c:ser>
          <c:idx val="1"/>
          <c:order val="1"/>
          <c:tx>
            <c:v>Kinematic LQR</c:v>
          </c:tx>
          <c:spPr>
            <a:ln w="19050">
              <a:solidFill>
                <a:srgbClr val="AAB4C1"/>
              </a:solidFill>
            </a:ln>
          </c:spPr>
          <c:marker>
            <c:symbol val="none"/>
          </c:marker>
          <c:xVal>
            <c:numRef>
              <c:f>'Chart Data'!$C$2:$C$213</c:f>
              <c:numCache>
                <c:formatCode>General</c:formatCode>
                <c:ptCount val="212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9.3000000000000007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9.8000000000000007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  <c:pt idx="131">
                  <c:v>13.1</c:v>
                </c:pt>
                <c:pt idx="132">
                  <c:v>13.2</c:v>
                </c:pt>
                <c:pt idx="133">
                  <c:v>13.3</c:v>
                </c:pt>
                <c:pt idx="134">
                  <c:v>13.4</c:v>
                </c:pt>
                <c:pt idx="135">
                  <c:v>13.5</c:v>
                </c:pt>
                <c:pt idx="136">
                  <c:v>13.6</c:v>
                </c:pt>
                <c:pt idx="137">
                  <c:v>13.7</c:v>
                </c:pt>
                <c:pt idx="138">
                  <c:v>13.8</c:v>
                </c:pt>
                <c:pt idx="139">
                  <c:v>13.9</c:v>
                </c:pt>
                <c:pt idx="140">
                  <c:v>14</c:v>
                </c:pt>
                <c:pt idx="141">
                  <c:v>14.1</c:v>
                </c:pt>
                <c:pt idx="142">
                  <c:v>14.2</c:v>
                </c:pt>
                <c:pt idx="143">
                  <c:v>14.3</c:v>
                </c:pt>
                <c:pt idx="144">
                  <c:v>14.4</c:v>
                </c:pt>
                <c:pt idx="145">
                  <c:v>14.5</c:v>
                </c:pt>
                <c:pt idx="146">
                  <c:v>14.6</c:v>
                </c:pt>
                <c:pt idx="147">
                  <c:v>14.7</c:v>
                </c:pt>
                <c:pt idx="148">
                  <c:v>14.8</c:v>
                </c:pt>
                <c:pt idx="149">
                  <c:v>14.9</c:v>
                </c:pt>
                <c:pt idx="150">
                  <c:v>15</c:v>
                </c:pt>
                <c:pt idx="151">
                  <c:v>15.1</c:v>
                </c:pt>
                <c:pt idx="152">
                  <c:v>15.2</c:v>
                </c:pt>
                <c:pt idx="153">
                  <c:v>15.3</c:v>
                </c:pt>
                <c:pt idx="154">
                  <c:v>15.4</c:v>
                </c:pt>
                <c:pt idx="155">
                  <c:v>15.5</c:v>
                </c:pt>
                <c:pt idx="156">
                  <c:v>15.6</c:v>
                </c:pt>
                <c:pt idx="157">
                  <c:v>15.7</c:v>
                </c:pt>
                <c:pt idx="158">
                  <c:v>15.8</c:v>
                </c:pt>
                <c:pt idx="159">
                  <c:v>15.9</c:v>
                </c:pt>
                <c:pt idx="160">
                  <c:v>16</c:v>
                </c:pt>
                <c:pt idx="161">
                  <c:v>16.100000000000001</c:v>
                </c:pt>
                <c:pt idx="162">
                  <c:v>16.2</c:v>
                </c:pt>
                <c:pt idx="163">
                  <c:v>16.3</c:v>
                </c:pt>
                <c:pt idx="164">
                  <c:v>16.399999999999999</c:v>
                </c:pt>
                <c:pt idx="165">
                  <c:v>16.5</c:v>
                </c:pt>
                <c:pt idx="166">
                  <c:v>16.600000000000001</c:v>
                </c:pt>
                <c:pt idx="167">
                  <c:v>16.7</c:v>
                </c:pt>
                <c:pt idx="168">
                  <c:v>16.8</c:v>
                </c:pt>
                <c:pt idx="169">
                  <c:v>16.899999999999999</c:v>
                </c:pt>
                <c:pt idx="170">
                  <c:v>17</c:v>
                </c:pt>
                <c:pt idx="171">
                  <c:v>17.100000000000001</c:v>
                </c:pt>
                <c:pt idx="172">
                  <c:v>17.2</c:v>
                </c:pt>
                <c:pt idx="173">
                  <c:v>17.3</c:v>
                </c:pt>
                <c:pt idx="174">
                  <c:v>17.399999999999999</c:v>
                </c:pt>
                <c:pt idx="175">
                  <c:v>17.5</c:v>
                </c:pt>
                <c:pt idx="176">
                  <c:v>17.600000000000001</c:v>
                </c:pt>
                <c:pt idx="177">
                  <c:v>17.7</c:v>
                </c:pt>
                <c:pt idx="178">
                  <c:v>17.8</c:v>
                </c:pt>
                <c:pt idx="179">
                  <c:v>17.899999999999999</c:v>
                </c:pt>
                <c:pt idx="180">
                  <c:v>18</c:v>
                </c:pt>
                <c:pt idx="181">
                  <c:v>18.100000000000001</c:v>
                </c:pt>
                <c:pt idx="182">
                  <c:v>18.2</c:v>
                </c:pt>
                <c:pt idx="183">
                  <c:v>18.3</c:v>
                </c:pt>
                <c:pt idx="184">
                  <c:v>18.399999999999999</c:v>
                </c:pt>
                <c:pt idx="185">
                  <c:v>18.5</c:v>
                </c:pt>
                <c:pt idx="186">
                  <c:v>18.600000000000001</c:v>
                </c:pt>
                <c:pt idx="187">
                  <c:v>18.7</c:v>
                </c:pt>
                <c:pt idx="188">
                  <c:v>18.8</c:v>
                </c:pt>
                <c:pt idx="189">
                  <c:v>18.899999999999999</c:v>
                </c:pt>
                <c:pt idx="190">
                  <c:v>19</c:v>
                </c:pt>
                <c:pt idx="191">
                  <c:v>19.100000000000001</c:v>
                </c:pt>
                <c:pt idx="192">
                  <c:v>19.2</c:v>
                </c:pt>
                <c:pt idx="193">
                  <c:v>19.3</c:v>
                </c:pt>
                <c:pt idx="194">
                  <c:v>19.399999999999999</c:v>
                </c:pt>
                <c:pt idx="195">
                  <c:v>19.5</c:v>
                </c:pt>
                <c:pt idx="196">
                  <c:v>19.600000000000001</c:v>
                </c:pt>
                <c:pt idx="197">
                  <c:v>19.7</c:v>
                </c:pt>
                <c:pt idx="198">
                  <c:v>19.8</c:v>
                </c:pt>
                <c:pt idx="199">
                  <c:v>19.899999999999999</c:v>
                </c:pt>
                <c:pt idx="200">
                  <c:v>20</c:v>
                </c:pt>
                <c:pt idx="201">
                  <c:v>20.100000000000001</c:v>
                </c:pt>
                <c:pt idx="202">
                  <c:v>20.2</c:v>
                </c:pt>
                <c:pt idx="203">
                  <c:v>20.3</c:v>
                </c:pt>
                <c:pt idx="204">
                  <c:v>20.399999999999999</c:v>
                </c:pt>
                <c:pt idx="205">
                  <c:v>20.5</c:v>
                </c:pt>
                <c:pt idx="206">
                  <c:v>20.6</c:v>
                </c:pt>
                <c:pt idx="207">
                  <c:v>20.7</c:v>
                </c:pt>
                <c:pt idx="208">
                  <c:v>20.8</c:v>
                </c:pt>
                <c:pt idx="209">
                  <c:v>20.9</c:v>
                </c:pt>
                <c:pt idx="210">
                  <c:v>21</c:v>
                </c:pt>
                <c:pt idx="211">
                  <c:v>21.1</c:v>
                </c:pt>
              </c:numCache>
            </c:numRef>
          </c:xVal>
          <c:yVal>
            <c:numRef>
              <c:f>'Chart Data'!$D$2:$D$213</c:f>
              <c:numCache>
                <c:formatCode>0.00</c:formatCode>
                <c:ptCount val="2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0.47239999999999999</c:v>
                </c:pt>
                <c:pt idx="43">
                  <c:v>-0.21160000000000001</c:v>
                </c:pt>
                <c:pt idx="44">
                  <c:v>0.59360000000000002</c:v>
                </c:pt>
                <c:pt idx="45">
                  <c:v>-0.34560000000000002</c:v>
                </c:pt>
                <c:pt idx="46">
                  <c:v>0.6109</c:v>
                </c:pt>
                <c:pt idx="47">
                  <c:v>-0.3609</c:v>
                </c:pt>
                <c:pt idx="48">
                  <c:v>0.6109</c:v>
                </c:pt>
                <c:pt idx="49">
                  <c:v>-0.17499999999999999</c:v>
                </c:pt>
                <c:pt idx="50">
                  <c:v>0.6109</c:v>
                </c:pt>
                <c:pt idx="51">
                  <c:v>-0.29110000000000003</c:v>
                </c:pt>
                <c:pt idx="52">
                  <c:v>0.6109</c:v>
                </c:pt>
                <c:pt idx="53">
                  <c:v>-0.14879999999999999</c:v>
                </c:pt>
                <c:pt idx="54">
                  <c:v>0.58209999999999995</c:v>
                </c:pt>
                <c:pt idx="55">
                  <c:v>-0.20530000000000001</c:v>
                </c:pt>
                <c:pt idx="56">
                  <c:v>0.55389999999999995</c:v>
                </c:pt>
                <c:pt idx="57">
                  <c:v>-0.17849999999999999</c:v>
                </c:pt>
                <c:pt idx="58">
                  <c:v>0.50470000000000004</c:v>
                </c:pt>
                <c:pt idx="59">
                  <c:v>-0.1031</c:v>
                </c:pt>
                <c:pt idx="60">
                  <c:v>0.439</c:v>
                </c:pt>
                <c:pt idx="61">
                  <c:v>-1.1299999999999999E-2</c:v>
                </c:pt>
                <c:pt idx="62">
                  <c:v>0.37330000000000002</c:v>
                </c:pt>
                <c:pt idx="63">
                  <c:v>7.0499999999999993E-2</c:v>
                </c:pt>
                <c:pt idx="64">
                  <c:v>0.18690000000000001</c:v>
                </c:pt>
                <c:pt idx="65">
                  <c:v>0.16389999999999999</c:v>
                </c:pt>
                <c:pt idx="66">
                  <c:v>0.22409999999999999</c:v>
                </c:pt>
                <c:pt idx="67">
                  <c:v>0.2059</c:v>
                </c:pt>
                <c:pt idx="68">
                  <c:v>0.23710000000000001</c:v>
                </c:pt>
                <c:pt idx="69">
                  <c:v>0.22370000000000001</c:v>
                </c:pt>
                <c:pt idx="70">
                  <c:v>0.23949999999999999</c:v>
                </c:pt>
                <c:pt idx="71">
                  <c:v>0.22989999999999999</c:v>
                </c:pt>
                <c:pt idx="72">
                  <c:v>0.1033</c:v>
                </c:pt>
                <c:pt idx="73">
                  <c:v>0.25540000000000002</c:v>
                </c:pt>
                <c:pt idx="74">
                  <c:v>0.17710000000000001</c:v>
                </c:pt>
                <c:pt idx="75">
                  <c:v>0.25819999999999999</c:v>
                </c:pt>
                <c:pt idx="76">
                  <c:v>0.20680000000000001</c:v>
                </c:pt>
                <c:pt idx="77">
                  <c:v>0.252</c:v>
                </c:pt>
                <c:pt idx="78">
                  <c:v>0.21690000000000001</c:v>
                </c:pt>
                <c:pt idx="79">
                  <c:v>0.24310000000000001</c:v>
                </c:pt>
                <c:pt idx="80">
                  <c:v>0.21840000000000001</c:v>
                </c:pt>
                <c:pt idx="81">
                  <c:v>0.23419999999999999</c:v>
                </c:pt>
                <c:pt idx="82">
                  <c:v>8.7400000000000005E-2</c:v>
                </c:pt>
                <c:pt idx="83">
                  <c:v>0.26690000000000003</c:v>
                </c:pt>
                <c:pt idx="84">
                  <c:v>0.13550000000000001</c:v>
                </c:pt>
                <c:pt idx="85">
                  <c:v>0.27110000000000001</c:v>
                </c:pt>
                <c:pt idx="86">
                  <c:v>0.27450000000000002</c:v>
                </c:pt>
                <c:pt idx="87">
                  <c:v>0.2036</c:v>
                </c:pt>
                <c:pt idx="88">
                  <c:v>0.2331</c:v>
                </c:pt>
                <c:pt idx="89">
                  <c:v>0.1709</c:v>
                </c:pt>
                <c:pt idx="90">
                  <c:v>0.21820000000000001</c:v>
                </c:pt>
                <c:pt idx="91">
                  <c:v>0.28539999999999999</c:v>
                </c:pt>
                <c:pt idx="92">
                  <c:v>0.13669999999999999</c:v>
                </c:pt>
                <c:pt idx="93">
                  <c:v>0.26429999999999998</c:v>
                </c:pt>
                <c:pt idx="94">
                  <c:v>9.1499999999999998E-2</c:v>
                </c:pt>
                <c:pt idx="95">
                  <c:v>0.4118</c:v>
                </c:pt>
                <c:pt idx="96">
                  <c:v>-4.9799999999999997E-2</c:v>
                </c:pt>
                <c:pt idx="97">
                  <c:v>0.59340000000000004</c:v>
                </c:pt>
                <c:pt idx="98">
                  <c:v>-0.3246</c:v>
                </c:pt>
                <c:pt idx="99">
                  <c:v>0.6109</c:v>
                </c:pt>
                <c:pt idx="100">
                  <c:v>-0.21429999999999999</c:v>
                </c:pt>
                <c:pt idx="101">
                  <c:v>0.6109</c:v>
                </c:pt>
                <c:pt idx="102">
                  <c:v>-0.32940000000000003</c:v>
                </c:pt>
                <c:pt idx="103">
                  <c:v>0.6109</c:v>
                </c:pt>
                <c:pt idx="104">
                  <c:v>-0.185</c:v>
                </c:pt>
                <c:pt idx="105">
                  <c:v>0.6109</c:v>
                </c:pt>
                <c:pt idx="106">
                  <c:v>-0.19400000000000001</c:v>
                </c:pt>
                <c:pt idx="107">
                  <c:v>0.6109</c:v>
                </c:pt>
                <c:pt idx="108">
                  <c:v>-0.20519999999999999</c:v>
                </c:pt>
                <c:pt idx="109">
                  <c:v>0.6109</c:v>
                </c:pt>
                <c:pt idx="110">
                  <c:v>-0.34210000000000002</c:v>
                </c:pt>
                <c:pt idx="111">
                  <c:v>0.6109</c:v>
                </c:pt>
                <c:pt idx="112">
                  <c:v>-0.19139999999999999</c:v>
                </c:pt>
                <c:pt idx="113">
                  <c:v>0.6109</c:v>
                </c:pt>
                <c:pt idx="114">
                  <c:v>-0.20050000000000001</c:v>
                </c:pt>
                <c:pt idx="115">
                  <c:v>0.6109</c:v>
                </c:pt>
                <c:pt idx="116">
                  <c:v>-0.20960000000000001</c:v>
                </c:pt>
                <c:pt idx="117">
                  <c:v>0.6109</c:v>
                </c:pt>
                <c:pt idx="118">
                  <c:v>-0.21659999999999999</c:v>
                </c:pt>
                <c:pt idx="119">
                  <c:v>0.6109</c:v>
                </c:pt>
                <c:pt idx="120">
                  <c:v>-0.35070000000000001</c:v>
                </c:pt>
                <c:pt idx="121">
                  <c:v>0.6109</c:v>
                </c:pt>
                <c:pt idx="122">
                  <c:v>-0.19589999999999999</c:v>
                </c:pt>
                <c:pt idx="123">
                  <c:v>0.6109</c:v>
                </c:pt>
                <c:pt idx="124">
                  <c:v>-0.2049</c:v>
                </c:pt>
                <c:pt idx="125">
                  <c:v>0.6109</c:v>
                </c:pt>
                <c:pt idx="126">
                  <c:v>-0.21290000000000001</c:v>
                </c:pt>
                <c:pt idx="127">
                  <c:v>0.6109</c:v>
                </c:pt>
                <c:pt idx="128">
                  <c:v>-0.219</c:v>
                </c:pt>
                <c:pt idx="129">
                  <c:v>0.6109</c:v>
                </c:pt>
                <c:pt idx="130">
                  <c:v>-0.22370000000000001</c:v>
                </c:pt>
                <c:pt idx="131">
                  <c:v>0.6109</c:v>
                </c:pt>
                <c:pt idx="132">
                  <c:v>-0.35499999999999998</c:v>
                </c:pt>
                <c:pt idx="133">
                  <c:v>0.6109</c:v>
                </c:pt>
                <c:pt idx="134">
                  <c:v>-0.19950000000000001</c:v>
                </c:pt>
                <c:pt idx="135">
                  <c:v>0.6109</c:v>
                </c:pt>
                <c:pt idx="136">
                  <c:v>-0.20810000000000001</c:v>
                </c:pt>
                <c:pt idx="137">
                  <c:v>0.6109</c:v>
                </c:pt>
                <c:pt idx="138">
                  <c:v>-0.21510000000000001</c:v>
                </c:pt>
                <c:pt idx="139">
                  <c:v>0.6109</c:v>
                </c:pt>
                <c:pt idx="140">
                  <c:v>-0.22059999999999999</c:v>
                </c:pt>
                <c:pt idx="141">
                  <c:v>0.6109</c:v>
                </c:pt>
                <c:pt idx="142">
                  <c:v>-0.22470000000000001</c:v>
                </c:pt>
                <c:pt idx="143">
                  <c:v>0.6109</c:v>
                </c:pt>
                <c:pt idx="144">
                  <c:v>-0.35520000000000002</c:v>
                </c:pt>
                <c:pt idx="145">
                  <c:v>0.6109</c:v>
                </c:pt>
                <c:pt idx="146">
                  <c:v>-0.19989999999999999</c:v>
                </c:pt>
                <c:pt idx="147">
                  <c:v>0.6109</c:v>
                </c:pt>
                <c:pt idx="148">
                  <c:v>-0.2082</c:v>
                </c:pt>
                <c:pt idx="149">
                  <c:v>0.6109</c:v>
                </c:pt>
                <c:pt idx="150">
                  <c:v>-0.21279999999999999</c:v>
                </c:pt>
                <c:pt idx="151">
                  <c:v>0.6109</c:v>
                </c:pt>
                <c:pt idx="152">
                  <c:v>-0.21479999999999999</c:v>
                </c:pt>
                <c:pt idx="153">
                  <c:v>0.6109</c:v>
                </c:pt>
                <c:pt idx="154">
                  <c:v>-0.34360000000000002</c:v>
                </c:pt>
                <c:pt idx="155">
                  <c:v>0.6109</c:v>
                </c:pt>
                <c:pt idx="156">
                  <c:v>-0.187</c:v>
                </c:pt>
                <c:pt idx="157">
                  <c:v>0.6109</c:v>
                </c:pt>
                <c:pt idx="158">
                  <c:v>-0.18690000000000001</c:v>
                </c:pt>
                <c:pt idx="159">
                  <c:v>0.6109</c:v>
                </c:pt>
                <c:pt idx="160">
                  <c:v>-0.32029999999999997</c:v>
                </c:pt>
                <c:pt idx="161">
                  <c:v>0.6109</c:v>
                </c:pt>
                <c:pt idx="162">
                  <c:v>-0.17130000000000001</c:v>
                </c:pt>
                <c:pt idx="163">
                  <c:v>0.6109</c:v>
                </c:pt>
                <c:pt idx="164">
                  <c:v>-0.6109</c:v>
                </c:pt>
                <c:pt idx="165">
                  <c:v>0.6109</c:v>
                </c:pt>
                <c:pt idx="166">
                  <c:v>-0.6109</c:v>
                </c:pt>
                <c:pt idx="167">
                  <c:v>0.6109</c:v>
                </c:pt>
                <c:pt idx="168">
                  <c:v>-0.6109</c:v>
                </c:pt>
                <c:pt idx="169">
                  <c:v>0.6109</c:v>
                </c:pt>
                <c:pt idx="170">
                  <c:v>-0.6109</c:v>
                </c:pt>
                <c:pt idx="171">
                  <c:v>0.6109</c:v>
                </c:pt>
                <c:pt idx="172">
                  <c:v>-0.6109</c:v>
                </c:pt>
                <c:pt idx="173">
                  <c:v>0.6109</c:v>
                </c:pt>
                <c:pt idx="174">
                  <c:v>-0.56820000000000004</c:v>
                </c:pt>
                <c:pt idx="175">
                  <c:v>0.6109</c:v>
                </c:pt>
                <c:pt idx="176">
                  <c:v>-0.57240000000000002</c:v>
                </c:pt>
                <c:pt idx="177">
                  <c:v>0.57240000000000002</c:v>
                </c:pt>
                <c:pt idx="178">
                  <c:v>-0.51229999999999998</c:v>
                </c:pt>
                <c:pt idx="179">
                  <c:v>0.47110000000000002</c:v>
                </c:pt>
                <c:pt idx="180">
                  <c:v>-0.38569999999999999</c:v>
                </c:pt>
                <c:pt idx="181">
                  <c:v>0.32279999999999998</c:v>
                </c:pt>
                <c:pt idx="182">
                  <c:v>-0.23710000000000001</c:v>
                </c:pt>
                <c:pt idx="183">
                  <c:v>0.1837</c:v>
                </c:pt>
                <c:pt idx="184">
                  <c:v>-0.1206</c:v>
                </c:pt>
                <c:pt idx="185">
                  <c:v>8.9700000000000002E-2</c:v>
                </c:pt>
                <c:pt idx="186">
                  <c:v>-5.1499999999999997E-2</c:v>
                </c:pt>
                <c:pt idx="187">
                  <c:v>3.9199999999999999E-2</c:v>
                </c:pt>
                <c:pt idx="188">
                  <c:v>-1.78E-2</c:v>
                </c:pt>
                <c:pt idx="189">
                  <c:v>1.5900000000000001E-2</c:v>
                </c:pt>
                <c:pt idx="190">
                  <c:v>-3.8E-3</c:v>
                </c:pt>
                <c:pt idx="191">
                  <c:v>6.7999999999999996E-3</c:v>
                </c:pt>
                <c:pt idx="192">
                  <c:v>8.0000000000000004E-4</c:v>
                </c:pt>
                <c:pt idx="193">
                  <c:v>3.5999999999999999E-3</c:v>
                </c:pt>
                <c:pt idx="194">
                  <c:v>2E-3</c:v>
                </c:pt>
                <c:pt idx="195">
                  <c:v>2.5000000000000001E-3</c:v>
                </c:pt>
                <c:pt idx="196">
                  <c:v>2.0999999999999999E-3</c:v>
                </c:pt>
                <c:pt idx="197">
                  <c:v>2.0999999999999999E-3</c:v>
                </c:pt>
                <c:pt idx="198">
                  <c:v>1.8E-3</c:v>
                </c:pt>
                <c:pt idx="199">
                  <c:v>1.6999999999999999E-3</c:v>
                </c:pt>
                <c:pt idx="200">
                  <c:v>1.6000000000000001E-3</c:v>
                </c:pt>
                <c:pt idx="201">
                  <c:v>1.5E-3</c:v>
                </c:pt>
                <c:pt idx="202">
                  <c:v>1.5E-3</c:v>
                </c:pt>
                <c:pt idx="203">
                  <c:v>1.4E-3</c:v>
                </c:pt>
                <c:pt idx="204">
                  <c:v>1.4E-3</c:v>
                </c:pt>
                <c:pt idx="205">
                  <c:v>1.4E-3</c:v>
                </c:pt>
                <c:pt idx="206">
                  <c:v>1.4E-3</c:v>
                </c:pt>
                <c:pt idx="207">
                  <c:v>1.2999999999999999E-3</c:v>
                </c:pt>
                <c:pt idx="208">
                  <c:v>1.2999999999999999E-3</c:v>
                </c:pt>
                <c:pt idx="209">
                  <c:v>1.2999999999999999E-3</c:v>
                </c:pt>
                <c:pt idx="210">
                  <c:v>1.2999999999999999E-3</c:v>
                </c:pt>
                <c:pt idx="211">
                  <c:v>1.2999999999999999E-3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5186-4BA2-8BE0-1E09DEBDD389}"/>
            </c:ext>
          </c:extLst>
        </c:ser>
        <c:ser>
          <c:idx val="2"/>
          <c:order val="2"/>
          <c:tx>
            <c:v>MPC</c:v>
          </c:tx>
          <c:spPr>
            <a:ln w="19050">
              <a:solidFill>
                <a:srgbClr val="248183"/>
              </a:solidFill>
            </a:ln>
          </c:spPr>
          <c:marker>
            <c:symbol val="none"/>
          </c:marker>
          <c:xVal>
            <c:numRef>
              <c:f>'Chart Data'!$E$2:$E$197</c:f>
              <c:numCache>
                <c:formatCode>General</c:formatCode>
                <c:ptCount val="196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9.3000000000000007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9.8000000000000007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  <c:pt idx="131">
                  <c:v>13.1</c:v>
                </c:pt>
                <c:pt idx="132">
                  <c:v>13.2</c:v>
                </c:pt>
                <c:pt idx="133">
                  <c:v>13.3</c:v>
                </c:pt>
                <c:pt idx="134">
                  <c:v>13.4</c:v>
                </c:pt>
                <c:pt idx="135">
                  <c:v>13.5</c:v>
                </c:pt>
                <c:pt idx="136">
                  <c:v>13.6</c:v>
                </c:pt>
                <c:pt idx="137">
                  <c:v>13.7</c:v>
                </c:pt>
                <c:pt idx="138">
                  <c:v>13.8</c:v>
                </c:pt>
                <c:pt idx="139">
                  <c:v>13.9</c:v>
                </c:pt>
                <c:pt idx="140">
                  <c:v>14</c:v>
                </c:pt>
                <c:pt idx="141">
                  <c:v>14.1</c:v>
                </c:pt>
                <c:pt idx="142">
                  <c:v>14.2</c:v>
                </c:pt>
                <c:pt idx="143">
                  <c:v>14.3</c:v>
                </c:pt>
                <c:pt idx="144">
                  <c:v>14.4</c:v>
                </c:pt>
                <c:pt idx="145">
                  <c:v>14.5</c:v>
                </c:pt>
                <c:pt idx="146">
                  <c:v>14.6</c:v>
                </c:pt>
                <c:pt idx="147">
                  <c:v>14.7</c:v>
                </c:pt>
                <c:pt idx="148">
                  <c:v>14.8</c:v>
                </c:pt>
                <c:pt idx="149">
                  <c:v>14.9</c:v>
                </c:pt>
                <c:pt idx="150">
                  <c:v>15</c:v>
                </c:pt>
                <c:pt idx="151">
                  <c:v>15.1</c:v>
                </c:pt>
                <c:pt idx="152">
                  <c:v>15.2</c:v>
                </c:pt>
                <c:pt idx="153">
                  <c:v>15.3</c:v>
                </c:pt>
                <c:pt idx="154">
                  <c:v>15.4</c:v>
                </c:pt>
                <c:pt idx="155">
                  <c:v>15.5</c:v>
                </c:pt>
                <c:pt idx="156">
                  <c:v>15.6</c:v>
                </c:pt>
                <c:pt idx="157">
                  <c:v>15.7</c:v>
                </c:pt>
                <c:pt idx="158">
                  <c:v>15.8</c:v>
                </c:pt>
                <c:pt idx="159">
                  <c:v>15.9</c:v>
                </c:pt>
                <c:pt idx="160">
                  <c:v>16</c:v>
                </c:pt>
                <c:pt idx="161">
                  <c:v>16.100000000000001</c:v>
                </c:pt>
                <c:pt idx="162">
                  <c:v>16.2</c:v>
                </c:pt>
                <c:pt idx="163">
                  <c:v>16.3</c:v>
                </c:pt>
                <c:pt idx="164">
                  <c:v>16.399999999999999</c:v>
                </c:pt>
                <c:pt idx="165">
                  <c:v>16.5</c:v>
                </c:pt>
                <c:pt idx="166">
                  <c:v>16.600000000000001</c:v>
                </c:pt>
                <c:pt idx="167">
                  <c:v>16.7</c:v>
                </c:pt>
                <c:pt idx="168">
                  <c:v>16.8</c:v>
                </c:pt>
                <c:pt idx="169">
                  <c:v>16.899999999999999</c:v>
                </c:pt>
                <c:pt idx="170">
                  <c:v>17</c:v>
                </c:pt>
                <c:pt idx="171">
                  <c:v>17.100000000000001</c:v>
                </c:pt>
                <c:pt idx="172">
                  <c:v>17.2</c:v>
                </c:pt>
                <c:pt idx="173">
                  <c:v>17.3</c:v>
                </c:pt>
                <c:pt idx="174">
                  <c:v>17.399999999999999</c:v>
                </c:pt>
                <c:pt idx="175">
                  <c:v>17.5</c:v>
                </c:pt>
                <c:pt idx="176">
                  <c:v>17.600000000000001</c:v>
                </c:pt>
                <c:pt idx="177">
                  <c:v>17.7</c:v>
                </c:pt>
                <c:pt idx="178">
                  <c:v>17.8</c:v>
                </c:pt>
                <c:pt idx="179">
                  <c:v>17.899999999999999</c:v>
                </c:pt>
                <c:pt idx="180">
                  <c:v>18</c:v>
                </c:pt>
                <c:pt idx="181">
                  <c:v>18.100000000000001</c:v>
                </c:pt>
                <c:pt idx="182">
                  <c:v>18.2</c:v>
                </c:pt>
                <c:pt idx="183">
                  <c:v>18.3</c:v>
                </c:pt>
                <c:pt idx="184">
                  <c:v>18.399999999999999</c:v>
                </c:pt>
                <c:pt idx="185">
                  <c:v>18.5</c:v>
                </c:pt>
                <c:pt idx="186">
                  <c:v>18.600000000000001</c:v>
                </c:pt>
                <c:pt idx="187">
                  <c:v>18.7</c:v>
                </c:pt>
                <c:pt idx="188">
                  <c:v>18.8</c:v>
                </c:pt>
                <c:pt idx="189">
                  <c:v>18.899999999999999</c:v>
                </c:pt>
                <c:pt idx="190">
                  <c:v>19</c:v>
                </c:pt>
                <c:pt idx="191">
                  <c:v>19.100000000000001</c:v>
                </c:pt>
                <c:pt idx="192">
                  <c:v>19.2</c:v>
                </c:pt>
                <c:pt idx="193">
                  <c:v>19.3</c:v>
                </c:pt>
                <c:pt idx="194">
                  <c:v>19.399999999999999</c:v>
                </c:pt>
                <c:pt idx="195">
                  <c:v>19.5</c:v>
                </c:pt>
              </c:numCache>
            </c:numRef>
          </c:xVal>
          <c:yVal>
            <c:numRef>
              <c:f>'Chart Data'!$F$2:$F$197</c:f>
              <c:numCache>
                <c:formatCode>0.00</c:formatCode>
                <c:ptCount val="1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-3.5000000000000001E-3</c:v>
                </c:pt>
                <c:pt idx="36">
                  <c:v>-3.8E-3</c:v>
                </c:pt>
                <c:pt idx="37">
                  <c:v>-1.5E-3</c:v>
                </c:pt>
                <c:pt idx="38">
                  <c:v>4.0000000000000001E-3</c:v>
                </c:pt>
                <c:pt idx="39">
                  <c:v>5.8799999999999998E-2</c:v>
                </c:pt>
                <c:pt idx="40">
                  <c:v>7.0499999999999993E-2</c:v>
                </c:pt>
                <c:pt idx="41">
                  <c:v>5.57E-2</c:v>
                </c:pt>
                <c:pt idx="42">
                  <c:v>7.3700000000000002E-2</c:v>
                </c:pt>
                <c:pt idx="43">
                  <c:v>0.2175</c:v>
                </c:pt>
                <c:pt idx="44">
                  <c:v>0.114</c:v>
                </c:pt>
                <c:pt idx="45">
                  <c:v>0.25069999999999998</c:v>
                </c:pt>
                <c:pt idx="46">
                  <c:v>0.14660000000000001</c:v>
                </c:pt>
                <c:pt idx="47">
                  <c:v>0.1244</c:v>
                </c:pt>
                <c:pt idx="48">
                  <c:v>0.26860000000000001</c:v>
                </c:pt>
                <c:pt idx="49">
                  <c:v>0.13869999999999999</c:v>
                </c:pt>
                <c:pt idx="50">
                  <c:v>0.27929999999999999</c:v>
                </c:pt>
                <c:pt idx="51">
                  <c:v>0.15359999999999999</c:v>
                </c:pt>
                <c:pt idx="52">
                  <c:v>0.1391</c:v>
                </c:pt>
                <c:pt idx="53">
                  <c:v>0.28489999999999999</c:v>
                </c:pt>
                <c:pt idx="54">
                  <c:v>0.1467</c:v>
                </c:pt>
                <c:pt idx="55">
                  <c:v>0.29239999999999999</c:v>
                </c:pt>
                <c:pt idx="56">
                  <c:v>0.1424</c:v>
                </c:pt>
                <c:pt idx="57">
                  <c:v>0.14910000000000001</c:v>
                </c:pt>
                <c:pt idx="58">
                  <c:v>0.28960000000000002</c:v>
                </c:pt>
                <c:pt idx="59">
                  <c:v>0.15440000000000001</c:v>
                </c:pt>
                <c:pt idx="60">
                  <c:v>0.29959999999999998</c:v>
                </c:pt>
                <c:pt idx="61">
                  <c:v>0.14760000000000001</c:v>
                </c:pt>
                <c:pt idx="62">
                  <c:v>0.29330000000000001</c:v>
                </c:pt>
                <c:pt idx="63">
                  <c:v>0.1421</c:v>
                </c:pt>
                <c:pt idx="64">
                  <c:v>0.14879999999999999</c:v>
                </c:pt>
                <c:pt idx="65">
                  <c:v>0.28970000000000001</c:v>
                </c:pt>
                <c:pt idx="66">
                  <c:v>0.1542</c:v>
                </c:pt>
                <c:pt idx="67">
                  <c:v>0.29980000000000001</c:v>
                </c:pt>
                <c:pt idx="68">
                  <c:v>0.14760000000000001</c:v>
                </c:pt>
                <c:pt idx="69">
                  <c:v>0.29339999999999999</c:v>
                </c:pt>
                <c:pt idx="70">
                  <c:v>0.1421</c:v>
                </c:pt>
                <c:pt idx="71">
                  <c:v>0.1489</c:v>
                </c:pt>
                <c:pt idx="72">
                  <c:v>0.28989999999999999</c:v>
                </c:pt>
                <c:pt idx="73">
                  <c:v>0.15429999999999999</c:v>
                </c:pt>
                <c:pt idx="74">
                  <c:v>0.3</c:v>
                </c:pt>
                <c:pt idx="75">
                  <c:v>0.14760000000000001</c:v>
                </c:pt>
                <c:pt idx="76">
                  <c:v>0.29360000000000003</c:v>
                </c:pt>
                <c:pt idx="77">
                  <c:v>0.1421</c:v>
                </c:pt>
                <c:pt idx="78">
                  <c:v>0.14899999999999999</c:v>
                </c:pt>
                <c:pt idx="79">
                  <c:v>0.28989999999999999</c:v>
                </c:pt>
                <c:pt idx="80">
                  <c:v>0.15440000000000001</c:v>
                </c:pt>
                <c:pt idx="81">
                  <c:v>0.30009999999999998</c:v>
                </c:pt>
                <c:pt idx="82">
                  <c:v>0.1477</c:v>
                </c:pt>
                <c:pt idx="83">
                  <c:v>0.29370000000000002</c:v>
                </c:pt>
                <c:pt idx="84">
                  <c:v>0.14219999999999999</c:v>
                </c:pt>
                <c:pt idx="85">
                  <c:v>0.14910000000000001</c:v>
                </c:pt>
                <c:pt idx="86">
                  <c:v>0.28989999999999999</c:v>
                </c:pt>
                <c:pt idx="87">
                  <c:v>0.15440000000000001</c:v>
                </c:pt>
                <c:pt idx="88">
                  <c:v>0.30009999999999998</c:v>
                </c:pt>
                <c:pt idx="89">
                  <c:v>0.1477</c:v>
                </c:pt>
                <c:pt idx="90">
                  <c:v>0.29370000000000002</c:v>
                </c:pt>
                <c:pt idx="91">
                  <c:v>0.14219999999999999</c:v>
                </c:pt>
                <c:pt idx="92">
                  <c:v>0.14910000000000001</c:v>
                </c:pt>
                <c:pt idx="93">
                  <c:v>0.28989999999999999</c:v>
                </c:pt>
                <c:pt idx="94">
                  <c:v>0.15440000000000001</c:v>
                </c:pt>
                <c:pt idx="95">
                  <c:v>0.30009999999999998</c:v>
                </c:pt>
                <c:pt idx="96">
                  <c:v>0.1477</c:v>
                </c:pt>
                <c:pt idx="97">
                  <c:v>0.29370000000000002</c:v>
                </c:pt>
                <c:pt idx="98">
                  <c:v>0.14219999999999999</c:v>
                </c:pt>
                <c:pt idx="99">
                  <c:v>0.14910000000000001</c:v>
                </c:pt>
                <c:pt idx="100">
                  <c:v>0.28989999999999999</c:v>
                </c:pt>
                <c:pt idx="101">
                  <c:v>0.15440000000000001</c:v>
                </c:pt>
                <c:pt idx="102">
                  <c:v>0.30009999999999998</c:v>
                </c:pt>
                <c:pt idx="103">
                  <c:v>0.1477</c:v>
                </c:pt>
                <c:pt idx="104">
                  <c:v>0.29370000000000002</c:v>
                </c:pt>
                <c:pt idx="105">
                  <c:v>0.14230000000000001</c:v>
                </c:pt>
                <c:pt idx="106">
                  <c:v>0.14899999999999999</c:v>
                </c:pt>
                <c:pt idx="107">
                  <c:v>0.2898</c:v>
                </c:pt>
                <c:pt idx="108">
                  <c:v>0.15440000000000001</c:v>
                </c:pt>
                <c:pt idx="109">
                  <c:v>0.30009999999999998</c:v>
                </c:pt>
                <c:pt idx="110">
                  <c:v>0.1477</c:v>
                </c:pt>
                <c:pt idx="111">
                  <c:v>0.29370000000000002</c:v>
                </c:pt>
                <c:pt idx="112">
                  <c:v>0.14230000000000001</c:v>
                </c:pt>
                <c:pt idx="113">
                  <c:v>0.14899999999999999</c:v>
                </c:pt>
                <c:pt idx="114">
                  <c:v>0.2898</c:v>
                </c:pt>
                <c:pt idx="115">
                  <c:v>0.15440000000000001</c:v>
                </c:pt>
                <c:pt idx="116">
                  <c:v>0.30009999999999998</c:v>
                </c:pt>
                <c:pt idx="117">
                  <c:v>0.1479</c:v>
                </c:pt>
                <c:pt idx="118">
                  <c:v>0.29360000000000003</c:v>
                </c:pt>
                <c:pt idx="119">
                  <c:v>0.14230000000000001</c:v>
                </c:pt>
                <c:pt idx="120">
                  <c:v>0.14899999999999999</c:v>
                </c:pt>
                <c:pt idx="121">
                  <c:v>0.2898</c:v>
                </c:pt>
                <c:pt idx="122">
                  <c:v>0.1545</c:v>
                </c:pt>
                <c:pt idx="123">
                  <c:v>0.3</c:v>
                </c:pt>
                <c:pt idx="124">
                  <c:v>0.14779999999999999</c:v>
                </c:pt>
                <c:pt idx="125">
                  <c:v>0.29470000000000002</c:v>
                </c:pt>
                <c:pt idx="126">
                  <c:v>0.14330000000000001</c:v>
                </c:pt>
                <c:pt idx="127">
                  <c:v>0.14960000000000001</c:v>
                </c:pt>
                <c:pt idx="128">
                  <c:v>0.29549999999999998</c:v>
                </c:pt>
                <c:pt idx="129">
                  <c:v>0.15679999999999999</c:v>
                </c:pt>
                <c:pt idx="130">
                  <c:v>0.3054</c:v>
                </c:pt>
                <c:pt idx="131">
                  <c:v>0.15079999999999999</c:v>
                </c:pt>
                <c:pt idx="132">
                  <c:v>0.3</c:v>
                </c:pt>
                <c:pt idx="133">
                  <c:v>0.14849999999999999</c:v>
                </c:pt>
                <c:pt idx="134">
                  <c:v>0.1371</c:v>
                </c:pt>
                <c:pt idx="135">
                  <c:v>0.27400000000000002</c:v>
                </c:pt>
                <c:pt idx="136">
                  <c:v>0.16420000000000001</c:v>
                </c:pt>
                <c:pt idx="137">
                  <c:v>0.31740000000000002</c:v>
                </c:pt>
                <c:pt idx="138">
                  <c:v>0.16250000000000001</c:v>
                </c:pt>
                <c:pt idx="139">
                  <c:v>0.15379999999999999</c:v>
                </c:pt>
                <c:pt idx="140">
                  <c:v>0.27389999999999998</c:v>
                </c:pt>
                <c:pt idx="141">
                  <c:v>0.15440000000000001</c:v>
                </c:pt>
                <c:pt idx="142">
                  <c:v>0.1694</c:v>
                </c:pt>
                <c:pt idx="143">
                  <c:v>0.33079999999999998</c:v>
                </c:pt>
                <c:pt idx="144">
                  <c:v>0.1573</c:v>
                </c:pt>
                <c:pt idx="145">
                  <c:v>0.16070000000000001</c:v>
                </c:pt>
                <c:pt idx="146">
                  <c:v>0.1447</c:v>
                </c:pt>
                <c:pt idx="147">
                  <c:v>0.2185</c:v>
                </c:pt>
                <c:pt idx="148">
                  <c:v>0.1268</c:v>
                </c:pt>
                <c:pt idx="149">
                  <c:v>8.2900000000000001E-2</c:v>
                </c:pt>
                <c:pt idx="150">
                  <c:v>7.4300000000000005E-2</c:v>
                </c:pt>
                <c:pt idx="151">
                  <c:v>5.8999999999999997E-2</c:v>
                </c:pt>
                <c:pt idx="152">
                  <c:v>7.8799999999999995E-2</c:v>
                </c:pt>
                <c:pt idx="153">
                  <c:v>4.5600000000000002E-2</c:v>
                </c:pt>
                <c:pt idx="154">
                  <c:v>3.3099999999999997E-2</c:v>
                </c:pt>
                <c:pt idx="155">
                  <c:v>2.35E-2</c:v>
                </c:pt>
                <c:pt idx="156">
                  <c:v>2.46E-2</c:v>
                </c:pt>
                <c:pt idx="157">
                  <c:v>2.2200000000000001E-2</c:v>
                </c:pt>
                <c:pt idx="158">
                  <c:v>1.9099999999999999E-2</c:v>
                </c:pt>
                <c:pt idx="159">
                  <c:v>1.6299999999999999E-2</c:v>
                </c:pt>
                <c:pt idx="160">
                  <c:v>1.37E-2</c:v>
                </c:pt>
                <c:pt idx="161">
                  <c:v>1.1599999999999999E-2</c:v>
                </c:pt>
                <c:pt idx="162">
                  <c:v>8.8000000000000005E-3</c:v>
                </c:pt>
                <c:pt idx="163">
                  <c:v>7.1000000000000004E-3</c:v>
                </c:pt>
                <c:pt idx="164">
                  <c:v>6.6E-3</c:v>
                </c:pt>
                <c:pt idx="165">
                  <c:v>2.5000000000000001E-3</c:v>
                </c:pt>
                <c:pt idx="166">
                  <c:v>5.4999999999999997E-3</c:v>
                </c:pt>
                <c:pt idx="167">
                  <c:v>5.4999999999999997E-3</c:v>
                </c:pt>
                <c:pt idx="168">
                  <c:v>4.7000000000000002E-3</c:v>
                </c:pt>
                <c:pt idx="169">
                  <c:v>4.3E-3</c:v>
                </c:pt>
                <c:pt idx="170">
                  <c:v>4.0000000000000001E-3</c:v>
                </c:pt>
                <c:pt idx="171">
                  <c:v>1.6999999999999999E-3</c:v>
                </c:pt>
                <c:pt idx="172">
                  <c:v>2.7000000000000001E-3</c:v>
                </c:pt>
                <c:pt idx="173">
                  <c:v>2.7000000000000001E-3</c:v>
                </c:pt>
                <c:pt idx="174">
                  <c:v>1.1000000000000001E-3</c:v>
                </c:pt>
                <c:pt idx="175">
                  <c:v>1.9E-3</c:v>
                </c:pt>
                <c:pt idx="176">
                  <c:v>2E-3</c:v>
                </c:pt>
                <c:pt idx="177">
                  <c:v>1.1999999999999999E-3</c:v>
                </c:pt>
                <c:pt idx="178">
                  <c:v>1.6000000000000001E-3</c:v>
                </c:pt>
                <c:pt idx="179">
                  <c:v>1.5E-3</c:v>
                </c:pt>
                <c:pt idx="180">
                  <c:v>1E-3</c:v>
                </c:pt>
                <c:pt idx="181">
                  <c:v>1.2999999999999999E-3</c:v>
                </c:pt>
                <c:pt idx="182">
                  <c:v>6.9999999999999999E-4</c:v>
                </c:pt>
                <c:pt idx="183">
                  <c:v>8.9999999999999998E-4</c:v>
                </c:pt>
                <c:pt idx="184">
                  <c:v>5.9999999999999995E-4</c:v>
                </c:pt>
                <c:pt idx="185">
                  <c:v>6.9999999999999999E-4</c:v>
                </c:pt>
                <c:pt idx="186">
                  <c:v>5.0000000000000001E-4</c:v>
                </c:pt>
                <c:pt idx="187">
                  <c:v>4.0000000000000002E-4</c:v>
                </c:pt>
                <c:pt idx="188">
                  <c:v>5.0000000000000001E-4</c:v>
                </c:pt>
                <c:pt idx="189">
                  <c:v>4.0000000000000002E-4</c:v>
                </c:pt>
                <c:pt idx="190">
                  <c:v>4.0000000000000002E-4</c:v>
                </c:pt>
                <c:pt idx="191">
                  <c:v>2.9999999999999997E-4</c:v>
                </c:pt>
                <c:pt idx="192">
                  <c:v>2.9999999999999997E-4</c:v>
                </c:pt>
                <c:pt idx="193">
                  <c:v>2.9999999999999997E-4</c:v>
                </c:pt>
                <c:pt idx="194">
                  <c:v>2.0000000000000001E-4</c:v>
                </c:pt>
                <c:pt idx="195">
                  <c:v>2.0000000000000001E-4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5186-4BA2-8BE0-1E09DEBDD3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>
                    <a:latin typeface="Arial"/>
                    <a:ea typeface="Arial"/>
                    <a:cs typeface="Arial"/>
                  </a:rPr>
                  <a:t>Steering angle (rad)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>
                    <a:latin typeface="Arial"/>
                    <a:ea typeface="Arial"/>
                    <a:cs typeface="Arial"/>
                  </a:rPr>
                  <a:t>Time (s)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125"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-US" sz="1575" b="1">
                <a:solidFill>
                  <a:srgbClr val="19385D"/>
                </a:solidFill>
                <a:latin typeface="Arial"/>
                <a:ea typeface="Arial"/>
                <a:cs typeface="Arial"/>
              </a:rPr>
              <a:t>Task 3: GPX distance completed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Distance</c:v>
          </c:tx>
          <c:spPr>
            <a:solidFill>
              <a:srgbClr val="19385D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FFBF00"/>
              </a:solidFill>
            </c:spPr>
            <c:extLst>
              <c:ext xmlns:c16="http://schemas.microsoft.com/office/drawing/2014/chart" uri="{C3380CC4-5D6E-409C-BE32-E72D297353CC}">
                <c16:uniqueId val="{00000001-3921-4427-9DB0-F8ABFAEFDB11}"/>
              </c:ext>
            </c:extLst>
          </c:dPt>
          <c:dPt>
            <c:idx val="1"/>
            <c:invertIfNegative val="0"/>
            <c:bubble3D val="0"/>
            <c:spPr>
              <a:solidFill>
                <a:srgbClr val="AAB4C1"/>
              </a:solidFill>
            </c:spPr>
            <c:extLst>
              <c:ext xmlns:c16="http://schemas.microsoft.com/office/drawing/2014/chart" uri="{C3380CC4-5D6E-409C-BE32-E72D297353CC}">
                <c16:uniqueId val="{00000003-3921-4427-9DB0-F8ABFAEFDB11}"/>
              </c:ext>
            </c:extLst>
          </c:dPt>
          <c:dPt>
            <c:idx val="2"/>
            <c:invertIfNegative val="0"/>
            <c:bubble3D val="0"/>
            <c:spPr>
              <a:solidFill>
                <a:srgbClr val="248183"/>
              </a:solidFill>
            </c:spPr>
            <c:extLst>
              <c:ext xmlns:c16="http://schemas.microsoft.com/office/drawing/2014/chart" uri="{C3380CC4-5D6E-409C-BE32-E72D297353CC}">
                <c16:uniqueId val="{00000005-3921-4427-9DB0-F8ABFAEFDB11}"/>
              </c:ext>
            </c:extLst>
          </c:dPt>
          <c:dPt>
            <c:idx val="3"/>
            <c:invertIfNegative val="0"/>
            <c:bubble3D val="0"/>
            <c:spPr>
              <a:solidFill>
                <a:srgbClr val="FFBF00"/>
              </a:solidFill>
            </c:spPr>
            <c:extLst>
              <c:ext xmlns:c16="http://schemas.microsoft.com/office/drawing/2014/chart" uri="{C3380CC4-5D6E-409C-BE32-E72D297353CC}">
                <c16:uniqueId val="{00000007-3921-4427-9DB0-F8ABFAEFDB1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3.914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921-4427-9DB0-F8ABFAEFDB1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3.914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921-4427-9DB0-F8ABFAEFDB1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/>
                      <a:t>0.732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921-4427-9DB0-F8ABFAEFDB1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zh-CN"/>
                      <a:t>3.914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3921-4427-9DB0-F8ABFAEFDB1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PP
8 m/s</c:v>
                </c:pt>
                <c:pt idx="1">
                  <c:v>Kin. LQR
8 m/s</c:v>
                </c:pt>
                <c:pt idx="2">
                  <c:v>MPC
8 m/s</c:v>
                </c:pt>
                <c:pt idx="3">
                  <c:v>PP
4 m/s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3.9140000000000001</c:v>
                </c:pt>
                <c:pt idx="1">
                  <c:v>3.9140000000000001</c:v>
                </c:pt>
                <c:pt idx="2">
                  <c:v>0.73199999999999998</c:v>
                </c:pt>
                <c:pt idx="3">
                  <c:v>3.9140000000000001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3921-4427-9DB0-F8ABFAEFDB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.4000000000000004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>
                    <a:latin typeface="Arial"/>
                    <a:ea typeface="Arial"/>
                    <a:cs typeface="Arial"/>
                  </a:rPr>
                  <a:t>Distance (km)</a:t>
                </a:r>
              </a:p>
            </c:rich>
          </c:tx>
          <c:overlay val="0"/>
        </c:title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1.1000000000000001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2482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5B93-318A-D7DA-4EF6-6BC695FAC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ECF1DA-6E57-21AE-37F0-9F470E134F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3B79F2-CD14-00F6-C856-F505A16DD1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Good morning, everyone. My topic is Problem 1 — why path tracking gets harder the faster the car goes.</a:t>
            </a:r>
          </a:p>
          <a:p>
            <a:endParaRPr lang="zh-CN" dirty="0"/>
          </a:p>
          <a:p>
            <a:r>
              <a:rPr lang="zh-CN" dirty="0"/>
              <a:t>That sounds like a trivial statement, but pinning down exactly which step becomes hard is not that easy to explain. I used three controllers — pure pursuit, LQR and MPC — and ran them on a 12-metre-radius circle at 3, 5 and 7 m/s, nine runs in total. Once they finished, the answer could be written as a single formula.</a:t>
            </a:r>
          </a:p>
        </p:txBody>
      </p:sp>
    </p:spTree>
    <p:extLst>
      <p:ext uri="{BB962C8B-B14F-4D97-AF65-F5344CB8AC3E}">
        <p14:creationId xmlns:p14="http://schemas.microsoft.com/office/powerpoint/2010/main" val="3408533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3D48D-D6FB-7E96-028F-FE14E0F2B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4204FC-25DB-D165-DACB-49128FA26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414CD6-6E73-7872-6014-A386D5DCF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Good morning, everyone. My topic is Problem 1 — why path tracking gets harder the faster the car goes.</a:t>
            </a:r>
          </a:p>
          <a:p>
            <a:endParaRPr lang="zh-CN" dirty="0"/>
          </a:p>
          <a:p>
            <a:r>
              <a:rPr lang="zh-CN" dirty="0"/>
              <a:t>That sounds like a trivial statement, but pinning down exactly which step becomes hard is not that easy to explain. I used three controllers — pure pursuit, LQR and MPC — and ran them on a 12-metre-radius circle at 3, 5 and 7 m/s, nine runs in total. Once they finished, the answer could be written as a single formula.</a:t>
            </a:r>
          </a:p>
        </p:txBody>
      </p:sp>
    </p:spTree>
    <p:extLst>
      <p:ext uri="{BB962C8B-B14F-4D97-AF65-F5344CB8AC3E}">
        <p14:creationId xmlns:p14="http://schemas.microsoft.com/office/powerpoint/2010/main" val="2303578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Good morning, everyone. My topic is Problem 1 — why path tracking gets harder the faster the car goes.</a:t>
            </a:r>
          </a:p>
          <a:p>
            <a:endParaRPr lang="zh-CN" dirty="0"/>
          </a:p>
          <a:p>
            <a:r>
              <a:rPr lang="zh-CN" dirty="0"/>
              <a:t>That sounds like a trivial statement, but pinning down exactly which step becomes hard is not that easy to explain. I used three controllers — pure pursuit, LQR and MPC — and ran them on a 12-metre-radius circle at 3, 5 and 7 m/s, nine runs in total. Once they finished, the answer could be written as a single formula.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Let me give the conclusion first. Getting harder at speed is not caused by one thing — three things come together, and they differ a lot in magnitude.</a:t>
            </a:r>
          </a:p>
          <a:p>
            <a:endParaRPr lang="zh-CN" dirty="0"/>
          </a:p>
          <a:p>
            <a:r>
              <a:rPr lang="zh-CN" dirty="0"/>
              <a:t>First, the lateral acceleration a corner demands is v² times the curvature. Going from 3 to 7 m/s takes that demand from 0.75 to 4.08 — more than a factor of five. There is no way around this one; it is physics.</a:t>
            </a:r>
          </a:p>
          <a:p>
            <a:endParaRPr lang="zh-CN" dirty="0"/>
          </a:p>
          <a:p>
            <a:r>
              <a:rPr lang="zh-CN" dirty="0"/>
              <a:t>Second, and most important: the look-ahead distance grows together with speed, and pure pursuit's corner cut is exactly proportional to that look-ahead distance. I fitted that relationship from 13 runs; R² is 0.9988, essentially a straight line.</a:t>
            </a:r>
          </a:p>
          <a:p>
            <a:endParaRPr lang="zh-CN" dirty="0"/>
          </a:p>
          <a:p>
            <a:r>
              <a:rPr lang="zh-CN" dirty="0"/>
              <a:t>Third, the control period is fixed. The faster the car goes, the further it travels per step, so the number of corrections available in a given corner falls off as 1/v.</a:t>
            </a:r>
          </a:p>
          <a:p>
            <a:endParaRPr lang="zh-CN" dirty="0"/>
          </a:p>
          <a:p>
            <a:r>
              <a:rPr lang="zh-CN" dirty="0"/>
              <a:t>One point I want to stress here: it is not that steering runs out. Steady-state steer depends only on curvature, not on speed, and even at high speed it uses just 38% of the limit — there is plenty of steering margin left.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The experiment itself is simple. The car has a 2.5 m wheelbase, the front wheels go to at most 35 degrees, and the steering rate is at most 45 degrees per second.</a:t>
            </a:r>
          </a:p>
          <a:p>
            <a:endParaRPr lang="zh-CN" dirty="0"/>
          </a:p>
          <a:p>
            <a:r>
              <a:rPr lang="zh-CN" dirty="0"/>
              <a:t>I split the effect of speed into three quantities and the conclusion is very clean.</a:t>
            </a:r>
          </a:p>
          <a:p>
            <a:endParaRPr lang="zh-CN" dirty="0"/>
          </a:p>
          <a:p>
            <a:r>
              <a:rPr lang="zh-CN" dirty="0"/>
              <a:t>The steering angle does not move — across the three speeds it is basically a horizontal line, because it depends only on wheelbase and curvature.</a:t>
            </a:r>
          </a:p>
          <a:p>
            <a:endParaRPr lang="zh-CN" dirty="0"/>
          </a:p>
          <a:p>
            <a:r>
              <a:rPr lang="zh-CN" dirty="0"/>
              <a:t>Yaw rate grows linearly, from 0.26 to 0.53 — a little over a factor of two.</a:t>
            </a:r>
          </a:p>
          <a:p>
            <a:endParaRPr lang="zh-CN" dirty="0"/>
          </a:p>
          <a:p>
            <a:r>
              <a:rPr lang="zh-CN" dirty="0"/>
              <a:t>Normal acceleration grows with the square, from 0.75 to 3.17 — more than four times — and it sits right on the theoretical v²κ line, within 3.4%.</a:t>
            </a:r>
          </a:p>
          <a:p>
            <a:endParaRPr lang="zh-CN" dirty="0"/>
          </a:p>
          <a:p>
            <a:r>
              <a:rPr lang="zh-CN" dirty="0"/>
              <a:t>So what speed really changes is not “how many degrees must I turn” but “how much lateral drift those degrees correspond to”.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This is the most important slide in the whole talk.</a:t>
            </a:r>
          </a:p>
          <a:p>
            <a:endParaRPr lang="zh-CN" dirty="0"/>
          </a:p>
          <a:p>
            <a:r>
              <a:rPr lang="zh-CN" dirty="0"/>
              <a:t>When pure pursuit runs the circle, it does not sit on the reference circle — it settles onto a slightly smaller concentric circle.</a:t>
            </a:r>
          </a:p>
          <a:p>
            <a:endParaRPr lang="zh-CN" dirty="0"/>
          </a:p>
          <a:p>
            <a:r>
              <a:rPr lang="zh-CN" dirty="0"/>
              <a:t>At 3 m/s it drifts 0.437 m inwards. But the theoretical steer needed there is only 0.205 rad, so steering is nowhere near saturation. So where do those 0.44 m come from?</a:t>
            </a:r>
          </a:p>
          <a:p>
            <a:endParaRPr lang="zh-CN" dirty="0"/>
          </a:p>
          <a:p>
            <a:r>
              <a:rPr lang="zh-CN" dirty="0"/>
              <a:t>I ran several controls, changing one thing at a time: only the look-ahead distance, only the front/rear axle split, only the resampling spacing.</a:t>
            </a:r>
          </a:p>
          <a:p>
            <a:endParaRPr lang="zh-CN" dirty="0"/>
          </a:p>
          <a:p>
            <a:r>
              <a:rPr lang="zh-CN" dirty="0"/>
              <a:t>In the end I fitted 13 points: the cut is roughly 0.93 times the look-ahead distance times the sideslip angle.</a:t>
            </a:r>
          </a:p>
          <a:p>
            <a:endParaRPr lang="zh-CN" dirty="0"/>
          </a:p>
          <a:p>
            <a:r>
              <a:rPr lang="zh-CN" dirty="0"/>
              <a:t>The most convincing one is the second group. I set the front/rear axle split to 2.5 and 0, forcing the sideslip angle β to exactly zero — and the cut immediately became −0.042 m, essentially gone.</a:t>
            </a:r>
          </a:p>
          <a:p>
            <a:endParaRPr lang="zh-CN" dirty="0"/>
          </a:p>
          <a:p>
            <a:r>
              <a:rPr lang="zh-CN" dirty="0"/>
              <a:t>So the cut is caused by β. Speed enters that chain through the look-ahead distance: higher speed, longer look-ahead, larger cut.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The peak steady-state lateral error of all three controllers rises with speed. At the high-speed setting they are 0.53, 0.48 and 0.35 m. MPC is best, LQR in the middle, pure pursuit worst.</a:t>
            </a:r>
          </a:p>
          <a:p>
            <a:endParaRPr lang="zh-CN" dirty="0"/>
          </a:p>
          <a:p>
            <a:r>
              <a:rPr lang="zh-CN" dirty="0"/>
              <a:t>But there is a trap here that I should point out. If you look at the whole-run mean error, the conclusion flips — it goes down, with pure pursuit dropping from 0.286 to 0.275.</a:t>
            </a:r>
          </a:p>
          <a:p>
            <a:endParaRPr lang="zh-CN" dirty="0"/>
          </a:p>
          <a:p>
            <a:r>
              <a:rPr lang="zh-CN" dirty="0"/>
              <a:t>Why? Because as speed rises the trajectory contains more samples on the straight sections. Straight-section error is always zero, and that drags the mean down.</a:t>
            </a:r>
          </a:p>
          <a:p>
            <a:endParaRPr lang="zh-CN" dirty="0"/>
          </a:p>
          <a:p>
            <a:r>
              <a:rPr lang="zh-CN" dirty="0"/>
              <a:t>So to judge whether tracking is hard, you have to look at the steady segment and the peak value, not the whole-run mean.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To sum up. Getting harder at speed is three costs stacked on top of each other: a quadratic physical cost, a linear geometric cost, and a timing cost that falls off as 1/v. The dominant issue is still pure pursuit's corner cut.</a:t>
            </a:r>
          </a:p>
          <a:p>
            <a:endParaRPr lang="zh-CN" dirty="0"/>
          </a:p>
          <a:p>
            <a:r>
              <a:rPr lang="zh-CN" dirty="0"/>
              <a:t>Two recommendations.</a:t>
            </a:r>
          </a:p>
          <a:p>
            <a:endParaRPr lang="zh-CN" dirty="0"/>
          </a:p>
          <a:p>
            <a:r>
              <a:rPr lang="zh-CN" dirty="0"/>
              <a:t>First, do not scale the look-ahead distance blindly with speed — pair it with curvature feed-forward or a steering-offset compensation. LQR and MPC are accurate precisely because they use curvature explicitly.</a:t>
            </a:r>
          </a:p>
          <a:p>
            <a:endParaRPr lang="zh-CN" dirty="0"/>
          </a:p>
          <a:p>
            <a:r>
              <a:rPr lang="zh-CN" dirty="0"/>
              <a:t>Second, when decelerating near the goal, trigger it on the remaining arc length along the path, not on straight-line distance, otherwise the car will slow down in the middle of the run for no reason.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Today I will talk about two vehicle models and four control methods. Thirty of 31 tests finished the route.</a:t>
            </a:r>
          </a:p>
          <a:p>
            <a:endParaRPr/>
          </a:p>
          <a:p>
            <a:r>
              <a:t>Dynamic LQR had the smallest errors on the four built-in routes.</a:t>
            </a:r>
          </a:p>
          <a:p>
            <a:endParaRPr/>
          </a:p>
          <a:p>
            <a:r>
              <a:t>All tests used a kinematic model to move the car. The dynamic model helped design one controller. These results compare the controllers in this simulation.</a:t>
            </a:r>
          </a:p>
          <a:p>
            <a:endParaRPr/>
          </a:p>
          <a:p>
            <a:r>
              <a:t>Sources: reports/course_tasks/all_results.json; outputs/course_tasks; outputs/course_tasks_gpx; vdm_lab/common/bicycle_model.py; vdm_lab/student/lqr_dynamic.py.</a:t>
            </a:r>
          </a:p>
          <a:p>
            <a:r>
              <a:t>All tests use the kinematic vehicle backend. Dynamic LQR stiffness conventions and discretization need further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Today I will talk about two vehicle models and four control methods. Thirty of 31 tests finished the route.</a:t>
            </a:r>
          </a:p>
          <a:p>
            <a:endParaRPr/>
          </a:p>
          <a:p>
            <a:r>
              <a:t>Dynamic LQR had the smallest errors on the four built-in routes.</a:t>
            </a:r>
          </a:p>
          <a:p>
            <a:endParaRPr/>
          </a:p>
          <a:p>
            <a:r>
              <a:t>All tests used a kinematic model to move the car. The dynamic model helped design one controller. These results compare the controllers in this simulation.</a:t>
            </a:r>
          </a:p>
          <a:p>
            <a:endParaRPr/>
          </a:p>
          <a:p>
            <a:r>
              <a:t>Sources: reports/course_tasks/all_results.json; outputs/course_tasks; outputs/course_tasks_gpx; vdm_lab/common/bicycle_model.py; vdm_lab/student/lqr_dynamic.py.</a:t>
            </a:r>
          </a:p>
          <a:p>
            <a:r>
              <a:t>All tests use the kinematic vehicle backend. Dynamic LQR stiffness conventions and discretization need further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Today I will talk about two vehicle models and four control methods. Thirty of 31 tests finished the route.</a:t>
            </a:r>
          </a:p>
          <a:p>
            <a:endParaRPr/>
          </a:p>
          <a:p>
            <a:r>
              <a:t>Dynamic LQR had the smallest errors on the four built-in routes.</a:t>
            </a:r>
          </a:p>
          <a:p>
            <a:endParaRPr/>
          </a:p>
          <a:p>
            <a:r>
              <a:t>All tests used a kinematic model to move the car. The dynamic model helped design one controller. These results compare the controllers in this simulation.</a:t>
            </a:r>
          </a:p>
          <a:p>
            <a:endParaRPr/>
          </a:p>
          <a:p>
            <a:r>
              <a:t>Sources: reports/course_tasks/all_results.json; outputs/course_tasks; outputs/course_tasks_gpx; vdm_lab/common/bicycle_model.py; vdm_lab/student/lqr_dynamic.py.</a:t>
            </a:r>
          </a:p>
          <a:p>
            <a:r>
              <a:t>All tests use the kinematic vehicle backend. Dynamic LQR stiffness conventions and discretization need further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Today I will talk about two vehicle models and four control methods. Thirty of 31 tests finished the route.</a:t>
            </a:r>
          </a:p>
          <a:p>
            <a:endParaRPr/>
          </a:p>
          <a:p>
            <a:r>
              <a:t>Dynamic LQR had the smallest errors on the four built-in routes.</a:t>
            </a:r>
          </a:p>
          <a:p>
            <a:endParaRPr/>
          </a:p>
          <a:p>
            <a:r>
              <a:t>All tests used a kinematic model to move the car. The dynamic model helped design one controller. These results compare the controllers in this simulation.</a:t>
            </a:r>
          </a:p>
          <a:p>
            <a:endParaRPr/>
          </a:p>
          <a:p>
            <a:r>
              <a:t>Sources: reports/course_tasks/all_results.json; outputs/course_tasks; outputs/course_tasks_gpx; vdm_lab/common/bicycle_model.py; vdm_lab/student/lqr_dynamic.py.</a:t>
            </a:r>
          </a:p>
          <a:p>
            <a:r>
              <a:t>All tests use the kinematic vehicle backend. Dynamic LQR stiffness conventions and discretization need further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Today I will talk about two vehicle models and four control methods. Thirty of 31 tests finished the route.</a:t>
            </a:r>
          </a:p>
          <a:p>
            <a:endParaRPr/>
          </a:p>
          <a:p>
            <a:r>
              <a:t>Dynamic LQR had the smallest errors on the four built-in routes.</a:t>
            </a:r>
          </a:p>
          <a:p>
            <a:endParaRPr/>
          </a:p>
          <a:p>
            <a:r>
              <a:t>All tests used a kinematic model to move the car. The dynamic model helped design one controller. These results compare the controllers in this simulation.</a:t>
            </a:r>
          </a:p>
          <a:p>
            <a:endParaRPr/>
          </a:p>
          <a:p>
            <a:r>
              <a:t>Sources: reports/course_tasks/all_results.json; outputs/course_tasks; outputs/course_tasks_gpx; vdm_lab/common/bicycle_model.py; vdm_lab/student/lqr_dynamic.py.</a:t>
            </a:r>
          </a:p>
          <a:p>
            <a:r>
              <a:t>All tests use the kinematic vehicle backend. Dynamic LQR stiffness conventions and discretization need further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33D36-D451-7B8D-2FA4-EF37E158D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F242A0-07A8-B4D8-6247-06C3E57DD5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854A5E-D374-CE0D-4026-D6547D485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Good morning, everyone. My topic is Problem 1 — why path tracking gets harder the faster the car goes.</a:t>
            </a:r>
          </a:p>
          <a:p>
            <a:endParaRPr lang="zh-CN" dirty="0"/>
          </a:p>
          <a:p>
            <a:r>
              <a:rPr lang="zh-CN" dirty="0"/>
              <a:t>That sounds like a trivial statement, but pinning down exactly which step becomes hard is not that easy to explain. I used three controllers — pure pursuit, LQR and MPC — and ran them on a 12-metre-radius circle at 3, 5 and 7 m/s, nine runs in total. Once they finished, the answer could be written as a single formula.</a:t>
            </a:r>
          </a:p>
        </p:txBody>
      </p:sp>
    </p:spTree>
    <p:extLst>
      <p:ext uri="{BB962C8B-B14F-4D97-AF65-F5344CB8AC3E}">
        <p14:creationId xmlns:p14="http://schemas.microsoft.com/office/powerpoint/2010/main" val="23987077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65172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39059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35348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683ED-2E85-9467-3236-A20D7D350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839572-1629-CEB0-B1F7-9CB763295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CAA3AD-F101-60C7-C9B1-603307BB6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Good morning, everyone. My topic is Problem 1 — why path tracking gets harder the faster the car goes.</a:t>
            </a:r>
          </a:p>
          <a:p>
            <a:endParaRPr lang="zh-CN" dirty="0"/>
          </a:p>
          <a:p>
            <a:r>
              <a:rPr lang="zh-CN" dirty="0"/>
              <a:t>That sounds like a trivial statement, but pinning down exactly which step becomes hard is not that easy to explain. I used three controllers — pure pursuit, LQR and MPC — and ran them on a 12-metre-radius circle at 3, 5 and 7 m/s, nine runs in total. Once they finished, the answer could be written as a single formula.</a:t>
            </a:r>
          </a:p>
        </p:txBody>
      </p:sp>
    </p:spTree>
    <p:extLst>
      <p:ext uri="{BB962C8B-B14F-4D97-AF65-F5344CB8AC3E}">
        <p14:creationId xmlns:p14="http://schemas.microsoft.com/office/powerpoint/2010/main" val="36292243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This is the whole pipeline. The four stages are map construction, reference path generation, pure-pursuit implementation and experimental data analysis; the output of each is the input of the next. Everything runs offline, with no network. The clip below is the first-person view of the car driving the full reference path, 1450.6 metres.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The map uses raw OSM data. I extracted the drivable roads around campus into a road network: 1745 nodes, 1989 edges, 146.7 km total length, and the whole graph is connected. The start and goal are first snapped to the nearest nodes, 44.4 m and 74.5 m off respectively, then Dijkstra is run, giving a 1463.5 m polyline.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This is where the biggest problem was. Taken as-is, the polyline has a peak curvature of 1.6049, a radius of only 0.62 m. With a 35-degree front-wheel limit and a 2.5 m wheelbase, this car's curvature limit is 0.2801, corresponding to a 3.57 m radius — the raw polyline exceeds it by 5.7 times and is physically impossible to drive. I did two things: Gaussian smoothing of the curvature first, then filleting the corners. Curvature came down to 0.1166. Smoothing accounted for 92% of the reduction and filleting only 14%.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With the curvature in hand I can assign speeds: v equals the square root of the lateral-acceleration limit divided by the curvature. On the same route, the peak lateral acceleration is 7.30 at constant speed and drops to 4.34 under the curvature-based limit. I hit one pitfall here: the speed limit must be propagated point by point — scan the deceleration sections backwards and the acceleration sections forwards. I first wrote it as a one-shot array operation where each point only looks at itself, and the car simply would not slow down.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This page sweeps two parameters: the look-ahead distance from 1 to 12 m and the speed from 3 to 8 m/s, 18 simulations in total. As the look-ahead grows, the peak error rises from 1.06 to 4.12 m, but the steering chatter falls from 23.8 to 1.8 degrees per second — you can only have one of line-following and smoothness. Raising the speed also raises the error: from 3 to 7 m/s the peak error goes from 1.42 to 1.64 m.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Four conclusions. One: curvature smoothing has the largest effect — same car, same speed, adding smoothing alone takes the peak lateral acceleration from 17.83 down to 7.97. Two: the curvature-based speed limit pushes the lateral acceleration down from 7.30 to 4.34, at the cost of 0.31 m more terminal error. Three: the higher the speed, the larger the error — from 3 to 7 m/s the peak error rises from 1.42 to 1.64 m. Four: the look-ahead distance has to be a compromise. There is also a detail that stuck with me: the peak error of all 18 simulations falls at the same place — the sharp bend at about s = 589 m with a 2.4 m radius. The tracking-quality ceiling for the whole route is set by that one corner.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That is my report. Thank you, and I welcome your comments.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chart" Target="../charts/char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5B30F-053B-961A-6B76-B3F225D9A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5E31966-1662-E927-DEFC-91D63BC14318}"/>
              </a:ext>
            </a:extLst>
          </p:cNvPr>
          <p:cNvGrpSpPr/>
          <p:nvPr/>
        </p:nvGrpSpPr>
        <p:grpSpPr>
          <a:xfrm>
            <a:off x="-5168781" y="-227994"/>
            <a:ext cx="17933202" cy="11722860"/>
            <a:chOff x="-5400008" y="-227994"/>
            <a:chExt cx="17933202" cy="11722860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80CA9149-EA2A-98D9-400C-E0A5D206D52E}"/>
                </a:ext>
              </a:extLst>
            </p:cNvPr>
            <p:cNvSpPr/>
            <p:nvPr/>
          </p:nvSpPr>
          <p:spPr>
            <a:xfrm>
              <a:off x="-557048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Polygon 3">
              <a:extLst>
                <a:ext uri="{FF2B5EF4-FFF2-40B4-BE49-F238E27FC236}">
                  <a16:creationId xmlns:a16="http://schemas.microsoft.com/office/drawing/2014/main" id="{6B46C92A-8D5E-C021-F733-1899FA044F9B}"/>
                </a:ext>
              </a:extLst>
            </p:cNvPr>
            <p:cNvSpPr/>
            <p:nvPr/>
          </p:nvSpPr>
          <p:spPr>
            <a:xfrm>
              <a:off x="-5400008" y="7052501"/>
              <a:ext cx="10799921" cy="4442365"/>
            </a:xfrm>
            <a:custGeom>
              <a:avLst/>
              <a:gdLst/>
              <a:ahLst/>
              <a:cxnLst/>
              <a:rect l="l" t="t" r="r" b="b"/>
              <a:pathLst>
                <a:path w="10799921" h="4442365">
                  <a:moveTo>
                    <a:pt x="10799921" y="0"/>
                  </a:moveTo>
                  <a:lnTo>
                    <a:pt x="10799921" y="4442365"/>
                  </a:lnTo>
                  <a:lnTo>
                    <a:pt x="0" y="4442365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4BE1E71-4DF0-6AEC-F3C2-046C8787B531}"/>
                </a:ext>
              </a:extLst>
            </p:cNvPr>
            <p:cNvSpPr/>
            <p:nvPr/>
          </p:nvSpPr>
          <p:spPr>
            <a:xfrm>
              <a:off x="8684904" y="-227994"/>
              <a:ext cx="3848290" cy="2031492"/>
            </a:xfrm>
            <a:custGeom>
              <a:avLst/>
              <a:gdLst/>
              <a:ahLst/>
              <a:cxnLst/>
              <a:rect l="l" t="t" r="r" b="b"/>
              <a:pathLst>
                <a:path w="3848290" h="2031492">
                  <a:moveTo>
                    <a:pt x="0" y="0"/>
                  </a:moveTo>
                  <a:lnTo>
                    <a:pt x="0" y="448628"/>
                  </a:lnTo>
                  <a:lnTo>
                    <a:pt x="3848290" y="2031492"/>
                  </a:lnTo>
                  <a:lnTo>
                    <a:pt x="3848290" y="1582864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542F4D7-5607-1957-E14F-6CA1B704A2F1}"/>
                </a:ext>
              </a:extLst>
            </p:cNvPr>
            <p:cNvSpPr/>
            <p:nvPr/>
          </p:nvSpPr>
          <p:spPr>
            <a:xfrm>
              <a:off x="6566050" y="571041"/>
              <a:ext cx="3176778" cy="1677067"/>
            </a:xfrm>
            <a:custGeom>
              <a:avLst/>
              <a:gdLst/>
              <a:ahLst/>
              <a:cxnLst/>
              <a:rect l="l" t="t" r="r" b="b"/>
              <a:pathLst>
                <a:path w="3176778" h="1677067">
                  <a:moveTo>
                    <a:pt x="0" y="0"/>
                  </a:moveTo>
                  <a:lnTo>
                    <a:pt x="0" y="370332"/>
                  </a:lnTo>
                  <a:lnTo>
                    <a:pt x="3176778" y="1677067"/>
                  </a:lnTo>
                  <a:lnTo>
                    <a:pt x="3176778" y="1306735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5E5F4EC-92BC-864F-E278-536B4FF1A5E6}"/>
                </a:ext>
              </a:extLst>
            </p:cNvPr>
            <p:cNvSpPr/>
            <p:nvPr/>
          </p:nvSpPr>
          <p:spPr>
            <a:xfrm>
              <a:off x="8523001" y="752969"/>
              <a:ext cx="2510885" cy="1325594"/>
            </a:xfrm>
            <a:custGeom>
              <a:avLst/>
              <a:gdLst/>
              <a:ahLst/>
              <a:cxnLst/>
              <a:rect l="l" t="t" r="r" b="b"/>
              <a:pathLst>
                <a:path w="2510885" h="1325594">
                  <a:moveTo>
                    <a:pt x="0" y="0"/>
                  </a:moveTo>
                  <a:lnTo>
                    <a:pt x="0" y="292703"/>
                  </a:lnTo>
                  <a:lnTo>
                    <a:pt x="2510885" y="1325594"/>
                  </a:lnTo>
                  <a:lnTo>
                    <a:pt x="2510885" y="103279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  <p:txBody>
            <a:bodyPr/>
            <a:lstStyle/>
            <a:p>
              <a:endParaRPr lang="zh-CN" altLang="en-US" dirty="0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0ECE3408-1BA1-7B27-1383-4DD3372BA623}"/>
              </a:ext>
            </a:extLst>
          </p:cNvPr>
          <p:cNvGrpSpPr/>
          <p:nvPr/>
        </p:nvGrpSpPr>
        <p:grpSpPr>
          <a:xfrm>
            <a:off x="624934" y="235761"/>
            <a:ext cx="5685091" cy="670560"/>
            <a:chOff x="2800731" y="257444"/>
            <a:chExt cx="5685091" cy="670560"/>
          </a:xfrm>
        </p:grpSpPr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144A28C-BFE9-5D05-EC95-F024E1F23210}"/>
                </a:ext>
              </a:extLst>
            </p:cNvPr>
            <p:cNvSpPr txBox="1"/>
            <p:nvPr/>
          </p:nvSpPr>
          <p:spPr>
            <a:xfrm>
              <a:off x="3807593" y="257444"/>
              <a:ext cx="201168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Southeast University</a:t>
              </a:r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8DC3D266-D698-7676-84C9-5332E291B200}"/>
                </a:ext>
              </a:extLst>
            </p:cNvPr>
            <p:cNvSpPr/>
            <p:nvPr/>
          </p:nvSpPr>
          <p:spPr>
            <a:xfrm>
              <a:off x="2800731" y="799910"/>
              <a:ext cx="5685091" cy="9525"/>
            </a:xfrm>
            <a:custGeom>
              <a:avLst/>
              <a:gdLst/>
              <a:ahLst/>
              <a:cxnLst/>
              <a:rect l="l" t="t" r="r" b="b"/>
              <a:pathLst>
                <a:path w="5685091" h="9525">
                  <a:moveTo>
                    <a:pt x="0" y="0"/>
                  </a:moveTo>
                  <a:lnTo>
                    <a:pt x="5685091" y="0"/>
                  </a:lnTo>
                </a:path>
              </a:pathLst>
            </a:custGeom>
            <a:noFill/>
            <a:ln w="28575">
              <a:solidFill>
                <a:srgbClr val="17375E"/>
              </a:solidFill>
            </a:ln>
          </p:spPr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94DB7E33-D5DE-8B64-D7DF-122200A3C132}"/>
              </a:ext>
            </a:extLst>
          </p:cNvPr>
          <p:cNvGrpSpPr/>
          <p:nvPr/>
        </p:nvGrpSpPr>
        <p:grpSpPr>
          <a:xfrm>
            <a:off x="461995" y="1803498"/>
            <a:ext cx="10927671" cy="2885744"/>
            <a:chOff x="515195" y="1524331"/>
            <a:chExt cx="10927671" cy="2885744"/>
          </a:xfrm>
        </p:grpSpPr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8E5E3C81-9C4A-18F9-47BD-768D2E9969DB}"/>
                </a:ext>
              </a:extLst>
            </p:cNvPr>
            <p:cNvSpPr txBox="1"/>
            <p:nvPr/>
          </p:nvSpPr>
          <p:spPr>
            <a:xfrm>
              <a:off x="515195" y="1524331"/>
              <a:ext cx="10927671" cy="1477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48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Path Tracking Simulation </a:t>
              </a:r>
            </a:p>
            <a:p>
              <a:r>
                <a:rPr lang="en-US" altLang="zh-CN" sz="48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and Control of Autonomous Vehicles</a:t>
              </a:r>
              <a:endParaRPr lang="zh-CN" sz="4800" b="1" dirty="0">
                <a:solidFill>
                  <a:srgbClr val="17375E"/>
                </a:solidFill>
                <a:latin typeface="Century Gothic"/>
                <a:ea typeface="Microsoft YaHei"/>
                <a:cs typeface="Century Gothic"/>
              </a:endParaRP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F437DB15-5102-AD5B-AAF7-027E921AA576}"/>
                </a:ext>
              </a:extLst>
            </p:cNvPr>
            <p:cNvSpPr txBox="1"/>
            <p:nvPr/>
          </p:nvSpPr>
          <p:spPr>
            <a:xfrm>
              <a:off x="877538" y="3640687"/>
              <a:ext cx="9747861" cy="60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Four Problems on the VDM Platform: Speed Sensitivity, Key Variables, Vehicle Models, </a:t>
              </a:r>
            </a:p>
            <a:p>
              <a:r>
                <a:rPr lang="en-US" altLang="zh-CN" sz="19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and Dorm-to-Classroom Navigation</a:t>
              </a:r>
              <a:endParaRPr lang="zh-CN" sz="1950" dirty="0">
                <a:solidFill>
                  <a:srgbClr val="404040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E9B0C14D-B851-CD78-D7D3-9C82DCB9D077}"/>
                </a:ext>
              </a:extLst>
            </p:cNvPr>
            <p:cNvSpPr/>
            <p:nvPr/>
          </p:nvSpPr>
          <p:spPr>
            <a:xfrm>
              <a:off x="877538" y="4400550"/>
              <a:ext cx="5146834" cy="9525"/>
            </a:xfrm>
            <a:custGeom>
              <a:avLst/>
              <a:gdLst/>
              <a:ahLst/>
              <a:cxnLst/>
              <a:rect l="l" t="t" r="r" b="b"/>
              <a:pathLst>
                <a:path w="5146834" h="9525">
                  <a:moveTo>
                    <a:pt x="0" y="0"/>
                  </a:moveTo>
                  <a:lnTo>
                    <a:pt x="5146834" y="0"/>
                  </a:lnTo>
                </a:path>
              </a:pathLst>
            </a:custGeom>
            <a:noFill/>
            <a:ln w="6353">
              <a:solidFill>
                <a:srgbClr val="17375E"/>
              </a:solidFill>
            </a:ln>
          </p:spPr>
        </p:sp>
      </p:grpSp>
    </p:spTree>
    <p:extLst>
      <p:ext uri="{BB962C8B-B14F-4D97-AF65-F5344CB8AC3E}">
        <p14:creationId xmlns:p14="http://schemas.microsoft.com/office/powerpoint/2010/main" val="3220714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D7466-CE68-512F-8CB4-3CA7F7D69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>
            <a:extLst>
              <a:ext uri="{FF2B5EF4-FFF2-40B4-BE49-F238E27FC236}">
                <a16:creationId xmlns:a16="http://schemas.microsoft.com/office/drawing/2014/main" id="{42B49A51-18F6-8927-A532-4C9A72A6D670}"/>
              </a:ext>
            </a:extLst>
          </p:cNvPr>
          <p:cNvGrpSpPr/>
          <p:nvPr/>
        </p:nvGrpSpPr>
        <p:grpSpPr>
          <a:xfrm>
            <a:off x="624934" y="235761"/>
            <a:ext cx="5685091" cy="670560"/>
            <a:chOff x="2800731" y="257444"/>
            <a:chExt cx="5685091" cy="670560"/>
          </a:xfrm>
        </p:grpSpPr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1B622C7-C257-E37E-0CA2-9BB46C643109}"/>
                </a:ext>
              </a:extLst>
            </p:cNvPr>
            <p:cNvSpPr txBox="1"/>
            <p:nvPr/>
          </p:nvSpPr>
          <p:spPr>
            <a:xfrm>
              <a:off x="3807593" y="257444"/>
              <a:ext cx="201168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Southeast University</a:t>
              </a:r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4489CEC3-129E-45BC-9CF4-D00EC7A3B5FA}"/>
                </a:ext>
              </a:extLst>
            </p:cNvPr>
            <p:cNvSpPr/>
            <p:nvPr/>
          </p:nvSpPr>
          <p:spPr>
            <a:xfrm>
              <a:off x="2800731" y="799910"/>
              <a:ext cx="5685091" cy="9525"/>
            </a:xfrm>
            <a:custGeom>
              <a:avLst/>
              <a:gdLst/>
              <a:ahLst/>
              <a:cxnLst/>
              <a:rect l="l" t="t" r="r" b="b"/>
              <a:pathLst>
                <a:path w="5685091" h="9525">
                  <a:moveTo>
                    <a:pt x="0" y="0"/>
                  </a:moveTo>
                  <a:lnTo>
                    <a:pt x="5685091" y="0"/>
                  </a:lnTo>
                </a:path>
              </a:pathLst>
            </a:custGeom>
            <a:noFill/>
            <a:ln w="28575">
              <a:solidFill>
                <a:srgbClr val="17375E"/>
              </a:solidFill>
            </a:ln>
          </p:spPr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9DB3008D-FC45-54BE-4BB9-555D08115819}"/>
              </a:ext>
            </a:extLst>
          </p:cNvPr>
          <p:cNvGrpSpPr/>
          <p:nvPr/>
        </p:nvGrpSpPr>
        <p:grpSpPr>
          <a:xfrm>
            <a:off x="633278" y="2669146"/>
            <a:ext cx="11353494" cy="2522891"/>
            <a:chOff x="754625" y="3881035"/>
            <a:chExt cx="5925748" cy="2255327"/>
          </a:xfrm>
        </p:grpSpPr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A518FD-E7ED-A9E7-71AA-3144B0E4D8D2}"/>
                </a:ext>
              </a:extLst>
            </p:cNvPr>
            <p:cNvSpPr txBox="1"/>
            <p:nvPr/>
          </p:nvSpPr>
          <p:spPr>
            <a:xfrm>
              <a:off x="754625" y="3881035"/>
              <a:ext cx="5925748" cy="21460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Problem 1: Theoretical Analysis and Experimental Validation</a:t>
              </a:r>
              <a:endParaRPr lang="en-US" altLang="zh-CN" sz="1950" dirty="0">
                <a:solidFill>
                  <a:srgbClr val="404040"/>
                </a:solidFill>
                <a:latin typeface="Arial"/>
                <a:ea typeface="Microsoft YaHei"/>
                <a:cs typeface="Arial"/>
              </a:endParaRPr>
            </a:p>
            <a:p>
              <a:pPr algn="l"/>
              <a:endParaRPr lang="en-US" altLang="zh-CN" sz="1950" dirty="0">
                <a:solidFill>
                  <a:srgbClr val="404040"/>
                </a:solidFill>
                <a:latin typeface="Arial"/>
                <a:ea typeface="Microsoft YaHei"/>
                <a:cs typeface="Arial"/>
              </a:endParaRPr>
            </a:p>
            <a:p>
              <a:r>
                <a:rPr lang="zh-CN" altLang="zh-CN" sz="19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Problem </a:t>
              </a:r>
              <a:r>
                <a:rPr lang="en-US" altLang="zh-CN" sz="19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2</a:t>
              </a:r>
              <a:r>
                <a:rPr lang="zh-CN" altLang="zh-CN" sz="19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: </a:t>
              </a:r>
              <a:r>
                <a:rPr lang="en-US" altLang="zh-CN" sz="19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Sensitivity Analysis of Three Key Variables with Simulation, Visualization and Data Analysis</a:t>
              </a:r>
              <a:endParaRPr lang="zh-CN" altLang="zh-CN" sz="1950" dirty="0">
                <a:solidFill>
                  <a:srgbClr val="404040"/>
                </a:solidFill>
                <a:latin typeface="Arial"/>
                <a:ea typeface="Microsoft YaHei"/>
                <a:cs typeface="Arial"/>
              </a:endParaRPr>
            </a:p>
            <a:p>
              <a:pPr algn="l"/>
              <a:endParaRPr lang="en-US" altLang="zh-CN" sz="1950" dirty="0">
                <a:solidFill>
                  <a:srgbClr val="404040"/>
                </a:solidFill>
                <a:latin typeface="Arial"/>
                <a:ea typeface="Microsoft YaHei"/>
                <a:cs typeface="Arial"/>
              </a:endParaRPr>
            </a:p>
            <a:p>
              <a:r>
                <a:rPr lang="zh-CN" altLang="zh-CN" sz="19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Problem </a:t>
              </a:r>
              <a:r>
                <a:rPr lang="en-US" altLang="zh-CN" sz="19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3</a:t>
              </a:r>
              <a:r>
                <a:rPr lang="zh-CN" altLang="zh-CN" sz="19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:</a:t>
              </a:r>
              <a:r>
                <a:rPr lang="en-US" altLang="zh-CN" sz="19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Model Reconstruction and Comparative Analysis of Kinematic and Dynamic Models</a:t>
              </a:r>
              <a:endParaRPr lang="zh-CN" altLang="zh-CN" sz="1950" dirty="0">
                <a:solidFill>
                  <a:srgbClr val="404040"/>
                </a:solidFill>
                <a:latin typeface="Arial"/>
                <a:ea typeface="Microsoft YaHei"/>
                <a:cs typeface="Arial"/>
              </a:endParaRPr>
            </a:p>
            <a:p>
              <a:pPr algn="l"/>
              <a:endParaRPr lang="en-US" altLang="zh-CN" sz="1950" dirty="0">
                <a:solidFill>
                  <a:srgbClr val="404040"/>
                </a:solidFill>
                <a:latin typeface="Arial"/>
                <a:ea typeface="Microsoft YaHei"/>
                <a:cs typeface="Arial"/>
              </a:endParaRPr>
            </a:p>
            <a:p>
              <a:r>
                <a:rPr lang="zh-CN" altLang="zh-CN" sz="19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Problem </a:t>
              </a:r>
              <a:r>
                <a:rPr lang="en-US" altLang="zh-CN" sz="19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4</a:t>
              </a:r>
              <a:r>
                <a:rPr lang="zh-CN" altLang="zh-CN" sz="19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:</a:t>
              </a:r>
              <a:r>
                <a:rPr lang="en-US" altLang="zh-CN" sz="19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Map Construction, Reference Path Generation and Pure Pursuit Tracking</a:t>
              </a:r>
              <a:endParaRPr lang="zh-CN" altLang="zh-CN" sz="1950" dirty="0">
                <a:solidFill>
                  <a:srgbClr val="404040"/>
                </a:solidFill>
                <a:latin typeface="Arial"/>
                <a:ea typeface="Microsoft YaHei"/>
                <a:cs typeface="Arial"/>
              </a:endParaRPr>
            </a:p>
            <a:p>
              <a:pPr algn="l"/>
              <a:endParaRPr lang="zh-CN" sz="1950" dirty="0">
                <a:solidFill>
                  <a:srgbClr val="404040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F0DC9303-CBC7-E7C9-3464-27EBF08775FB}"/>
                </a:ext>
              </a:extLst>
            </p:cNvPr>
            <p:cNvSpPr/>
            <p:nvPr/>
          </p:nvSpPr>
          <p:spPr>
            <a:xfrm>
              <a:off x="754625" y="6126837"/>
              <a:ext cx="5146834" cy="9525"/>
            </a:xfrm>
            <a:custGeom>
              <a:avLst/>
              <a:gdLst/>
              <a:ahLst/>
              <a:cxnLst/>
              <a:rect l="l" t="t" r="r" b="b"/>
              <a:pathLst>
                <a:path w="5146834" h="9525">
                  <a:moveTo>
                    <a:pt x="0" y="0"/>
                  </a:moveTo>
                  <a:lnTo>
                    <a:pt x="5146834" y="0"/>
                  </a:lnTo>
                </a:path>
              </a:pathLst>
            </a:custGeom>
            <a:noFill/>
            <a:ln w="6353">
              <a:solidFill>
                <a:srgbClr val="17375E"/>
              </a:solidFill>
            </a:ln>
          </p:spPr>
        </p:sp>
      </p:grpSp>
      <p:sp>
        <p:nvSpPr>
          <p:cNvPr id="16" name="TextBox 11">
            <a:extLst>
              <a:ext uri="{FF2B5EF4-FFF2-40B4-BE49-F238E27FC236}">
                <a16:creationId xmlns:a16="http://schemas.microsoft.com/office/drawing/2014/main" id="{DDC4214E-97E4-ABB5-13B3-F6C97F7BA4BA}"/>
              </a:ext>
            </a:extLst>
          </p:cNvPr>
          <p:cNvSpPr txBox="1"/>
          <p:nvPr/>
        </p:nvSpPr>
        <p:spPr>
          <a:xfrm>
            <a:off x="624934" y="1434377"/>
            <a:ext cx="2644955" cy="7386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en-US" altLang="zh-CN" sz="4800" b="1" dirty="0">
                <a:solidFill>
                  <a:srgbClr val="17375E"/>
                </a:solidFill>
                <a:latin typeface="Century Gothic"/>
                <a:ea typeface="Microsoft YaHei"/>
                <a:cs typeface="Century Gothic"/>
              </a:rPr>
              <a:t>Contents</a:t>
            </a:r>
            <a:endParaRPr lang="zh-CN" sz="4800" b="1" dirty="0">
              <a:solidFill>
                <a:srgbClr val="17375E"/>
              </a:solidFill>
              <a:latin typeface="Century Gothic"/>
              <a:ea typeface="Microsoft YaHei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864990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-5263374" y="-227994"/>
            <a:ext cx="17933202" cy="11722860"/>
            <a:chOff x="-5400008" y="-227994"/>
            <a:chExt cx="17933202" cy="11722860"/>
          </a:xfrm>
        </p:grpSpPr>
        <p:sp>
          <p:nvSpPr>
            <p:cNvPr id="2" name="Rectangle 2"/>
            <p:cNvSpPr/>
            <p:nvPr/>
          </p:nvSpPr>
          <p:spPr>
            <a:xfrm>
              <a:off x="-557048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Polygon 3"/>
            <p:cNvSpPr/>
            <p:nvPr/>
          </p:nvSpPr>
          <p:spPr>
            <a:xfrm>
              <a:off x="-5400008" y="7052501"/>
              <a:ext cx="10799921" cy="4442365"/>
            </a:xfrm>
            <a:custGeom>
              <a:avLst/>
              <a:gdLst/>
              <a:ahLst/>
              <a:cxnLst/>
              <a:rect l="l" t="t" r="r" b="b"/>
              <a:pathLst>
                <a:path w="10799921" h="4442365">
                  <a:moveTo>
                    <a:pt x="10799921" y="0"/>
                  </a:moveTo>
                  <a:lnTo>
                    <a:pt x="10799921" y="4442365"/>
                  </a:lnTo>
                  <a:lnTo>
                    <a:pt x="0" y="4442365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8684904" y="-227994"/>
              <a:ext cx="3848290" cy="2031492"/>
            </a:xfrm>
            <a:custGeom>
              <a:avLst/>
              <a:gdLst/>
              <a:ahLst/>
              <a:cxnLst/>
              <a:rect l="l" t="t" r="r" b="b"/>
              <a:pathLst>
                <a:path w="3848290" h="2031492">
                  <a:moveTo>
                    <a:pt x="0" y="0"/>
                  </a:moveTo>
                  <a:lnTo>
                    <a:pt x="0" y="448628"/>
                  </a:lnTo>
                  <a:lnTo>
                    <a:pt x="3848290" y="2031492"/>
                  </a:lnTo>
                  <a:lnTo>
                    <a:pt x="3848290" y="1582864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  <p:sp>
          <p:nvSpPr>
            <p:cNvPr id="5" name="Freeform 5"/>
            <p:cNvSpPr/>
            <p:nvPr/>
          </p:nvSpPr>
          <p:spPr>
            <a:xfrm>
              <a:off x="6661690" y="676561"/>
              <a:ext cx="3176778" cy="1677067"/>
            </a:xfrm>
            <a:custGeom>
              <a:avLst/>
              <a:gdLst/>
              <a:ahLst/>
              <a:cxnLst/>
              <a:rect l="l" t="t" r="r" b="b"/>
              <a:pathLst>
                <a:path w="3176778" h="1677067">
                  <a:moveTo>
                    <a:pt x="0" y="0"/>
                  </a:moveTo>
                  <a:lnTo>
                    <a:pt x="0" y="370332"/>
                  </a:lnTo>
                  <a:lnTo>
                    <a:pt x="3176778" y="1677067"/>
                  </a:lnTo>
                  <a:lnTo>
                    <a:pt x="3176778" y="1306735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  <p:sp>
          <p:nvSpPr>
            <p:cNvPr id="6" name="Freeform 6"/>
            <p:cNvSpPr/>
            <p:nvPr/>
          </p:nvSpPr>
          <p:spPr>
            <a:xfrm>
              <a:off x="7938626" y="951405"/>
              <a:ext cx="2510885" cy="1325594"/>
            </a:xfrm>
            <a:custGeom>
              <a:avLst/>
              <a:gdLst/>
              <a:ahLst/>
              <a:cxnLst/>
              <a:rect l="l" t="t" r="r" b="b"/>
              <a:pathLst>
                <a:path w="2510885" h="1325594">
                  <a:moveTo>
                    <a:pt x="0" y="0"/>
                  </a:moveTo>
                  <a:lnTo>
                    <a:pt x="0" y="292703"/>
                  </a:lnTo>
                  <a:lnTo>
                    <a:pt x="2510885" y="1325594"/>
                  </a:lnTo>
                  <a:lnTo>
                    <a:pt x="2510885" y="103279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</p:grpSp>
      <p:grpSp>
        <p:nvGrpSpPr>
          <p:cNvPr id="10" name="Group 10"/>
          <p:cNvGrpSpPr/>
          <p:nvPr/>
        </p:nvGrpSpPr>
        <p:grpSpPr>
          <a:xfrm>
            <a:off x="624934" y="235761"/>
            <a:ext cx="5685091" cy="670560"/>
            <a:chOff x="2800731" y="257444"/>
            <a:chExt cx="5685091" cy="670560"/>
          </a:xfrm>
        </p:grpSpPr>
        <p:sp>
          <p:nvSpPr>
            <p:cNvPr id="8" name="TextBox 8"/>
            <p:cNvSpPr txBox="1"/>
            <p:nvPr/>
          </p:nvSpPr>
          <p:spPr>
            <a:xfrm>
              <a:off x="3807593" y="257444"/>
              <a:ext cx="201168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Southeast University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800731" y="799910"/>
              <a:ext cx="5685091" cy="9525"/>
            </a:xfrm>
            <a:custGeom>
              <a:avLst/>
              <a:gdLst/>
              <a:ahLst/>
              <a:cxnLst/>
              <a:rect l="l" t="t" r="r" b="b"/>
              <a:pathLst>
                <a:path w="5685091" h="9525">
                  <a:moveTo>
                    <a:pt x="0" y="0"/>
                  </a:moveTo>
                  <a:lnTo>
                    <a:pt x="5685091" y="0"/>
                  </a:lnTo>
                </a:path>
              </a:pathLst>
            </a:custGeom>
            <a:noFill/>
            <a:ln w="28575">
              <a:solidFill>
                <a:srgbClr val="17375E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40256" y="1869841"/>
            <a:ext cx="8523167" cy="2819401"/>
            <a:chOff x="877538" y="1590674"/>
            <a:chExt cx="8523167" cy="2819401"/>
          </a:xfrm>
        </p:grpSpPr>
        <p:sp>
          <p:nvSpPr>
            <p:cNvPr id="11" name="TextBox 11"/>
            <p:cNvSpPr txBox="1"/>
            <p:nvPr/>
          </p:nvSpPr>
          <p:spPr>
            <a:xfrm>
              <a:off x="877538" y="1590674"/>
              <a:ext cx="8523167" cy="1477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48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1.</a:t>
              </a:r>
              <a:r>
                <a:rPr lang="zh-CN" altLang="en-US" sz="48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 </a:t>
              </a:r>
              <a:r>
                <a:rPr lang="zh-CN" sz="48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Why Path Tracking </a:t>
              </a:r>
              <a:endParaRPr lang="en-US" altLang="zh-CN" sz="4800" b="1" dirty="0">
                <a:solidFill>
                  <a:srgbClr val="17375E"/>
                </a:solidFill>
                <a:latin typeface="Century Gothic"/>
                <a:ea typeface="Microsoft YaHei"/>
                <a:cs typeface="Century Gothic"/>
              </a:endParaRPr>
            </a:p>
            <a:p>
              <a:pPr algn="l"/>
              <a:r>
                <a:rPr lang="zh-CN" sz="48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Gets Harder at Higher Speed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7538" y="3850731"/>
              <a:ext cx="375189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Problem 1: Theoretical Analysis and Experimental Validation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877538" y="4400550"/>
              <a:ext cx="5146834" cy="9525"/>
            </a:xfrm>
            <a:custGeom>
              <a:avLst/>
              <a:gdLst/>
              <a:ahLst/>
              <a:cxnLst/>
              <a:rect l="l" t="t" r="r" b="b"/>
              <a:pathLst>
                <a:path w="5146834" h="9525">
                  <a:moveTo>
                    <a:pt x="0" y="0"/>
                  </a:moveTo>
                  <a:lnTo>
                    <a:pt x="5146834" y="0"/>
                  </a:lnTo>
                </a:path>
              </a:pathLst>
            </a:custGeom>
            <a:noFill/>
            <a:ln w="6353">
              <a:solidFill>
                <a:srgbClr val="17375E"/>
              </a:solidFill>
            </a:ln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grpSp>
        <p:nvGrpSpPr>
          <p:cNvPr id="6" name="Group 6"/>
          <p:cNvGrpSpPr/>
          <p:nvPr/>
        </p:nvGrpSpPr>
        <p:grpSpPr>
          <a:xfrm>
            <a:off x="1048037" y="511940"/>
            <a:ext cx="6058277" cy="945385"/>
            <a:chOff x="762000" y="207140"/>
            <a:chExt cx="6058277" cy="945385"/>
          </a:xfrm>
        </p:grpSpPr>
        <p:sp>
          <p:nvSpPr>
            <p:cNvPr id="3" name="TextBox 3"/>
            <p:cNvSpPr txBox="1"/>
            <p:nvPr/>
          </p:nvSpPr>
          <p:spPr>
            <a:xfrm>
              <a:off x="825046" y="207140"/>
              <a:ext cx="5995231" cy="7848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The faster you go, the harder it gets, </a:t>
              </a:r>
              <a:endParaRPr lang="en-US" altLang="zh-CN" sz="2550" b="1" dirty="0">
                <a:solidFill>
                  <a:srgbClr val="17375E"/>
                </a:solidFill>
                <a:latin typeface="Century Gothic"/>
                <a:ea typeface="Microsoft YaHei"/>
                <a:cs typeface="Century Gothic"/>
              </a:endParaRPr>
            </a:p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because three things happen at once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10490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085850" y="1866900"/>
            <a:ext cx="10344150" cy="3048000"/>
            <a:chOff x="1085850" y="1866900"/>
            <a:chExt cx="10344150" cy="3048000"/>
          </a:xfrm>
        </p:grpSpPr>
        <p:sp>
          <p:nvSpPr>
            <p:cNvPr id="7" name="Line 7"/>
            <p:cNvSpPr/>
            <p:nvPr/>
          </p:nvSpPr>
          <p:spPr>
            <a:xfrm>
              <a:off x="1333500" y="18669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28575">
              <a:solidFill>
                <a:srgbClr val="17375E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085850" y="1943100"/>
              <a:ext cx="495300" cy="49530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28369" y="2111692"/>
              <a:ext cx="2102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01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1085850" y="3181350"/>
              <a:ext cx="495300" cy="49530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02491" y="334994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02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1085850" y="4419600"/>
              <a:ext cx="495300" cy="49530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02491" y="458819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03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809750" y="2952750"/>
              <a:ext cx="9620250" cy="9525"/>
            </a:xfrm>
            <a:custGeom>
              <a:avLst/>
              <a:gdLst/>
              <a:ahLst/>
              <a:cxnLst/>
              <a:rect l="l" t="t" r="r" b="b"/>
              <a:pathLst>
                <a:path w="9620250" h="9525">
                  <a:moveTo>
                    <a:pt x="0" y="0"/>
                  </a:moveTo>
                  <a:lnTo>
                    <a:pt x="962025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809750" y="4191000"/>
              <a:ext cx="9620250" cy="9525"/>
            </a:xfrm>
            <a:custGeom>
              <a:avLst/>
              <a:gdLst/>
              <a:ahLst/>
              <a:cxnLst/>
              <a:rect l="l" t="t" r="r" b="b"/>
              <a:pathLst>
                <a:path w="9620250" h="9525">
                  <a:moveTo>
                    <a:pt x="0" y="0"/>
                  </a:moveTo>
                  <a:lnTo>
                    <a:pt x="962025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784985" y="1846898"/>
            <a:ext cx="9909175" cy="962977"/>
            <a:chOff x="1784985" y="1846898"/>
            <a:chExt cx="9909175" cy="962977"/>
          </a:xfrm>
        </p:grpSpPr>
        <p:sp>
          <p:nvSpPr>
            <p:cNvPr id="17" name="TextBox 17"/>
            <p:cNvSpPr txBox="1"/>
            <p:nvPr/>
          </p:nvSpPr>
          <p:spPr>
            <a:xfrm>
              <a:off x="1784985" y="1846898"/>
              <a:ext cx="453509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Cornering lateral acceleration grows with the square of speed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90700" y="2200275"/>
              <a:ext cx="45729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Speed 3 → 7 m/s: demand rises from </a:t>
              </a:r>
              <a:r>
                <a:rPr lang="zh-CN" sz="15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0.75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 to </a:t>
              </a:r>
              <a:r>
                <a:rPr lang="zh-CN" sz="15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4.08 m/s²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90700" y="2505075"/>
              <a:ext cx="1636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404040"/>
                  </a:solidFill>
                  <a:latin typeface="Consolas"/>
                  <a:ea typeface="Microsoft YaHei"/>
                  <a:cs typeface="Consolas"/>
                </a:rPr>
                <a:t>aₙ = v²κ</a:t>
              </a:r>
              <a:r>
                <a:rPr lang="zh-CN" sz="1500" b="1" dirty="0">
                  <a:solidFill>
                    <a:srgbClr val="FFC000"/>
                  </a:solidFill>
                  <a:latin typeface="Consolas"/>
                  <a:ea typeface="Microsoft YaHei"/>
                  <a:cs typeface="Consolas"/>
                </a:rPr>
                <a:t> ×5.44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0027325" y="1925002"/>
              <a:ext cx="1666835" cy="276225"/>
            </a:xfrm>
            <a:prstGeom prst="roundRect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423922" y="1983581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Hard physical constraint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784985" y="3085148"/>
            <a:ext cx="10060009" cy="962977"/>
            <a:chOff x="1784985" y="3085148"/>
            <a:chExt cx="10060009" cy="962977"/>
          </a:xfrm>
        </p:grpSpPr>
        <p:sp>
          <p:nvSpPr>
            <p:cNvPr id="23" name="TextBox 23"/>
            <p:cNvSpPr txBox="1"/>
            <p:nvPr/>
          </p:nvSpPr>
          <p:spPr>
            <a:xfrm>
              <a:off x="1784985" y="3085148"/>
              <a:ext cx="734604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Look-ahead distance grows with speed, and the PP steady-state corner cut is proportional to it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90700" y="3438525"/>
              <a:ext cx="584358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Lf rises from </a:t>
              </a:r>
              <a:r>
                <a:rPr lang="zh-CN" sz="15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4.05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 to </a:t>
              </a:r>
              <a:r>
                <a:rPr lang="zh-CN" sz="15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5.12 m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; fitted over 13 controlled runs, R² = 0.99881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90700" y="3743325"/>
              <a:ext cx="337351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404040"/>
                  </a:solidFill>
                  <a:latin typeface="Consolas"/>
                  <a:ea typeface="Microsoft YaHei"/>
                  <a:cs typeface="Consolas"/>
                </a:rPr>
                <a:t>e_ss ≈ 0.93 · (L₀ + 0.35v) · β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654243" y="3631406"/>
              <a:ext cx="2190751" cy="264320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75424" y="36695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Primary cause in this work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784985" y="4323398"/>
            <a:ext cx="9645015" cy="962977"/>
            <a:chOff x="1784985" y="4323398"/>
            <a:chExt cx="9645015" cy="962977"/>
          </a:xfrm>
        </p:grpSpPr>
        <p:sp>
          <p:nvSpPr>
            <p:cNvPr id="29" name="TextBox 29"/>
            <p:cNvSpPr txBox="1"/>
            <p:nvPr/>
          </p:nvSpPr>
          <p:spPr>
            <a:xfrm>
              <a:off x="1784985" y="4323398"/>
              <a:ext cx="603027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Distance travelled per step grows, so available corrections fall as 1/v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90700" y="4676775"/>
              <a:ext cx="56902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Control period is fixed at dt = 0.1 s, so a given corner gets fewer control steps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90700" y="4981575"/>
              <a:ext cx="32700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404040"/>
                  </a:solidFill>
                  <a:latin typeface="Consolas"/>
                  <a:ea typeface="Microsoft YaHei"/>
                  <a:cs typeface="Consolas"/>
                </a:rPr>
                <a:t>Distance per step v·dt: </a:t>
              </a:r>
              <a:r>
                <a:rPr lang="zh-CN" sz="1500" b="1" dirty="0">
                  <a:solidFill>
                    <a:srgbClr val="17375E"/>
                  </a:solidFill>
                  <a:latin typeface="Consolas"/>
                  <a:ea typeface="Microsoft YaHei"/>
                  <a:cs typeface="Consolas"/>
                </a:rPr>
                <a:t>0.3 m → 0.7 m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0267950" y="4381500"/>
              <a:ext cx="1162050" cy="304800"/>
            </a:xfrm>
            <a:prstGeom prst="roundRect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506075" y="4460081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Timing cost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2000" y="5486400"/>
            <a:ext cx="10668000" cy="609600"/>
            <a:chOff x="762000" y="5486400"/>
            <a:chExt cx="10668000" cy="609600"/>
          </a:xfrm>
        </p:grpSpPr>
        <p:sp>
          <p:nvSpPr>
            <p:cNvPr id="35" name="Rectangle 35"/>
            <p:cNvSpPr/>
            <p:nvPr/>
          </p:nvSpPr>
          <p:spPr>
            <a:xfrm>
              <a:off x="762000" y="5486400"/>
              <a:ext cx="10668000" cy="609600"/>
            </a:xfrm>
            <a:prstGeom prst="roundRect">
              <a:avLst>
                <a:gd name="adj" fmla="val 9375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62000" y="5486400"/>
              <a:ext cx="47625" cy="609600"/>
            </a:xfrm>
            <a:prstGeom prst="roundRect">
              <a:avLst>
                <a:gd name="adj" fmla="val 40000"/>
              </a:avLst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09650" y="5695950"/>
              <a:ext cx="76509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Note: </a:t>
              </a:r>
              <a:r>
                <a:rPr lang="zh-CN" sz="1500" b="1" dirty="0">
                  <a:solidFill>
                    <a:srgbClr val="E92E25"/>
                  </a:solidFill>
                  <a:latin typeface="Arial"/>
                  <a:ea typeface="Microsoft YaHei"/>
                  <a:cs typeface="Arial"/>
                </a:rPr>
                <a:t>it is not that “steering runs out”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 —— steady-state steer is speed-independent, and at high speed only </a:t>
              </a:r>
              <a:r>
                <a:rPr lang="zh-CN" sz="15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38%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50570" y="6155150"/>
            <a:ext cx="11441430" cy="545878"/>
            <a:chOff x="750570" y="6155150"/>
            <a:chExt cx="11441430" cy="545878"/>
          </a:xfrm>
        </p:grpSpPr>
        <p:sp>
          <p:nvSpPr>
            <p:cNvPr id="39" name="TextBox 39"/>
            <p:cNvSpPr txBox="1"/>
            <p:nvPr/>
          </p:nvSpPr>
          <p:spPr>
            <a:xfrm>
              <a:off x="750570" y="647509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690068" y="6475095"/>
              <a:ext cx="17513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Problem 1 · Speed and Path-Tracking Difficulty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2010072" y="6155150"/>
              <a:ext cx="181928" cy="54587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2" grpId="0"/>
      <p:bldP spid="28" grpId="0"/>
      <p:bldP spid="34" grpId="0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29615" y="601028"/>
            <a:ext cx="10790753" cy="688974"/>
            <a:chOff x="729615" y="601028"/>
            <a:chExt cx="10790753" cy="688974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01028"/>
              <a:ext cx="397525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Experimental setup and the three speed-dependent quantities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99060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029467" y="1061402"/>
              <a:ext cx="14909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757070"/>
                  </a:solidFill>
                  <a:latin typeface="Century Gothic"/>
                  <a:ea typeface="Microsoft YaHei"/>
                  <a:cs typeface="Century Gothic"/>
                </a:rPr>
                <a:t>SETUP · Three quantities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88194" y="1169194"/>
            <a:ext cx="7073145" cy="500062"/>
            <a:chOff x="788194" y="1169194"/>
            <a:chExt cx="7073145" cy="500062"/>
          </a:xfrm>
        </p:grpSpPr>
        <p:grpSp>
          <p:nvGrpSpPr>
            <p:cNvPr id="16" name="Group 16"/>
            <p:cNvGrpSpPr/>
            <p:nvPr/>
          </p:nvGrpSpPr>
          <p:grpSpPr>
            <a:xfrm>
              <a:off x="788194" y="1169194"/>
              <a:ext cx="166687" cy="148431"/>
              <a:chOff x="788194" y="1169194"/>
              <a:chExt cx="166687" cy="1484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788194" y="1247775"/>
                <a:ext cx="157162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69850">
                    <a:moveTo>
                      <a:pt x="147340" y="0"/>
                    </a:moveTo>
                    <a:cubicBezTo>
                      <a:pt x="152762" y="0"/>
                      <a:pt x="157162" y="4470"/>
                      <a:pt x="157162" y="9980"/>
                    </a:cubicBezTo>
                    <a:lnTo>
                      <a:pt x="157162" y="59870"/>
                    </a:lnTo>
                    <a:cubicBezTo>
                      <a:pt x="157162" y="65380"/>
                      <a:pt x="152762" y="69850"/>
                      <a:pt x="147340" y="69850"/>
                    </a:cubicBezTo>
                    <a:lnTo>
                      <a:pt x="8731" y="69850"/>
                    </a:lnTo>
                    <a:cubicBezTo>
                      <a:pt x="3909" y="69850"/>
                      <a:pt x="0" y="65941"/>
                      <a:pt x="0" y="61119"/>
                    </a:cubicBezTo>
                    <a:lnTo>
                      <a:pt x="0" y="9980"/>
                    </a:lnTo>
                    <a:cubicBezTo>
                      <a:pt x="0" y="4470"/>
                      <a:pt x="4401" y="0"/>
                      <a:pt x="9823" y="0"/>
                    </a:cubicBezTo>
                    <a:lnTo>
                      <a:pt x="147340" y="0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40581" y="1247775"/>
                <a:ext cx="9525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3">
                    <a:moveTo>
                      <a:pt x="0" y="0"/>
                    </a:moveTo>
                    <a:lnTo>
                      <a:pt x="0" y="17463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14388" y="1247775"/>
                <a:ext cx="9525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194">
                    <a:moveTo>
                      <a:pt x="0" y="0"/>
                    </a:moveTo>
                    <a:lnTo>
                      <a:pt x="0" y="26194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66775" y="1247775"/>
                <a:ext cx="9525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194">
                    <a:moveTo>
                      <a:pt x="0" y="0"/>
                    </a:moveTo>
                    <a:lnTo>
                      <a:pt x="0" y="26194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19162" y="1247775"/>
                <a:ext cx="9525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194">
                    <a:moveTo>
                      <a:pt x="0" y="0"/>
                    </a:moveTo>
                    <a:lnTo>
                      <a:pt x="0" y="26194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92969" y="1247775"/>
                <a:ext cx="9525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3">
                    <a:moveTo>
                      <a:pt x="0" y="0"/>
                    </a:moveTo>
                    <a:lnTo>
                      <a:pt x="0" y="17463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88194" y="1169194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88194" y="1186656"/>
                <a:ext cx="1571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9525">
                    <a:moveTo>
                      <a:pt x="0" y="0"/>
                    </a:moveTo>
                    <a:lnTo>
                      <a:pt x="157162" y="0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45356" y="1169194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71562" y="1193006"/>
              <a:ext cx="63707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Platform: vdm_lab kinematic bicycle model · dt = 0.1 s · wheelbase L = 2.50 m · circle radius R = 12.0 m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788194" y="1416844"/>
              <a:ext cx="157162" cy="157162"/>
              <a:chOff x="788194" y="1416844"/>
              <a:chExt cx="157162" cy="15716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88194" y="1416844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78581"/>
                    </a:moveTo>
                    <a:cubicBezTo>
                      <a:pt x="0" y="121980"/>
                      <a:pt x="35182" y="157162"/>
                      <a:pt x="78581" y="157162"/>
                    </a:cubicBezTo>
                    <a:cubicBezTo>
                      <a:pt x="121980" y="157162"/>
                      <a:pt x="157162" y="121980"/>
                      <a:pt x="157162" y="78581"/>
                    </a:cubicBezTo>
                    <a:cubicBezTo>
                      <a:pt x="157162" y="35182"/>
                      <a:pt x="121980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58044" y="1486694"/>
                <a:ext cx="17463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17463" h="17462">
                    <a:moveTo>
                      <a:pt x="0" y="8731"/>
                    </a:moveTo>
                    <a:cubicBezTo>
                      <a:pt x="0" y="13553"/>
                      <a:pt x="3909" y="17462"/>
                      <a:pt x="8731" y="17462"/>
                    </a:cubicBezTo>
                    <a:cubicBezTo>
                      <a:pt x="13553" y="17462"/>
                      <a:pt x="17463" y="13553"/>
                      <a:pt x="17463" y="8731"/>
                    </a:cubicBezTo>
                    <a:cubicBezTo>
                      <a:pt x="17463" y="3909"/>
                      <a:pt x="13553" y="0"/>
                      <a:pt x="8731" y="0"/>
                    </a:cubicBezTo>
                    <a:cubicBezTo>
                      <a:pt x="3909" y="0"/>
                      <a:pt x="0" y="3909"/>
                      <a:pt x="0" y="8731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79086" y="1460500"/>
                <a:ext cx="22614" cy="22614"/>
              </a:xfrm>
              <a:custGeom>
                <a:avLst/>
                <a:gdLst/>
                <a:ahLst/>
                <a:cxnLst/>
                <a:rect l="l" t="t" r="r" b="b"/>
                <a:pathLst>
                  <a:path w="22614" h="22614">
                    <a:moveTo>
                      <a:pt x="0" y="22614"/>
                    </a:moveTo>
                    <a:lnTo>
                      <a:pt x="22614" y="0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23119" y="1451769"/>
                <a:ext cx="43656" cy="43656"/>
              </a:xfrm>
              <a:custGeom>
                <a:avLst/>
                <a:gdLst/>
                <a:ahLst/>
                <a:cxnLst/>
                <a:rect l="l" t="t" r="r" b="b"/>
                <a:pathLst>
                  <a:path w="43656" h="43656">
                    <a:moveTo>
                      <a:pt x="0" y="43656"/>
                    </a:moveTo>
                    <a:cubicBezTo>
                      <a:pt x="0" y="19546"/>
                      <a:pt x="19546" y="0"/>
                      <a:pt x="43656" y="0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71562" y="1440656"/>
              <a:ext cx="67897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Steer limit ±35° · steer-rate limit 45°/s · scope: 3 controllers × 3 speeds = </a:t>
              </a:r>
              <a:r>
                <a:rPr lang="zh-CN" sz="112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9 runs</a:t>
              </a:r>
              <a:r>
                <a:rPr lang="zh-CN" sz="1125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, plus </a:t>
              </a:r>
              <a:r>
                <a:rPr lang="zh-CN" sz="1125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19 additional runs</a:t>
              </a:r>
              <a:r>
                <a:rPr lang="zh-CN" sz="1125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 of controlled experiments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62000" y="1752600"/>
            <a:ext cx="10668000" cy="1400175"/>
            <a:chOff x="762000" y="1752600"/>
            <a:chExt cx="10668000" cy="1400175"/>
          </a:xfrm>
        </p:grpSpPr>
        <p:sp>
          <p:nvSpPr>
            <p:cNvPr id="25" name="Rectangle 25"/>
            <p:cNvSpPr/>
            <p:nvPr/>
          </p:nvSpPr>
          <p:spPr>
            <a:xfrm>
              <a:off x="762000" y="1752600"/>
              <a:ext cx="10668000" cy="34290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19162" y="185975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Quantity (unit)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58058" y="1859756"/>
              <a:ext cx="4943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3 m/s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53558" y="1859756"/>
              <a:ext cx="4943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7 m/s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3691" y="185975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Ratio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33441" y="185975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Law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2000" y="2438400"/>
              <a:ext cx="10668000" cy="3429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14400" y="2162175"/>
              <a:ext cx="19002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Steady-state steer δ (rad)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35406" y="2162175"/>
              <a:ext cx="73968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7375E"/>
                  </a:solidFill>
                  <a:latin typeface="Consolas"/>
                  <a:ea typeface="Microsoft YaHei"/>
                  <a:cs typeface="Consolas"/>
                </a:rPr>
                <a:t>0.2126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630906" y="2162175"/>
              <a:ext cx="73968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7375E"/>
                  </a:solidFill>
                  <a:latin typeface="Consolas"/>
                  <a:ea typeface="Microsoft YaHei"/>
                  <a:cs typeface="Consolas"/>
                </a:rPr>
                <a:t>0.2149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67600" y="220265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Almost unchanged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12530" y="2162175"/>
              <a:ext cx="161544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04040"/>
                  </a:solidFill>
                  <a:latin typeface="Consolas"/>
                  <a:ea typeface="Microsoft YaHei"/>
                  <a:cs typeface="Consolas"/>
                </a:rPr>
                <a:t>δ ≈ arctan(Lκ)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4400" y="2505075"/>
              <a:ext cx="24807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Yaw rate ψ̇ (rad/s)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06653" y="2505075"/>
              <a:ext cx="79719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7375E"/>
                  </a:solidFill>
                  <a:latin typeface="Consolas"/>
                  <a:ea typeface="Microsoft YaHei"/>
                  <a:cs typeface="Consolas"/>
                </a:rPr>
                <a:t>0.2575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602153" y="2505075"/>
              <a:ext cx="79719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7375E"/>
                  </a:solidFill>
                  <a:latin typeface="Consolas"/>
                  <a:ea typeface="Microsoft YaHei"/>
                  <a:cs typeface="Consolas"/>
                </a:rPr>
                <a:t>0.5270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75160" y="2505075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×2.05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34249" y="2505075"/>
              <a:ext cx="7720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04040"/>
                  </a:solidFill>
                  <a:latin typeface="Consolas"/>
                  <a:ea typeface="Microsoft YaHei"/>
                  <a:cs typeface="Consolas"/>
                </a:rPr>
                <a:t>ψ̇ = vκ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4400" y="2847975"/>
              <a:ext cx="24041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Normal acceleration aₙ (m/s²)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69910" y="2847975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7375E"/>
                  </a:solidFill>
                  <a:latin typeface="Consolas"/>
                  <a:ea typeface="Microsoft YaHei"/>
                  <a:cs typeface="Consolas"/>
                </a:rPr>
                <a:t>0.750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94164" y="2847975"/>
              <a:ext cx="6131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7375E"/>
                  </a:solidFill>
                  <a:latin typeface="Consolas"/>
                  <a:ea typeface="Microsoft YaHei"/>
                  <a:cs typeface="Consolas"/>
                </a:rPr>
                <a:t>3.172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75160" y="2847975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C000"/>
                  </a:solidFill>
                  <a:latin typeface="Century Gothic"/>
                  <a:ea typeface="Microsoft YaHei"/>
                  <a:cs typeface="Century Gothic"/>
                </a:rPr>
                <a:t>×4.23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174004" y="2847975"/>
              <a:ext cx="89249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04040"/>
                  </a:solidFill>
                  <a:latin typeface="Consolas"/>
                  <a:ea typeface="Microsoft YaHei"/>
                  <a:cs typeface="Consolas"/>
                </a:rPr>
                <a:t>aₙ = v²κ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762000" y="20955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762000" y="24384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762000" y="27813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762000" y="3124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1333500" y="3276600"/>
            <a:ext cx="9525000" cy="3009900"/>
            <a:chOff x="1333500" y="3276600"/>
            <a:chExt cx="9525000" cy="3009900"/>
          </a:xfrm>
        </p:grpSpPr>
        <p:pic>
          <p:nvPicPr>
            <p:cNvPr id="52" name="Image 5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3500" y="3276600"/>
              <a:ext cx="4514850" cy="3009900"/>
            </a:xfrm>
            <a:prstGeom prst="rect">
              <a:avLst/>
            </a:prstGeom>
          </p:spPr>
        </p:pic>
        <p:pic>
          <p:nvPicPr>
            <p:cNvPr id="53" name="Image 5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43650" y="3276600"/>
              <a:ext cx="4514850" cy="3009900"/>
            </a:xfrm>
            <a:prstGeom prst="rect">
              <a:avLst/>
            </a:prstGeom>
          </p:spPr>
        </p:pic>
      </p:grpSp>
      <p:grpSp>
        <p:nvGrpSpPr>
          <p:cNvPr id="58" name="Group 58"/>
          <p:cNvGrpSpPr/>
          <p:nvPr/>
        </p:nvGrpSpPr>
        <p:grpSpPr>
          <a:xfrm>
            <a:off x="750570" y="6155150"/>
            <a:ext cx="11441430" cy="545878"/>
            <a:chOff x="750570" y="6155150"/>
            <a:chExt cx="11441430" cy="545878"/>
          </a:xfrm>
        </p:grpSpPr>
        <p:sp>
          <p:nvSpPr>
            <p:cNvPr id="55" name="TextBox 55"/>
            <p:cNvSpPr txBox="1"/>
            <p:nvPr/>
          </p:nvSpPr>
          <p:spPr>
            <a:xfrm>
              <a:off x="750570" y="647509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94937" y="6475095"/>
              <a:ext cx="39464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Circle steer is independent of speed; peak aₙ matches v²κ to within 3.42% relative error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2010072" y="6155150"/>
              <a:ext cx="181928" cy="54587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51" grpId="0"/>
      <p:bldP spid="5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28015" y="409070"/>
            <a:ext cx="10816272" cy="591055"/>
            <a:chOff x="628015" y="409070"/>
            <a:chExt cx="10816272" cy="591055"/>
          </a:xfrm>
        </p:grpSpPr>
        <p:sp>
          <p:nvSpPr>
            <p:cNvPr id="3" name="TextBox 3"/>
            <p:cNvSpPr txBox="1"/>
            <p:nvPr/>
          </p:nvSpPr>
          <p:spPr>
            <a:xfrm>
              <a:off x="628015" y="409070"/>
              <a:ext cx="608692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Main cause: the PP corner cut is proportional to the look-ahead distance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95250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043755" y="716756"/>
              <a:ext cx="14005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757070"/>
                  </a:solidFill>
                  <a:latin typeface="Century Gothic"/>
                  <a:ea typeface="Microsoft YaHei"/>
                  <a:cs typeface="Century Gothic"/>
                </a:rPr>
                <a:t>MAIN CAUSE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8194" y="1114634"/>
            <a:ext cx="10641806" cy="1447591"/>
            <a:chOff x="788194" y="1114634"/>
            <a:chExt cx="10641806" cy="1447591"/>
          </a:xfrm>
        </p:grpSpPr>
        <p:grpSp>
          <p:nvGrpSpPr>
            <p:cNvPr id="10" name="Group 10"/>
            <p:cNvGrpSpPr/>
            <p:nvPr/>
          </p:nvGrpSpPr>
          <p:grpSpPr>
            <a:xfrm>
              <a:off x="788194" y="1226344"/>
              <a:ext cx="157162" cy="157162"/>
              <a:chOff x="788194" y="1226344"/>
              <a:chExt cx="157162" cy="1571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788194" y="1348581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2"/>
                    </a:moveTo>
                    <a:cubicBezTo>
                      <a:pt x="0" y="27107"/>
                      <a:pt x="7818" y="34925"/>
                      <a:pt x="17462" y="34925"/>
                    </a:cubicBezTo>
                    <a:cubicBezTo>
                      <a:pt x="27107" y="34925"/>
                      <a:pt x="34925" y="27107"/>
                      <a:pt x="34925" y="17462"/>
                    </a:cubicBezTo>
                    <a:cubicBezTo>
                      <a:pt x="34925" y="7818"/>
                      <a:pt x="27107" y="0"/>
                      <a:pt x="17462" y="0"/>
                    </a:cubicBezTo>
                    <a:cubicBezTo>
                      <a:pt x="7818" y="0"/>
                      <a:pt x="0" y="7818"/>
                      <a:pt x="0" y="17462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10431" y="1226344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17462" y="34925"/>
                    </a:move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2" y="0"/>
                    </a:cubicBezTo>
                    <a:cubicBezTo>
                      <a:pt x="7818" y="0"/>
                      <a:pt x="0" y="7818"/>
                      <a:pt x="0" y="17463"/>
                    </a:cubicBezTo>
                    <a:cubicBezTo>
                      <a:pt x="0" y="27107"/>
                      <a:pt x="7818" y="34925"/>
                      <a:pt x="17462" y="34925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49312" y="1243806"/>
                <a:ext cx="34925" cy="122237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122237">
                    <a:moveTo>
                      <a:pt x="34925" y="0"/>
                    </a:moveTo>
                    <a:cubicBezTo>
                      <a:pt x="25281" y="0"/>
                      <a:pt x="17462" y="7818"/>
                      <a:pt x="17462" y="17462"/>
                    </a:cubicBezTo>
                    <a:lnTo>
                      <a:pt x="17462" y="104775"/>
                    </a:lnTo>
                    <a:cubicBezTo>
                      <a:pt x="17462" y="114419"/>
                      <a:pt x="9644" y="122237"/>
                      <a:pt x="0" y="122237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071562" y="1114634"/>
              <a:ext cx="8117607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Circle tracking at 3 m/s: an actual cut of </a:t>
              </a:r>
              <a:r>
                <a:rPr lang="zh-CN" sz="15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0.437 m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, while the steady-state steer is only </a:t>
              </a:r>
              <a:r>
                <a:rPr lang="zh-CN" sz="15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0.205 rad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 </a:t>
              </a:r>
              <a:endParaRPr lang="en-US" altLang="zh-CN" sz="1500" dirty="0">
                <a:solidFill>
                  <a:srgbClr val="404040"/>
                </a:solidFill>
                <a:latin typeface="Arial"/>
                <a:ea typeface="Microsoft YaHei"/>
                <a:cs typeface="Arial"/>
              </a:endParaRPr>
            </a:p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—— the cut cannot be explained by the steering angle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1085" y="1618298"/>
              <a:ext cx="552191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375E"/>
                  </a:solidFill>
                  <a:latin typeface="Consolas"/>
                  <a:ea typeface="Microsoft YaHei"/>
                  <a:cs typeface="Consolas"/>
                </a:rPr>
                <a:t>e_cut ≈ 0.9302 · (L_f · β) − 0.0280 m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620250" y="1600200"/>
              <a:ext cx="1809750" cy="361950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833241" y="1685925"/>
              <a:ext cx="13837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R² = 0.99881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71562" y="1993106"/>
              <a:ext cx="78906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Regression over 13 controlled runs · max residual 0.0227 m · decisive control: setting lf/lr → (2.5, 0) forces β = 0 → cut −0.0423 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6800" y="2257425"/>
              <a:ext cx="634746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Causal chain: speed v ↑ </a:t>
              </a:r>
              <a:r>
                <a:rPr lang="zh-CN" sz="1500" b="1" dirty="0">
                  <a:solidFill>
                    <a:srgbClr val="FFC000"/>
                  </a:solidFill>
                  <a:latin typeface="Arial"/>
                  <a:ea typeface="Microsoft YaHei"/>
                  <a:cs typeface="Arial"/>
                </a:rPr>
                <a:t>→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 look-ahead L_f = L₀ + 0.35v ↑ </a:t>
              </a:r>
              <a:r>
                <a:rPr lang="zh-CN" sz="1500" b="1" dirty="0">
                  <a:solidFill>
                    <a:srgbClr val="FFC000"/>
                  </a:solidFill>
                  <a:latin typeface="Arial"/>
                  <a:ea typeface="Microsoft YaHei"/>
                  <a:cs typeface="Arial"/>
                </a:rPr>
                <a:t>→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 steady-state cut ↑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57275" y="2686050"/>
            <a:ext cx="10067925" cy="3524250"/>
            <a:chOff x="1057275" y="2686050"/>
            <a:chExt cx="10067925" cy="3524250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7275" y="2686050"/>
              <a:ext cx="4400550" cy="3524250"/>
            </a:xfrm>
            <a:prstGeom prst="rect">
              <a:avLst/>
            </a:prstGeom>
          </p:spPr>
        </p:pic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38825" y="2686050"/>
              <a:ext cx="5286375" cy="3524250"/>
            </a:xfrm>
            <a:prstGeom prst="rect">
              <a:avLst/>
            </a:prstGeom>
          </p:spPr>
        </p:pic>
      </p:grpSp>
      <p:grpSp>
        <p:nvGrpSpPr>
          <p:cNvPr id="24" name="Group 24"/>
          <p:cNvGrpSpPr/>
          <p:nvPr/>
        </p:nvGrpSpPr>
        <p:grpSpPr>
          <a:xfrm>
            <a:off x="750570" y="6155150"/>
            <a:ext cx="11441430" cy="545878"/>
            <a:chOff x="750570" y="6155150"/>
            <a:chExt cx="11441430" cy="545878"/>
          </a:xfrm>
        </p:grpSpPr>
        <p:sp>
          <p:nvSpPr>
            <p:cNvPr id="21" name="TextBox 21"/>
            <p:cNvSpPr txBox="1"/>
            <p:nvPr/>
          </p:nvSpPr>
          <p:spPr>
            <a:xfrm>
              <a:off x="750570" y="647509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20318" y="6475095"/>
              <a:ext cx="43211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Left: 3 m/s circle trajectory and the reference circle; right: cut-vs-look-ahead regression over 13 controlled runs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2010072" y="6155150"/>
              <a:ext cx="181928" cy="54587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29615" y="562928"/>
            <a:ext cx="10873978" cy="799147"/>
            <a:chOff x="729615" y="562928"/>
            <a:chExt cx="10873978" cy="799147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562928"/>
              <a:ext cx="632155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Error rises with speed across the board, but there is a trap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95250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046970" y="1133475"/>
              <a:ext cx="155662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757070"/>
                  </a:solidFill>
                  <a:latin typeface="Century Gothic"/>
                  <a:ea typeface="Microsoft YaHei"/>
                  <a:cs typeface="Century Gothic"/>
                </a:rPr>
                <a:t>EVIDENCE · Error comparison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8194" y="1114425"/>
            <a:ext cx="6100286" cy="304800"/>
            <a:chOff x="788194" y="1114425"/>
            <a:chExt cx="6100286" cy="304800"/>
          </a:xfrm>
        </p:grpSpPr>
        <p:grpSp>
          <p:nvGrpSpPr>
            <p:cNvPr id="9" name="Group 9"/>
            <p:cNvGrpSpPr/>
            <p:nvPr/>
          </p:nvGrpSpPr>
          <p:grpSpPr>
            <a:xfrm>
              <a:off x="788194" y="1146969"/>
              <a:ext cx="157163" cy="87313"/>
              <a:chOff x="788194" y="1146969"/>
              <a:chExt cx="157163" cy="8731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788194" y="1146969"/>
                <a:ext cx="157162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87313">
                    <a:moveTo>
                      <a:pt x="0" y="87313"/>
                    </a:moveTo>
                    <a:lnTo>
                      <a:pt x="52388" y="34925"/>
                    </a:lnTo>
                    <a:lnTo>
                      <a:pt x="87313" y="69850"/>
                    </a:lnTo>
                    <a:lnTo>
                      <a:pt x="157162" y="0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84238" y="1146969"/>
                <a:ext cx="61119" cy="61119"/>
              </a:xfrm>
              <a:custGeom>
                <a:avLst/>
                <a:gdLst/>
                <a:ahLst/>
                <a:cxnLst/>
                <a:rect l="l" t="t" r="r" b="b"/>
                <a:pathLst>
                  <a:path w="61119" h="61119">
                    <a:moveTo>
                      <a:pt x="0" y="0"/>
                    </a:moveTo>
                    <a:lnTo>
                      <a:pt x="61119" y="0"/>
                    </a:lnTo>
                    <a:lnTo>
                      <a:pt x="61119" y="61119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066800" y="1114425"/>
              <a:ext cx="58216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Steady-state and peak lateral error rise together; accuracy ranks </a:t>
              </a:r>
              <a:r>
                <a:rPr lang="zh-CN" sz="15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MPC &gt; LQR &gt; PP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22272" y="1609725"/>
            <a:ext cx="5449753" cy="3469481"/>
            <a:chOff x="1222272" y="1609725"/>
            <a:chExt cx="5449753" cy="3469481"/>
          </a:xfrm>
        </p:grpSpPr>
        <p:sp>
          <p:nvSpPr>
            <p:cNvPr id="12" name="Ellipse 12"/>
            <p:cNvSpPr/>
            <p:nvPr/>
          </p:nvSpPr>
          <p:spPr>
            <a:xfrm>
              <a:off x="1895475" y="1609725"/>
              <a:ext cx="133350" cy="13335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100262" y="1612106"/>
              <a:ext cx="4722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Century Gothic"/>
                  <a:ea typeface="Microsoft YaHei"/>
                  <a:cs typeface="Century Gothic"/>
                </a:rPr>
                <a:t>3 m/s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2943225" y="1609725"/>
              <a:ext cx="133350" cy="13335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148012" y="1612106"/>
              <a:ext cx="4722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Century Gothic"/>
                  <a:ea typeface="Microsoft YaHei"/>
                  <a:cs typeface="Century Gothic"/>
                </a:rPr>
                <a:t>7 m/s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53645" y="1612106"/>
              <a:ext cx="11376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Lateral error (m)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1222272" y="2057400"/>
              <a:ext cx="5449753" cy="3021806"/>
              <a:chOff x="1222272" y="2057400"/>
              <a:chExt cx="5449753" cy="3021806"/>
            </a:xfrm>
          </p:grpSpPr>
          <p:sp>
            <p:nvSpPr>
              <p:cNvPr id="17" name="Line 17"/>
              <p:cNvSpPr/>
              <p:nvPr/>
            </p:nvSpPr>
            <p:spPr>
              <a:xfrm>
                <a:off x="1905000" y="2057400"/>
                <a:ext cx="9525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0">
                    <a:moveTo>
                      <a:pt x="0" y="0"/>
                    </a:moveTo>
                    <a:lnTo>
                      <a:pt x="0" y="2667000"/>
                    </a:lnTo>
                  </a:path>
                </a:pathLst>
              </a:custGeom>
              <a:noFill/>
              <a:ln w="9525">
                <a:solidFill>
                  <a:srgbClr val="D9D9D9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3048000" y="2057400"/>
                <a:ext cx="9525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0">
                    <a:moveTo>
                      <a:pt x="0" y="0"/>
                    </a:moveTo>
                    <a:lnTo>
                      <a:pt x="0" y="2667000"/>
                    </a:lnTo>
                  </a:path>
                </a:pathLst>
              </a:custGeom>
              <a:noFill/>
              <a:ln w="9525">
                <a:solidFill>
                  <a:srgbClr val="D9D9D9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4191000" y="2057400"/>
                <a:ext cx="9525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0">
                    <a:moveTo>
                      <a:pt x="0" y="0"/>
                    </a:moveTo>
                    <a:lnTo>
                      <a:pt x="0" y="2667000"/>
                    </a:lnTo>
                  </a:path>
                </a:pathLst>
              </a:custGeom>
              <a:noFill/>
              <a:ln w="9525">
                <a:solidFill>
                  <a:srgbClr val="D9D9D9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5334000" y="2057400"/>
                <a:ext cx="9525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0">
                    <a:moveTo>
                      <a:pt x="0" y="0"/>
                    </a:moveTo>
                    <a:lnTo>
                      <a:pt x="0" y="2667000"/>
                    </a:lnTo>
                  </a:path>
                </a:pathLst>
              </a:custGeom>
              <a:noFill/>
              <a:ln w="9525">
                <a:solidFill>
                  <a:srgbClr val="D9D9D9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6477000" y="2057400"/>
                <a:ext cx="9525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0">
                    <a:moveTo>
                      <a:pt x="0" y="0"/>
                    </a:moveTo>
                    <a:lnTo>
                      <a:pt x="0" y="2667000"/>
                    </a:lnTo>
                  </a:path>
                </a:pathLst>
              </a:custGeom>
              <a:noFill/>
              <a:ln w="9525">
                <a:solidFill>
                  <a:srgbClr val="D9D9D9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709976" y="4850606"/>
                <a:ext cx="39004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757070"/>
                    </a:solidFill>
                    <a:latin typeface="Consolas"/>
                    <a:ea typeface="Microsoft YaHei"/>
                    <a:cs typeface="Consolas"/>
                  </a:rPr>
                  <a:t>0.20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852976" y="4850606"/>
                <a:ext cx="39004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757070"/>
                    </a:solidFill>
                    <a:latin typeface="Consolas"/>
                    <a:ea typeface="Microsoft YaHei"/>
                    <a:cs typeface="Consolas"/>
                  </a:rPr>
                  <a:t>0.30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995976" y="4850606"/>
                <a:ext cx="39004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757070"/>
                    </a:solidFill>
                    <a:latin typeface="Consolas"/>
                    <a:ea typeface="Microsoft YaHei"/>
                    <a:cs typeface="Consolas"/>
                  </a:rPr>
                  <a:t>0.40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138976" y="4850606"/>
                <a:ext cx="39004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757070"/>
                    </a:solidFill>
                    <a:latin typeface="Consolas"/>
                    <a:ea typeface="Microsoft YaHei"/>
                    <a:cs typeface="Consolas"/>
                  </a:rPr>
                  <a:t>0.50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281976" y="4850606"/>
                <a:ext cx="39004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757070"/>
                    </a:solidFill>
                    <a:latin typeface="Consolas"/>
                    <a:ea typeface="Microsoft YaHei"/>
                    <a:cs typeface="Consolas"/>
                  </a:rPr>
                  <a:t>0.60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222272" y="2343150"/>
                <a:ext cx="463653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b="1" dirty="0">
                    <a:solidFill>
                      <a:srgbClr val="17375E"/>
                    </a:solidFill>
                    <a:latin typeface="Century Gothic"/>
                    <a:ea typeface="Microsoft YaHei"/>
                    <a:cs typeface="Century Gothic"/>
                  </a:rPr>
                  <a:t>MPC</a:t>
                </a:r>
              </a:p>
            </p:txBody>
          </p:sp>
          <p:sp>
            <p:nvSpPr>
              <p:cNvPr id="28" name="Line 28"/>
              <p:cNvSpPr/>
              <p:nvPr/>
            </p:nvSpPr>
            <p:spPr>
              <a:xfrm>
                <a:off x="2202180" y="2438400"/>
                <a:ext cx="139446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94460" h="9525">
                    <a:moveTo>
                      <a:pt x="0" y="0"/>
                    </a:moveTo>
                    <a:lnTo>
                      <a:pt x="1394460" y="0"/>
                    </a:lnTo>
                  </a:path>
                </a:pathLst>
              </a:custGeom>
              <a:noFill/>
              <a:ln w="28575">
                <a:solidFill>
                  <a:srgbClr val="A6A6A6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2125980" y="2362200"/>
                <a:ext cx="152400" cy="152400"/>
              </a:xfrm>
              <a:prstGeom prst="ellipse">
                <a:avLst/>
              </a:prstGeom>
              <a:solidFill>
                <a:srgbClr val="17375E"/>
              </a:solidFill>
              <a:ln>
                <a:noFill/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3520440" y="23622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398151" y="2343150"/>
                <a:ext cx="6706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b="1" dirty="0">
                    <a:solidFill>
                      <a:srgbClr val="17375E"/>
                    </a:solidFill>
                    <a:latin typeface="Consolas"/>
                    <a:ea typeface="Microsoft YaHei"/>
                    <a:cs typeface="Consolas"/>
                  </a:rPr>
                  <a:t>0.226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729990" y="2343150"/>
                <a:ext cx="6706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7375E"/>
                    </a:solidFill>
                    <a:latin typeface="Consolas"/>
                    <a:ea typeface="Microsoft YaHei"/>
                    <a:cs typeface="Consolas"/>
                  </a:rPr>
                  <a:t>0.348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222272" y="3295650"/>
                <a:ext cx="463653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b="1" dirty="0">
                    <a:solidFill>
                      <a:srgbClr val="17375E"/>
                    </a:solidFill>
                    <a:latin typeface="Century Gothic"/>
                    <a:ea typeface="Microsoft YaHei"/>
                    <a:cs typeface="Century Gothic"/>
                  </a:rPr>
                  <a:t>LQR</a:t>
                </a:r>
              </a:p>
            </p:txBody>
          </p:sp>
          <p:sp>
            <p:nvSpPr>
              <p:cNvPr id="34" name="Line 34"/>
              <p:cNvSpPr/>
              <p:nvPr/>
            </p:nvSpPr>
            <p:spPr>
              <a:xfrm>
                <a:off x="3528060" y="3390900"/>
                <a:ext cx="153162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31620" h="9525">
                    <a:moveTo>
                      <a:pt x="0" y="0"/>
                    </a:moveTo>
                    <a:lnTo>
                      <a:pt x="1531620" y="0"/>
                    </a:lnTo>
                  </a:path>
                </a:pathLst>
              </a:custGeom>
              <a:noFill/>
              <a:ln w="28575">
                <a:solidFill>
                  <a:srgbClr val="A6A6A6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3451860" y="3314700"/>
                <a:ext cx="152400" cy="152400"/>
              </a:xfrm>
              <a:prstGeom prst="ellipse">
                <a:avLst/>
              </a:prstGeom>
              <a:solidFill>
                <a:srgbClr val="17375E"/>
              </a:solidFill>
              <a:ln>
                <a:noFill/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4983480" y="33147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2724031" y="3295650"/>
                <a:ext cx="6706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b="1" dirty="0">
                    <a:solidFill>
                      <a:srgbClr val="17375E"/>
                    </a:solidFill>
                    <a:latin typeface="Consolas"/>
                    <a:ea typeface="Microsoft YaHei"/>
                    <a:cs typeface="Consolas"/>
                  </a:rPr>
                  <a:t>0.342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193030" y="3295650"/>
                <a:ext cx="6706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7375E"/>
                    </a:solidFill>
                    <a:latin typeface="Consolas"/>
                    <a:ea typeface="Microsoft YaHei"/>
                    <a:cs typeface="Consolas"/>
                  </a:rPr>
                  <a:t>0.476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394793" y="4248150"/>
                <a:ext cx="29113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b="1" dirty="0">
                    <a:solidFill>
                      <a:srgbClr val="17375E"/>
                    </a:solidFill>
                    <a:latin typeface="Century Gothic"/>
                    <a:ea typeface="Microsoft YaHei"/>
                    <a:cs typeface="Century Gothic"/>
                  </a:rPr>
                  <a:t>PP</a:t>
                </a:r>
              </a:p>
            </p:txBody>
          </p:sp>
          <p:sp>
            <p:nvSpPr>
              <p:cNvPr id="40" name="Line 40"/>
              <p:cNvSpPr/>
              <p:nvPr/>
            </p:nvSpPr>
            <p:spPr>
              <a:xfrm>
                <a:off x="4716780" y="4343400"/>
                <a:ext cx="90297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2970" h="9525">
                    <a:moveTo>
                      <a:pt x="0" y="0"/>
                    </a:moveTo>
                    <a:lnTo>
                      <a:pt x="902970" y="0"/>
                    </a:lnTo>
                  </a:path>
                </a:pathLst>
              </a:custGeom>
              <a:noFill/>
              <a:ln w="28575">
                <a:solidFill>
                  <a:srgbClr val="A6A6A6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4640580" y="4267200"/>
                <a:ext cx="152400" cy="152400"/>
              </a:xfrm>
              <a:prstGeom prst="ellipse">
                <a:avLst/>
              </a:prstGeom>
              <a:solidFill>
                <a:srgbClr val="17375E"/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5543550" y="42672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3912751" y="4248150"/>
                <a:ext cx="6706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b="1" dirty="0">
                    <a:solidFill>
                      <a:srgbClr val="17375E"/>
                    </a:solidFill>
                    <a:latin typeface="Consolas"/>
                    <a:ea typeface="Microsoft YaHei"/>
                    <a:cs typeface="Consolas"/>
                  </a:rPr>
                  <a:t>0.446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753100" y="4248150"/>
                <a:ext cx="6706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7375E"/>
                    </a:solidFill>
                    <a:latin typeface="Consolas"/>
                    <a:ea typeface="Microsoft YaHei"/>
                    <a:cs typeface="Consolas"/>
                  </a:rPr>
                  <a:t>0.525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6953250" y="1714500"/>
            <a:ext cx="4476750" cy="3440906"/>
            <a:chOff x="6953250" y="1714500"/>
            <a:chExt cx="4476750" cy="3440906"/>
          </a:xfrm>
        </p:grpSpPr>
        <p:pic>
          <p:nvPicPr>
            <p:cNvPr id="47" name="Image 4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53250" y="1714500"/>
              <a:ext cx="4476750" cy="3105150"/>
            </a:xfrm>
            <a:prstGeom prst="rect">
              <a:avLst/>
            </a:prstGeom>
          </p:spPr>
        </p:pic>
        <p:sp>
          <p:nvSpPr>
            <p:cNvPr id="48" name="TextBox 48"/>
            <p:cNvSpPr txBox="1"/>
            <p:nvPr/>
          </p:nvSpPr>
          <p:spPr>
            <a:xfrm>
              <a:off x="7558921" y="4926806"/>
              <a:ext cx="32654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PP lateral error over time at 7 m/s: the cut persists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236676" y="5278850"/>
            <a:ext cx="11703525" cy="876300"/>
            <a:chOff x="236676" y="5278850"/>
            <a:chExt cx="11703525" cy="876300"/>
          </a:xfrm>
        </p:grpSpPr>
        <p:sp>
          <p:nvSpPr>
            <p:cNvPr id="50" name="Rectangle 50"/>
            <p:cNvSpPr/>
            <p:nvPr/>
          </p:nvSpPr>
          <p:spPr>
            <a:xfrm>
              <a:off x="236676" y="5278850"/>
              <a:ext cx="11703525" cy="860489"/>
            </a:xfrm>
            <a:prstGeom prst="roundRect">
              <a:avLst>
                <a:gd name="adj" fmla="val 6522"/>
              </a:avLst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61037" y="5278850"/>
              <a:ext cx="47625" cy="876300"/>
            </a:xfrm>
            <a:prstGeom prst="roundRect">
              <a:avLst>
                <a:gd name="adj" fmla="val 40000"/>
              </a:avLst>
            </a:prstGeom>
            <a:solidFill>
              <a:srgbClr val="E92E25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93623" y="5459602"/>
              <a:ext cx="349377" cy="156973"/>
              <a:chOff x="793623" y="5459602"/>
              <a:chExt cx="349377" cy="15697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884238" y="5527079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E92E25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93623" y="5459602"/>
                <a:ext cx="176105" cy="151297"/>
              </a:xfrm>
              <a:custGeom>
                <a:avLst/>
                <a:gdLst/>
                <a:ahLst/>
                <a:cxnLst/>
                <a:rect l="l" t="t" r="r" b="b"/>
                <a:pathLst>
                  <a:path w="176105" h="151297">
                    <a:moveTo>
                      <a:pt x="73763" y="8061"/>
                    </a:moveTo>
                    <a:lnTo>
                      <a:pt x="2987" y="126230"/>
                    </a:lnTo>
                    <a:cubicBezTo>
                      <a:pt x="18" y="131371"/>
                      <a:pt x="0" y="137702"/>
                      <a:pt x="2939" y="142860"/>
                    </a:cubicBezTo>
                    <a:cubicBezTo>
                      <a:pt x="5879" y="148019"/>
                      <a:pt x="11335" y="151230"/>
                      <a:pt x="17271" y="151297"/>
                    </a:cubicBezTo>
                    <a:lnTo>
                      <a:pt x="158840" y="151297"/>
                    </a:lnTo>
                    <a:cubicBezTo>
                      <a:pt x="164774" y="151229"/>
                      <a:pt x="170227" y="148018"/>
                      <a:pt x="173166" y="142863"/>
                    </a:cubicBezTo>
                    <a:cubicBezTo>
                      <a:pt x="176105" y="137707"/>
                      <a:pt x="176089" y="131379"/>
                      <a:pt x="173124" y="126238"/>
                    </a:cubicBezTo>
                    <a:lnTo>
                      <a:pt x="102349" y="8052"/>
                    </a:lnTo>
                    <a:cubicBezTo>
                      <a:pt x="99320" y="3053"/>
                      <a:pt x="93900" y="0"/>
                      <a:pt x="88056" y="0"/>
                    </a:cubicBezTo>
                    <a:cubicBezTo>
                      <a:pt x="82211" y="0"/>
                      <a:pt x="76791" y="3053"/>
                      <a:pt x="73763" y="8052"/>
                    </a:cubicBezTo>
                  </a:path>
                </a:pathLst>
              </a:custGeom>
              <a:noFill/>
              <a:ln w="19050">
                <a:solidFill>
                  <a:srgbClr val="E92E25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133475" y="5607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" y="0"/>
                    </a:lnTo>
                  </a:path>
                </a:pathLst>
              </a:custGeom>
              <a:noFill/>
              <a:ln w="19050">
                <a:solidFill>
                  <a:srgbClr val="E92E25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60343" y="5409604"/>
              <a:ext cx="871347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Trap: looking only at the whole-run mean error reverses the conclusion —— PP's mean error falls from </a:t>
              </a:r>
              <a:r>
                <a:rPr lang="zh-CN" sz="1500" b="1" dirty="0">
                  <a:solidFill>
                    <a:srgbClr val="E92E25"/>
                  </a:solidFill>
                  <a:latin typeface="Arial"/>
                  <a:ea typeface="Microsoft YaHei"/>
                  <a:cs typeface="Arial"/>
                </a:rPr>
                <a:t>0.286 m to 0.275 m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69464" y="5812447"/>
              <a:ext cx="75866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At higher speed the car enters the large-cut state earlier and stays in it longer, averaging out the transition. Difficulty must be judged on the steady segment and the peak value.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750570" y="6155150"/>
            <a:ext cx="11441430" cy="545878"/>
            <a:chOff x="750570" y="6155150"/>
            <a:chExt cx="11441430" cy="545878"/>
          </a:xfrm>
        </p:grpSpPr>
        <p:sp>
          <p:nvSpPr>
            <p:cNvPr id="59" name="TextBox 59"/>
            <p:cNvSpPr txBox="1"/>
            <p:nvPr/>
          </p:nvSpPr>
          <p:spPr>
            <a:xfrm>
              <a:off x="750570" y="647509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941850" y="6475095"/>
              <a:ext cx="34995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Circle R = 12.0 m · steady-segment / peak lateral error · comparison of three controllers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2010072" y="6155150"/>
              <a:ext cx="181928" cy="54587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6" grpId="0"/>
      <p:bldP spid="49" grpId="0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29615" y="562928"/>
            <a:ext cx="10714673" cy="518160"/>
            <a:chOff x="729615" y="562928"/>
            <a:chExt cx="10714673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562928"/>
              <a:ext cx="280211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Conclusions and engineering recommendations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95250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969818" y="716756"/>
              <a:ext cx="14744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757070"/>
                  </a:solidFill>
                  <a:latin typeface="Century Gothic"/>
                  <a:ea typeface="Microsoft YaHei"/>
                  <a:cs typeface="Century Gothic"/>
                </a:rPr>
                <a:t>CONCLUSION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901011" y="1503998"/>
            <a:ext cx="8447485" cy="648652"/>
            <a:chOff x="1901011" y="1503998"/>
            <a:chExt cx="8447485" cy="648652"/>
          </a:xfrm>
        </p:grpSpPr>
        <p:sp>
          <p:nvSpPr>
            <p:cNvPr id="7" name="TextBox 7"/>
            <p:cNvSpPr txBox="1"/>
            <p:nvPr/>
          </p:nvSpPr>
          <p:spPr>
            <a:xfrm>
              <a:off x="2059112" y="1503998"/>
              <a:ext cx="121577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7375E"/>
                  </a:solidFill>
                  <a:latin typeface="Consolas"/>
                  <a:ea typeface="Microsoft YaHei"/>
                  <a:cs typeface="Consolas"/>
                </a:rPr>
                <a:t>aₙ = v²κ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01011" y="1897856"/>
              <a:ext cx="15319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Quadratic · hard physical constraint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4381500" y="1504950"/>
              <a:ext cx="9525" cy="647700"/>
            </a:xfrm>
            <a:custGeom>
              <a:avLst/>
              <a:gdLst/>
              <a:ahLst/>
              <a:cxnLst/>
              <a:rect l="l" t="t" r="r" b="b"/>
              <a:pathLst>
                <a:path w="9525" h="647700">
                  <a:moveTo>
                    <a:pt x="0" y="0"/>
                  </a:moveTo>
                  <a:lnTo>
                    <a:pt x="0" y="64770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069460" y="1503998"/>
              <a:ext cx="20530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7375E"/>
                  </a:solidFill>
                  <a:latin typeface="Consolas"/>
                  <a:ea typeface="Microsoft YaHei"/>
                  <a:cs typeface="Consolas"/>
                </a:rPr>
                <a:t>e_ss ∝ L_f · 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12165" y="1897856"/>
              <a:ext cx="13676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Linear · geometric corner cut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810500" y="1504950"/>
              <a:ext cx="9525" cy="647700"/>
            </a:xfrm>
            <a:custGeom>
              <a:avLst/>
              <a:gdLst/>
              <a:ahLst/>
              <a:cxnLst/>
              <a:rect l="l" t="t" r="r" b="b"/>
              <a:pathLst>
                <a:path w="9525" h="647700">
                  <a:moveTo>
                    <a:pt x="0" y="0"/>
                  </a:moveTo>
                  <a:lnTo>
                    <a:pt x="0" y="64770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745166" y="1503998"/>
              <a:ext cx="155966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7375E"/>
                  </a:solidFill>
                  <a:latin typeface="Consolas"/>
                  <a:ea typeface="Microsoft YaHei"/>
                  <a:cs typeface="Consolas"/>
                </a:rPr>
                <a:t>Δs = v · dt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01504" y="1897856"/>
              <a:ext cx="16469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Order 1/v · fewer correction steps</a:t>
              </a:r>
            </a:p>
          </p:txBody>
        </p:sp>
      </p:grpSp>
      <p:sp>
        <p:nvSpPr>
          <p:cNvPr id="16" name="Line 16"/>
          <p:cNvSpPr/>
          <p:nvPr/>
        </p:nvSpPr>
        <p:spPr>
          <a:xfrm>
            <a:off x="762000" y="24955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grpSp>
        <p:nvGrpSpPr>
          <p:cNvPr id="21" name="Group 21"/>
          <p:cNvGrpSpPr/>
          <p:nvPr/>
        </p:nvGrpSpPr>
        <p:grpSpPr>
          <a:xfrm>
            <a:off x="762000" y="3467100"/>
            <a:ext cx="7380446" cy="819150"/>
            <a:chOff x="762000" y="3467100"/>
            <a:chExt cx="7380446" cy="819150"/>
          </a:xfrm>
        </p:grpSpPr>
        <p:sp>
          <p:nvSpPr>
            <p:cNvPr id="17" name="Ellipse 17"/>
            <p:cNvSpPr/>
            <p:nvPr/>
          </p:nvSpPr>
          <p:spPr>
            <a:xfrm>
              <a:off x="762000" y="3467100"/>
              <a:ext cx="495300" cy="49530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4519" y="3635692"/>
              <a:ext cx="2102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01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37335" y="3589972"/>
              <a:ext cx="393701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Do not scale the look-ahead distance blindly with speed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43050" y="3981450"/>
              <a:ext cx="65993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Switch to curvature feed-forward or a steering-offset compensation, to cancel the steady-state cut caused by L_f · β directly.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4895850"/>
            <a:ext cx="6515100" cy="819150"/>
            <a:chOff x="762000" y="4895850"/>
            <a:chExt cx="6515100" cy="819150"/>
          </a:xfrm>
        </p:grpSpPr>
        <p:sp>
          <p:nvSpPr>
            <p:cNvPr id="22" name="Ellipse 22"/>
            <p:cNvSpPr/>
            <p:nvPr/>
          </p:nvSpPr>
          <p:spPr>
            <a:xfrm>
              <a:off x="762000" y="4895850"/>
              <a:ext cx="495300" cy="49530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78641" y="506444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02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37335" y="5018722"/>
              <a:ext cx="333894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Trigger the end-of-run deceleration on remaining arc length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43050" y="5410200"/>
              <a:ext cx="57340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Braking distance is longer at high speed; triggering on the current distance alone will inevitably overshoot the goal.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50570" y="6155150"/>
            <a:ext cx="11441430" cy="545878"/>
            <a:chOff x="750570" y="6155150"/>
            <a:chExt cx="11441430" cy="545878"/>
          </a:xfrm>
        </p:grpSpPr>
        <p:sp>
          <p:nvSpPr>
            <p:cNvPr id="27" name="TextBox 27"/>
            <p:cNvSpPr txBox="1"/>
            <p:nvPr/>
          </p:nvSpPr>
          <p:spPr>
            <a:xfrm>
              <a:off x="750570" y="647509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52560" y="6475095"/>
              <a:ext cx="23888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The three costs differ in magnitude and must be treated separately in engineering practice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2010072" y="6155150"/>
              <a:ext cx="181928" cy="54587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20"/>
          <p:cNvSpPr/>
          <p:nvPr/>
        </p:nvSpPr>
        <p:spPr>
          <a:xfrm>
            <a:off x="0" y="4670948"/>
            <a:ext cx="5099112" cy="913263"/>
          </a:xfrm>
          <a:custGeom>
            <a:avLst/>
            <a:gdLst>
              <a:gd name="connsiteX0" fmla="*/ 0 w 5099112"/>
              <a:gd name="connsiteY0" fmla="*/ 0 h 913263"/>
              <a:gd name="connsiteX1" fmla="*/ 5099112 w 5099112"/>
              <a:gd name="connsiteY1" fmla="*/ 0 h 913263"/>
              <a:gd name="connsiteX2" fmla="*/ 4498020 w 5099112"/>
              <a:gd name="connsiteY2" fmla="*/ 913263 h 913263"/>
              <a:gd name="connsiteX3" fmla="*/ 0 w 5099112"/>
              <a:gd name="connsiteY3" fmla="*/ 913263 h 913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99112" h="913263">
                <a:moveTo>
                  <a:pt x="0" y="0"/>
                </a:moveTo>
                <a:lnTo>
                  <a:pt x="5099112" y="0"/>
                </a:lnTo>
                <a:lnTo>
                  <a:pt x="4498020" y="913263"/>
                </a:lnTo>
                <a:lnTo>
                  <a:pt x="0" y="913263"/>
                </a:lnTo>
                <a:close/>
              </a:path>
            </a:pathLst>
          </a:custGeom>
          <a:solidFill>
            <a:srgbClr val="1737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/>
        </p:nvSpPr>
        <p:spPr>
          <a:xfrm flipH="1" flipV="1">
            <a:off x="4434659" y="1493294"/>
            <a:ext cx="7757341" cy="1453487"/>
          </a:xfrm>
          <a:custGeom>
            <a:avLst/>
            <a:gdLst>
              <a:gd name="connsiteX0" fmla="*/ 6800683 w 7757341"/>
              <a:gd name="connsiteY0" fmla="*/ 1453487 h 1453487"/>
              <a:gd name="connsiteX1" fmla="*/ 0 w 7757341"/>
              <a:gd name="connsiteY1" fmla="*/ 1453487 h 1453487"/>
              <a:gd name="connsiteX2" fmla="*/ 0 w 7757341"/>
              <a:gd name="connsiteY2" fmla="*/ 0 h 1453487"/>
              <a:gd name="connsiteX3" fmla="*/ 7757341 w 7757341"/>
              <a:gd name="connsiteY3" fmla="*/ 0 h 1453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57341" h="1453487">
                <a:moveTo>
                  <a:pt x="6800683" y="1453487"/>
                </a:moveTo>
                <a:lnTo>
                  <a:pt x="0" y="1453487"/>
                </a:lnTo>
                <a:lnTo>
                  <a:pt x="0" y="0"/>
                </a:lnTo>
                <a:lnTo>
                  <a:pt x="7757341" y="0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/>
        </p:nvSpPr>
        <p:spPr>
          <a:xfrm>
            <a:off x="0" y="1997124"/>
            <a:ext cx="7757341" cy="2906973"/>
          </a:xfrm>
          <a:custGeom>
            <a:avLst/>
            <a:gdLst>
              <a:gd name="connsiteX0" fmla="*/ 0 w 7757341"/>
              <a:gd name="connsiteY0" fmla="*/ 0 h 2906973"/>
              <a:gd name="connsiteX1" fmla="*/ 7757341 w 7757341"/>
              <a:gd name="connsiteY1" fmla="*/ 0 h 2906973"/>
              <a:gd name="connsiteX2" fmla="*/ 5844026 w 7757341"/>
              <a:gd name="connsiteY2" fmla="*/ 2906973 h 2906973"/>
              <a:gd name="connsiteX3" fmla="*/ 0 w 7757341"/>
              <a:gd name="connsiteY3" fmla="*/ 2906973 h 2906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57341" h="2906973">
                <a:moveTo>
                  <a:pt x="0" y="0"/>
                </a:moveTo>
                <a:lnTo>
                  <a:pt x="7757341" y="0"/>
                </a:lnTo>
                <a:lnTo>
                  <a:pt x="5844026" y="2906973"/>
                </a:lnTo>
                <a:lnTo>
                  <a:pt x="0" y="2906973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8135805" y="1750678"/>
            <a:ext cx="2512226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500" dirty="0">
                <a:solidFill>
                  <a:schemeClr val="bg1"/>
                </a:solidFill>
                <a:latin typeface="Century Gothic" panose="020B0502020202020204" pitchFamily="34" charset="0"/>
              </a:rPr>
              <a:t>Part  2.</a:t>
            </a:r>
            <a:endParaRPr lang="zh-CN" altLang="en-US" sz="55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67335" y="2687955"/>
            <a:ext cx="5817235" cy="16630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Three Key Variables </a:t>
            </a:r>
          </a:p>
          <a:p>
            <a:pPr algn="ctr"/>
            <a:r>
              <a:rPr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Analysis</a:t>
            </a:r>
          </a:p>
        </p:txBody>
      </p:sp>
      <p:sp>
        <p:nvSpPr>
          <p:cNvPr id="6" name="矩形 5"/>
          <p:cNvSpPr/>
          <p:nvPr/>
        </p:nvSpPr>
        <p:spPr>
          <a:xfrm>
            <a:off x="12010030" y="6155140"/>
            <a:ext cx="181970" cy="54591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11" grpId="0" bldLvl="0" animBg="1"/>
      <p:bldP spid="22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>
            <a:spLocks noGrp="1"/>
          </p:cNvSpPr>
          <p:nvPr/>
        </p:nvSpPr>
        <p:spPr>
          <a:xfrm>
            <a:off x="677793" y="366987"/>
            <a:ext cx="3345180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zh-CN" sz="27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Experimental Design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289322"/>
            <a:ext cx="204716" cy="66215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18232" y="289322"/>
            <a:ext cx="140562" cy="662157"/>
          </a:xfrm>
          <a:prstGeom prst="rect">
            <a:avLst/>
          </a:prstGeom>
          <a:solidFill>
            <a:srgbClr val="17375E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138" y="67664"/>
            <a:ext cx="1103137" cy="1105291"/>
          </a:xfrm>
          <a:prstGeom prst="rect">
            <a:avLst/>
          </a:prstGeom>
        </p:spPr>
      </p:pic>
      <p:sp>
        <p:nvSpPr>
          <p:cNvPr id="34" name="Main explanation"/>
          <p:cNvSpPr>
            <a:spLocks noGrp="1"/>
          </p:cNvSpPr>
          <p:nvPr/>
        </p:nvSpPr>
        <p:spPr>
          <a:xfrm>
            <a:off x="677545" y="1093470"/>
            <a:ext cx="10842625" cy="494093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Background</a:t>
            </a:r>
            <a:r>
              <a:rPr lang="en-US" altLang="zh-CN" sz="2000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path tracking is a fundamental capability of autonomous driving, requiring the vehicle to follow a reference path accurately</a:t>
            </a: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Objective</a:t>
            </a:r>
            <a:r>
              <a:rPr lang="en-US" altLang="zh-CN" sz="2000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identify the key factors affecting tracking performance and how they act</a:t>
            </a: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Variables studied</a:t>
            </a:r>
            <a:r>
              <a:rPr lang="en-US" altLang="zh-CN" sz="2000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control algorithm, target speed, and path geometry</a:t>
            </a: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Method</a:t>
            </a:r>
            <a:r>
              <a:rPr lang="en-US" altLang="zh-CN" sz="2000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control-variable approach — change one variable at a time while holding the others fixed</a:t>
            </a: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Scope</a:t>
            </a:r>
            <a:r>
              <a:rPr lang="en-US" altLang="zh-CN" sz="2000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ten experiment runs in total, all reaching the goal</a:t>
            </a: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Common settings</a:t>
            </a:r>
            <a:r>
              <a:rPr lang="en-US" altLang="zh-CN" sz="2000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the same vehicle parameters, the same reference implementations, and unified evaluation metrics</a:t>
            </a: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Metrics</a:t>
            </a:r>
            <a:r>
              <a:rPr lang="en-US" altLang="zh-CN" sz="2000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lateral error, steering angle, normal acceleration, yaw rate, and steering rate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>
            <a:spLocks noGrp="1"/>
          </p:cNvSpPr>
          <p:nvPr/>
        </p:nvSpPr>
        <p:spPr>
          <a:xfrm>
            <a:off x="677793" y="366987"/>
            <a:ext cx="3561080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zh-CN" sz="27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Effect of Target Speed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289322"/>
            <a:ext cx="204716" cy="66215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18232" y="289322"/>
            <a:ext cx="140562" cy="662157"/>
          </a:xfrm>
          <a:prstGeom prst="rect">
            <a:avLst/>
          </a:prstGeom>
          <a:solidFill>
            <a:srgbClr val="17375E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Main explanation"/>
          <p:cNvSpPr>
            <a:spLocks noGrp="1"/>
          </p:cNvSpPr>
          <p:nvPr/>
        </p:nvSpPr>
        <p:spPr>
          <a:xfrm>
            <a:off x="762000" y="1757045"/>
            <a:ext cx="4810125" cy="426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zh-CN" altLang="en-US" sz="1875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" name="Slide number"/>
          <p:cNvSpPr>
            <a:spLocks noGrp="1"/>
          </p:cNvSpPr>
          <p:nvPr/>
        </p:nvSpPr>
        <p:spPr>
          <a:xfrm>
            <a:off x="11144250" y="635317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18135" y="1310640"/>
            <a:ext cx="6010910" cy="511937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b="1" dirty="0"/>
              <a:t>Comparison across three speed levels</a:t>
            </a:r>
            <a:r>
              <a:rPr lang="en-US" altLang="zh-CN" sz="1875" dirty="0"/>
              <a:t>: low, medium, and high</a:t>
            </a:r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dirty="0"/>
              <a:t>As speed increases, the mean tracking error changes little</a:t>
            </a:r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dirty="0"/>
              <a:t>The peak error at sharp turns increases markedly, so the difficulty is concentrated in the transient</a:t>
            </a:r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dirty="0"/>
              <a:t>The normal acceleration grows with the square of speed, so the lateral demand rises sharply</a:t>
            </a:r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dirty="0"/>
              <a:t>The yaw rate grows linearly with speed, so the yaw response must be established faster</a:t>
            </a:r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dirty="0"/>
              <a:t>The steady-state steering angle is independent of speed, but the time available for correction shrinks with speed</a:t>
            </a:r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b="1" dirty="0"/>
              <a:t>Conclusion</a:t>
            </a:r>
            <a:r>
              <a:rPr lang="en-US" altLang="zh-CN" sz="1875" dirty="0"/>
              <a:t>: tracking is harder at high speed because of the lateral load and the response time, not because of the steering angle magnitude</a:t>
            </a:r>
          </a:p>
        </p:txBody>
      </p:sp>
      <p:pic>
        <p:nvPicPr>
          <p:cNvPr id="8" name="图片 7" descr="spe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680" y="498475"/>
            <a:ext cx="5407660" cy="6172835"/>
          </a:xfrm>
          <a:prstGeom prst="rect">
            <a:avLst/>
          </a:prstGeom>
        </p:spPr>
      </p:pic>
      <p:pic>
        <p:nvPicPr>
          <p:cNvPr id="4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138" y="67664"/>
            <a:ext cx="1103137" cy="11052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>
            <a:spLocks noGrp="1"/>
          </p:cNvSpPr>
          <p:nvPr/>
        </p:nvSpPr>
        <p:spPr>
          <a:xfrm>
            <a:off x="677793" y="366987"/>
            <a:ext cx="4157980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zh-CN" sz="27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Effect of Control Algorithm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289322"/>
            <a:ext cx="204716" cy="66215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18232" y="289322"/>
            <a:ext cx="140562" cy="662157"/>
          </a:xfrm>
          <a:prstGeom prst="rect">
            <a:avLst/>
          </a:prstGeom>
          <a:solidFill>
            <a:srgbClr val="17375E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Main explanation"/>
          <p:cNvSpPr>
            <a:spLocks noGrp="1"/>
          </p:cNvSpPr>
          <p:nvPr/>
        </p:nvSpPr>
        <p:spPr>
          <a:xfrm>
            <a:off x="618490" y="1285240"/>
            <a:ext cx="5640705" cy="52381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Four algorithms compared</a:t>
            </a:r>
            <a:r>
              <a:rPr lang="en-US" altLang="zh-CN" sz="1875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Pure Pursuit (PP), kinematic LQR, dynamic LQR, and MPC</a:t>
            </a: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PP tracks using geometric relations; it is simple and produces the smoothest control</a:t>
            </a: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Kinematic LQR introduces error feedback, improving accuracy, but changes the steering angle most rapidly</a:t>
            </a: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Dynamic LQR accounts for tire sideslip and achieves the highest tracking accuracy with the smallest error along the path</a:t>
            </a: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MPC plans ahead through receding-horizon optimization, achieving the best endpoint convergence and the most accurate final position</a:t>
            </a: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Conclusion</a:t>
            </a:r>
            <a:r>
              <a:rPr lang="en-US" altLang="zh-CN" sz="1875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no single algorithm is optimal on all metrics; the choice depends on the priority among accuracy, endpoint convergence, and smoothness</a:t>
            </a:r>
          </a:p>
        </p:txBody>
      </p:sp>
      <p:sp>
        <p:nvSpPr>
          <p:cNvPr id="35" name="Slide number"/>
          <p:cNvSpPr>
            <a:spLocks noGrp="1"/>
          </p:cNvSpPr>
          <p:nvPr/>
        </p:nvSpPr>
        <p:spPr>
          <a:xfrm>
            <a:off x="11144250" y="635317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</a:p>
        </p:txBody>
      </p:sp>
      <p:pic>
        <p:nvPicPr>
          <p:cNvPr id="5" name="图片 4" descr="algorith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410" y="495935"/>
            <a:ext cx="5490210" cy="6204585"/>
          </a:xfrm>
          <a:prstGeom prst="rect">
            <a:avLst/>
          </a:prstGeom>
        </p:spPr>
      </p:pic>
      <p:pic>
        <p:nvPicPr>
          <p:cNvPr id="4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138" y="67664"/>
            <a:ext cx="1103137" cy="110529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>
            <a:spLocks noGrp="1"/>
          </p:cNvSpPr>
          <p:nvPr/>
        </p:nvSpPr>
        <p:spPr>
          <a:xfrm>
            <a:off x="669538" y="366987"/>
            <a:ext cx="3834130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zh-CN" sz="27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Effect of Path Geometry</a:t>
            </a:r>
            <a:endParaRPr lang="zh-CN" altLang="en-US" sz="27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289322"/>
            <a:ext cx="204716" cy="66215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18232" y="289322"/>
            <a:ext cx="140562" cy="662157"/>
          </a:xfrm>
          <a:prstGeom prst="rect">
            <a:avLst/>
          </a:prstGeom>
          <a:solidFill>
            <a:srgbClr val="17375E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Main explanation"/>
          <p:cNvSpPr>
            <a:spLocks noGrp="1"/>
          </p:cNvSpPr>
          <p:nvPr/>
        </p:nvSpPr>
        <p:spPr>
          <a:xfrm>
            <a:off x="474345" y="1489710"/>
            <a:ext cx="5621020" cy="47167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Five routes compared</a:t>
            </a:r>
            <a:r>
              <a:rPr lang="en-US" altLang="zh-CN" sz="1875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double lane change, right-angle turn, S-curve, circle, and mixed course</a:t>
            </a: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double lane change involves consecutive lane changes with rapid reversal of curvature sign, stressing the transient response</a:t>
            </a: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right-angle turn has a step change in curvature, producing a prominent error spike</a:t>
            </a: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S-curve alternates positive and negative curvature and is the hardest to track, with the largest peak error</a:t>
            </a: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circular path of constant curvature is the easiest, with the smallest error</a:t>
            </a:r>
          </a:p>
          <a:p>
            <a:pPr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875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Conclusion</a:t>
            </a:r>
            <a:r>
              <a:rPr lang="en-US" altLang="zh-CN" sz="1875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a curvature discontinuity is harder to handle than the curvature magnitude itself; smooth geometry is easier to track</a:t>
            </a:r>
          </a:p>
        </p:txBody>
      </p:sp>
      <p:sp>
        <p:nvSpPr>
          <p:cNvPr id="35" name="Slide number"/>
          <p:cNvSpPr>
            <a:spLocks noGrp="1"/>
          </p:cNvSpPr>
          <p:nvPr/>
        </p:nvSpPr>
        <p:spPr>
          <a:xfrm>
            <a:off x="11144250" y="635317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</a:p>
        </p:txBody>
      </p:sp>
      <p:pic>
        <p:nvPicPr>
          <p:cNvPr id="4" name="图片 3" descr="geomet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590" y="429260"/>
            <a:ext cx="5586730" cy="6306820"/>
          </a:xfrm>
          <a:prstGeom prst="rect">
            <a:avLst/>
          </a:prstGeom>
        </p:spPr>
      </p:pic>
      <p:pic>
        <p:nvPicPr>
          <p:cNvPr id="4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138" y="66394"/>
            <a:ext cx="1103137" cy="11052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>
            <a:spLocks noGrp="1"/>
          </p:cNvSpPr>
          <p:nvPr/>
        </p:nvSpPr>
        <p:spPr>
          <a:xfrm>
            <a:off x="763518" y="444457"/>
            <a:ext cx="1878330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zh-CN" sz="27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Conclusion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289322"/>
            <a:ext cx="204716" cy="66215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18232" y="289322"/>
            <a:ext cx="140562" cy="662157"/>
          </a:xfrm>
          <a:prstGeom prst="rect">
            <a:avLst/>
          </a:prstGeom>
          <a:solidFill>
            <a:srgbClr val="17375E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138" y="180059"/>
            <a:ext cx="1103137" cy="1105291"/>
          </a:xfrm>
          <a:prstGeom prst="rect">
            <a:avLst/>
          </a:prstGeom>
        </p:spPr>
      </p:pic>
      <p:sp>
        <p:nvSpPr>
          <p:cNvPr id="34" name="Main explanation"/>
          <p:cNvSpPr>
            <a:spLocks noGrp="1"/>
          </p:cNvSpPr>
          <p:nvPr/>
        </p:nvSpPr>
        <p:spPr>
          <a:xfrm>
            <a:off x="913130" y="1117600"/>
            <a:ext cx="10260965" cy="52997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control algorithm determines tracking accuracy</a:t>
            </a:r>
            <a:r>
              <a:rPr lang="en-US" altLang="zh-CN" sz="2000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dynamic LQR is the most accurate, MPC has the best endpoint accuracy</a:t>
            </a:r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target speed determines the transient difficulty</a:t>
            </a:r>
            <a:r>
              <a:rPr lang="en-US" altLang="zh-CN" sz="2000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high speed amplifies the peak error at sharp turns</a:t>
            </a:r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en-US" altLang="zh-CN" sz="2000" b="1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path geometry determines the peak error</a:t>
            </a:r>
            <a:r>
              <a:rPr lang="en-US" altLang="zh-CN" sz="2000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a curvature discontinuity is harder to track than its magnitude</a:t>
            </a:r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three variables act on different aspects of tracking and can compound with one another</a:t>
            </a:r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Engineering implications</a:t>
            </a:r>
            <a:r>
              <a:rPr lang="en-US" altLang="zh-CN" sz="2000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choose the algorithm by scenario, reserve a lateral margin at high speed, and smooth the response ahead of sharp turns</a:t>
            </a:r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en-US" altLang="zh-CN" sz="2000" b="0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buClrTx/>
              <a:buSzTx/>
              <a:buNone/>
              <a:defRPr sz="1875" b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b="1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Limitations</a:t>
            </a:r>
            <a:r>
              <a:rPr lang="en-US" altLang="zh-CN" sz="2000" b="0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simplified simulation models; normal acceleration is a reference value; the geometry dimension was verified with only a single algorithm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1BA45-6DBF-DA00-2FE3-96A88F873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B3E457EB-3382-3407-7B57-983BF7A9ABFB}"/>
              </a:ext>
            </a:extLst>
          </p:cNvPr>
          <p:cNvGrpSpPr/>
          <p:nvPr/>
        </p:nvGrpSpPr>
        <p:grpSpPr>
          <a:xfrm>
            <a:off x="-5263374" y="-227994"/>
            <a:ext cx="17933202" cy="11722860"/>
            <a:chOff x="-5400008" y="-227994"/>
            <a:chExt cx="17933202" cy="11722860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9AC5399F-D67E-3F0D-4301-19C18730314A}"/>
                </a:ext>
              </a:extLst>
            </p:cNvPr>
            <p:cNvSpPr/>
            <p:nvPr/>
          </p:nvSpPr>
          <p:spPr>
            <a:xfrm>
              <a:off x="-557048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Polygon 3">
              <a:extLst>
                <a:ext uri="{FF2B5EF4-FFF2-40B4-BE49-F238E27FC236}">
                  <a16:creationId xmlns:a16="http://schemas.microsoft.com/office/drawing/2014/main" id="{8D7D262A-2EFA-0C63-3B5A-955C942AF093}"/>
                </a:ext>
              </a:extLst>
            </p:cNvPr>
            <p:cNvSpPr/>
            <p:nvPr/>
          </p:nvSpPr>
          <p:spPr>
            <a:xfrm>
              <a:off x="-5400008" y="7052501"/>
              <a:ext cx="10799921" cy="4442365"/>
            </a:xfrm>
            <a:custGeom>
              <a:avLst/>
              <a:gdLst/>
              <a:ahLst/>
              <a:cxnLst/>
              <a:rect l="l" t="t" r="r" b="b"/>
              <a:pathLst>
                <a:path w="10799921" h="4442365">
                  <a:moveTo>
                    <a:pt x="10799921" y="0"/>
                  </a:moveTo>
                  <a:lnTo>
                    <a:pt x="10799921" y="4442365"/>
                  </a:lnTo>
                  <a:lnTo>
                    <a:pt x="0" y="4442365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45637A6-13DC-5A40-5E97-35E155FC1ABF}"/>
                </a:ext>
              </a:extLst>
            </p:cNvPr>
            <p:cNvSpPr/>
            <p:nvPr/>
          </p:nvSpPr>
          <p:spPr>
            <a:xfrm>
              <a:off x="8684904" y="-227994"/>
              <a:ext cx="3848290" cy="2031492"/>
            </a:xfrm>
            <a:custGeom>
              <a:avLst/>
              <a:gdLst/>
              <a:ahLst/>
              <a:cxnLst/>
              <a:rect l="l" t="t" r="r" b="b"/>
              <a:pathLst>
                <a:path w="3848290" h="2031492">
                  <a:moveTo>
                    <a:pt x="0" y="0"/>
                  </a:moveTo>
                  <a:lnTo>
                    <a:pt x="0" y="448628"/>
                  </a:lnTo>
                  <a:lnTo>
                    <a:pt x="3848290" y="2031492"/>
                  </a:lnTo>
                  <a:lnTo>
                    <a:pt x="3848290" y="1582864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92E59F1-B4AF-127E-3831-7603439B74B8}"/>
                </a:ext>
              </a:extLst>
            </p:cNvPr>
            <p:cNvSpPr/>
            <p:nvPr/>
          </p:nvSpPr>
          <p:spPr>
            <a:xfrm>
              <a:off x="6661690" y="676561"/>
              <a:ext cx="3176778" cy="1677067"/>
            </a:xfrm>
            <a:custGeom>
              <a:avLst/>
              <a:gdLst/>
              <a:ahLst/>
              <a:cxnLst/>
              <a:rect l="l" t="t" r="r" b="b"/>
              <a:pathLst>
                <a:path w="3176778" h="1677067">
                  <a:moveTo>
                    <a:pt x="0" y="0"/>
                  </a:moveTo>
                  <a:lnTo>
                    <a:pt x="0" y="370332"/>
                  </a:lnTo>
                  <a:lnTo>
                    <a:pt x="3176778" y="1677067"/>
                  </a:lnTo>
                  <a:lnTo>
                    <a:pt x="3176778" y="1306735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523E557-C0AE-0A56-3142-E338FE95017F}"/>
                </a:ext>
              </a:extLst>
            </p:cNvPr>
            <p:cNvSpPr/>
            <p:nvPr/>
          </p:nvSpPr>
          <p:spPr>
            <a:xfrm>
              <a:off x="7938626" y="951405"/>
              <a:ext cx="2510885" cy="1325594"/>
            </a:xfrm>
            <a:custGeom>
              <a:avLst/>
              <a:gdLst/>
              <a:ahLst/>
              <a:cxnLst/>
              <a:rect l="l" t="t" r="r" b="b"/>
              <a:pathLst>
                <a:path w="2510885" h="1325594">
                  <a:moveTo>
                    <a:pt x="0" y="0"/>
                  </a:moveTo>
                  <a:lnTo>
                    <a:pt x="0" y="292703"/>
                  </a:lnTo>
                  <a:lnTo>
                    <a:pt x="2510885" y="1325594"/>
                  </a:lnTo>
                  <a:lnTo>
                    <a:pt x="2510885" y="103279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BE89E2F-C109-4A71-F733-A4D0B80B21CB}"/>
              </a:ext>
            </a:extLst>
          </p:cNvPr>
          <p:cNvGrpSpPr/>
          <p:nvPr/>
        </p:nvGrpSpPr>
        <p:grpSpPr>
          <a:xfrm>
            <a:off x="624934" y="235761"/>
            <a:ext cx="5685091" cy="670560"/>
            <a:chOff x="2800731" y="257444"/>
            <a:chExt cx="5685091" cy="670560"/>
          </a:xfrm>
        </p:grpSpPr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FE75AEB-BE37-5113-48B3-FF836C46341F}"/>
                </a:ext>
              </a:extLst>
            </p:cNvPr>
            <p:cNvSpPr txBox="1"/>
            <p:nvPr/>
          </p:nvSpPr>
          <p:spPr>
            <a:xfrm>
              <a:off x="3807593" y="257444"/>
              <a:ext cx="201168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Southeast University</a:t>
              </a:r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3F551DB2-0F2A-9204-0EA6-35E68C599484}"/>
                </a:ext>
              </a:extLst>
            </p:cNvPr>
            <p:cNvSpPr/>
            <p:nvPr/>
          </p:nvSpPr>
          <p:spPr>
            <a:xfrm>
              <a:off x="2800731" y="799910"/>
              <a:ext cx="5685091" cy="9525"/>
            </a:xfrm>
            <a:custGeom>
              <a:avLst/>
              <a:gdLst/>
              <a:ahLst/>
              <a:cxnLst/>
              <a:rect l="l" t="t" r="r" b="b"/>
              <a:pathLst>
                <a:path w="5685091" h="9525">
                  <a:moveTo>
                    <a:pt x="0" y="0"/>
                  </a:moveTo>
                  <a:lnTo>
                    <a:pt x="5685091" y="0"/>
                  </a:lnTo>
                </a:path>
              </a:pathLst>
            </a:custGeom>
            <a:noFill/>
            <a:ln w="28575">
              <a:solidFill>
                <a:srgbClr val="17375E"/>
              </a:solidFill>
            </a:ln>
          </p:spPr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A2AEF226-C5F3-A905-5FD4-7600F4D77E21}"/>
              </a:ext>
            </a:extLst>
          </p:cNvPr>
          <p:cNvGrpSpPr/>
          <p:nvPr/>
        </p:nvGrpSpPr>
        <p:grpSpPr>
          <a:xfrm>
            <a:off x="420414" y="1857726"/>
            <a:ext cx="10897214" cy="2819401"/>
            <a:chOff x="877538" y="1590674"/>
            <a:chExt cx="10897214" cy="2819401"/>
          </a:xfrm>
        </p:grpSpPr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8747973-7AB3-B397-44C9-E4BF0ED44235}"/>
                </a:ext>
              </a:extLst>
            </p:cNvPr>
            <p:cNvSpPr txBox="1"/>
            <p:nvPr/>
          </p:nvSpPr>
          <p:spPr>
            <a:xfrm>
              <a:off x="877538" y="1590674"/>
              <a:ext cx="10897214" cy="1477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48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3.Which Vehicle Model </a:t>
              </a:r>
            </a:p>
            <a:p>
              <a:r>
                <a:rPr lang="en-US" altLang="zh-CN" sz="48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Explains What We Actually Observe?</a:t>
              </a:r>
              <a:endParaRPr lang="zh-CN" sz="4800" b="1" dirty="0">
                <a:solidFill>
                  <a:srgbClr val="17375E"/>
                </a:solidFill>
                <a:latin typeface="Century Gothic"/>
                <a:ea typeface="Microsoft YaHei"/>
                <a:cs typeface="Century Gothic"/>
              </a:endParaRP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9C2566C3-60E3-9D4F-CD7C-F346CD67E4E3}"/>
                </a:ext>
              </a:extLst>
            </p:cNvPr>
            <p:cNvSpPr txBox="1"/>
            <p:nvPr/>
          </p:nvSpPr>
          <p:spPr>
            <a:xfrm>
              <a:off x="877538" y="3850731"/>
              <a:ext cx="10450618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sz="19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Problem </a:t>
              </a:r>
              <a:r>
                <a:rPr lang="en-US" altLang="zh-CN" sz="19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3</a:t>
              </a:r>
              <a:r>
                <a:rPr lang="zh-CN" sz="19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:</a:t>
              </a:r>
              <a:r>
                <a:rPr lang="en-US" altLang="zh-CN" sz="19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Model Reconstruction and Comparative Analysis of Kinematic and Dynamic Models</a:t>
              </a:r>
              <a:endParaRPr lang="zh-CN" sz="1950" dirty="0">
                <a:solidFill>
                  <a:srgbClr val="404040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5F78840F-D771-9D7A-1496-8B310730483A}"/>
                </a:ext>
              </a:extLst>
            </p:cNvPr>
            <p:cNvSpPr/>
            <p:nvPr/>
          </p:nvSpPr>
          <p:spPr>
            <a:xfrm>
              <a:off x="877538" y="4400550"/>
              <a:ext cx="5146834" cy="9525"/>
            </a:xfrm>
            <a:custGeom>
              <a:avLst/>
              <a:gdLst/>
              <a:ahLst/>
              <a:cxnLst/>
              <a:rect l="l" t="t" r="r" b="b"/>
              <a:pathLst>
                <a:path w="5146834" h="9525">
                  <a:moveTo>
                    <a:pt x="0" y="0"/>
                  </a:moveTo>
                  <a:lnTo>
                    <a:pt x="5146834" y="0"/>
                  </a:lnTo>
                </a:path>
              </a:pathLst>
            </a:custGeom>
            <a:noFill/>
            <a:ln w="6353">
              <a:solidFill>
                <a:srgbClr val="17375E"/>
              </a:solidFill>
            </a:ln>
          </p:spPr>
        </p:sp>
      </p:grpSp>
    </p:spTree>
    <p:extLst>
      <p:ext uri="{BB962C8B-B14F-4D97-AF65-F5344CB8AC3E}">
        <p14:creationId xmlns:p14="http://schemas.microsoft.com/office/powerpoint/2010/main" val="3315275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132EF7C-B703-46F1-918E-C549EA163167}"/>
              </a:ext>
            </a:extLst>
          </p:cNvPr>
          <p:cNvSpPr>
            <a:spLocks noGrp="1"/>
          </p:cNvSpPr>
          <p:nvPr/>
        </p:nvSpPr>
        <p:spPr>
          <a:xfrm>
            <a:off x="677793" y="231097"/>
            <a:ext cx="971550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Vehicle Models and Path Tracking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1C2A83-CBDF-42D2-901B-1D5859572DB6}"/>
              </a:ext>
            </a:extLst>
          </p:cNvPr>
          <p:cNvSpPr>
            <a:spLocks noGrp="1"/>
          </p:cNvSpPr>
          <p:nvPr/>
        </p:nvSpPr>
        <p:spPr>
          <a:xfrm>
            <a:off x="759681" y="732705"/>
            <a:ext cx="97155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50" b="0" i="0" u="none" cap="none" spc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Model reconstruction and evidence from 31 experiments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49F3AD-EF6D-4E14-8F0D-E304A6C5634F}"/>
              </a:ext>
            </a:extLst>
          </p:cNvPr>
          <p:cNvSpPr>
            <a:spLocks noGrp="1"/>
          </p:cNvSpPr>
          <p:nvPr/>
        </p:nvSpPr>
        <p:spPr>
          <a:xfrm>
            <a:off x="0" y="289322"/>
            <a:ext cx="204716" cy="66215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F690B65-39E4-4CFE-97BB-D4BFDF2D637B}"/>
              </a:ext>
            </a:extLst>
          </p:cNvPr>
          <p:cNvSpPr>
            <a:spLocks noGrp="1"/>
          </p:cNvSpPr>
          <p:nvPr/>
        </p:nvSpPr>
        <p:spPr>
          <a:xfrm>
            <a:off x="318232" y="289322"/>
            <a:ext cx="140562" cy="662157"/>
          </a:xfrm>
          <a:prstGeom prst="rect">
            <a:avLst/>
          </a:prstGeom>
          <a:solidFill>
            <a:srgbClr val="17375E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138" y="180059"/>
            <a:ext cx="1103137" cy="1105291"/>
          </a:xfrm>
          <a:prstGeom prst="rect">
            <a:avLst/>
          </a:prstGeom>
        </p:spPr>
      </p:pic>
      <p:sp>
        <p:nvSpPr>
          <p:cNvPr id="34" name="Main explanation">
            <a:extLst>
              <a:ext uri="{FF2B5EF4-FFF2-40B4-BE49-F238E27FC236}">
                <a16:creationId xmlns:a16="http://schemas.microsoft.com/office/drawing/2014/main" id="{386C42A7-C198-4CA6-90C8-B425701F5A94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4810125" cy="426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875" dirty="0">
                <a:solidFill>
                  <a:srgbClr val="404040"/>
                </a:solidFill>
                <a:latin typeface="Arial"/>
                <a:ea typeface="Arial"/>
                <a:cs typeface="Arial"/>
              </a:rPr>
              <a:t>We tested two vehicle models and four control methods in 31 experiments.</a:t>
            </a:r>
          </a:p>
          <a:p>
            <a:endParaRPr sz="1875" b="0" dirty="0">
              <a:solidFill>
                <a:srgbClr val="404040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404040"/>
                </a:solidFill>
                <a:latin typeface="Arial"/>
                <a:ea typeface="Arial"/>
                <a:cs typeface="Arial"/>
              </a:rPr>
              <a:t>Thirty tests finished the planned route. The only unfinished test was MPC on the long GPX route.</a:t>
            </a:r>
          </a:p>
          <a:p>
            <a:endParaRPr sz="1875" b="0" dirty="0">
              <a:solidFill>
                <a:srgbClr val="404040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875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404040"/>
                </a:solidFill>
                <a:latin typeface="Arial"/>
                <a:ea typeface="Arial"/>
                <a:cs typeface="Arial"/>
              </a:rPr>
              <a:t>The chart shows where that one incomplete run occurred. Later slides compare accuracy, steering behavior and route completion.</a:t>
            </a:r>
          </a:p>
        </p:txBody>
      </p:sp>
      <p:sp>
        <p:nvSpPr>
          <p:cNvPr id="35" name="Slide number">
            <a:extLst>
              <a:ext uri="{FF2B5EF4-FFF2-40B4-BE49-F238E27FC236}">
                <a16:creationId xmlns:a16="http://schemas.microsoft.com/office/drawing/2014/main" id="{E696ACBF-598A-4269-B9C8-54181F6AB9FF}"/>
              </a:ext>
            </a:extLst>
          </p:cNvPr>
          <p:cNvSpPr>
            <a:spLocks noGrp="1"/>
          </p:cNvSpPr>
          <p:nvPr/>
        </p:nvSpPr>
        <p:spPr>
          <a:xfrm>
            <a:off x="11144250" y="635317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757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7" name="Scope">
            <a:extLst>
              <a:ext uri="{FF2B5EF4-FFF2-40B4-BE49-F238E27FC236}">
                <a16:creationId xmlns:a16="http://schemas.microsoft.com/office/drawing/2014/main" id="{BB7B7034-2D38-4CCC-A467-73489A58F276}"/>
              </a:ext>
            </a:extLst>
          </p:cNvPr>
          <p:cNvSpPr>
            <a:spLocks noGrp="1"/>
          </p:cNvSpPr>
          <p:nvPr/>
        </p:nvSpPr>
        <p:spPr>
          <a:xfrm>
            <a:off x="762000" y="6067425"/>
            <a:ext cx="1000125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A6A6A"/>
                </a:solidFill>
                <a:latin typeface="Arial"/>
                <a:ea typeface="Arial"/>
                <a:cs typeface="Arial"/>
              </a:rPr>
              <a:t>31 experiments: 16 route comparisons, 9 circle runs, 2 steering-limit runs and 4 GPX runs.</a:t>
            </a:r>
          </a:p>
        </p:txBody>
      </p:sp>
      <p:graphicFrame>
        <p:nvGraphicFramePr>
          <p:cNvPr id="48" name="Chart"/>
          <p:cNvGraphicFramePr/>
          <p:nvPr/>
        </p:nvGraphicFramePr>
        <p:xfrm>
          <a:off x="5810250" y="1695450"/>
          <a:ext cx="5905500" cy="4048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02217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19BA743-61CB-41C3-91FF-709B232F9133}"/>
              </a:ext>
            </a:extLst>
          </p:cNvPr>
          <p:cNvSpPr>
            <a:spLocks noGrp="1"/>
          </p:cNvSpPr>
          <p:nvPr/>
        </p:nvSpPr>
        <p:spPr>
          <a:xfrm>
            <a:off x="677793" y="231097"/>
            <a:ext cx="971550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Kinematic Model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D64FBC-A101-400A-AD5E-D1BE76FE26A3}"/>
              </a:ext>
            </a:extLst>
          </p:cNvPr>
          <p:cNvSpPr>
            <a:spLocks noGrp="1"/>
          </p:cNvSpPr>
          <p:nvPr/>
        </p:nvSpPr>
        <p:spPr>
          <a:xfrm>
            <a:off x="759681" y="732705"/>
            <a:ext cx="97155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50" b="0" i="0" u="none" cap="none" spc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Pure rolling constraints determine the motion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84C91EE-D727-41AF-8A63-CABA210DDFF8}"/>
              </a:ext>
            </a:extLst>
          </p:cNvPr>
          <p:cNvSpPr>
            <a:spLocks noGrp="1"/>
          </p:cNvSpPr>
          <p:nvPr/>
        </p:nvSpPr>
        <p:spPr>
          <a:xfrm>
            <a:off x="0" y="289322"/>
            <a:ext cx="204716" cy="66215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D94345B-3A7A-43FE-AFB7-9A80028E99F0}"/>
              </a:ext>
            </a:extLst>
          </p:cNvPr>
          <p:cNvSpPr>
            <a:spLocks noGrp="1"/>
          </p:cNvSpPr>
          <p:nvPr/>
        </p:nvSpPr>
        <p:spPr>
          <a:xfrm>
            <a:off x="318232" y="289322"/>
            <a:ext cx="140562" cy="662157"/>
          </a:xfrm>
          <a:prstGeom prst="rect">
            <a:avLst/>
          </a:prstGeom>
          <a:solidFill>
            <a:srgbClr val="17375E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57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138" y="180059"/>
            <a:ext cx="1103137" cy="1105291"/>
          </a:xfrm>
          <a:prstGeom prst="rect">
            <a:avLst/>
          </a:prstGeom>
        </p:spPr>
      </p:pic>
      <p:sp>
        <p:nvSpPr>
          <p:cNvPr id="34" name="Main explanation">
            <a:extLst>
              <a:ext uri="{FF2B5EF4-FFF2-40B4-BE49-F238E27FC236}">
                <a16:creationId xmlns:a16="http://schemas.microsoft.com/office/drawing/2014/main" id="{339444FE-C602-4F9D-87CD-6CA1ED457AC1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4810125" cy="426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404040"/>
                </a:solidFill>
                <a:latin typeface="Arial"/>
                <a:ea typeface="Arial"/>
                <a:cs typeface="Arial"/>
              </a:rPr>
              <a:t>The kinematic model uses speed, steering angle and car size to describe motion. It assumes that the wheels roll without sideways slip.</a:t>
            </a:r>
          </a:p>
          <a:p>
            <a:pPr>
              <a:buNone/>
              <a:defRPr sz="1725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endParaRPr sz="1725" b="0" dirty="0">
              <a:solidFill>
                <a:srgbClr val="404040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725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endParaRPr sz="1725" dirty="0">
              <a:solidFill>
                <a:srgbClr val="404040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575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404040"/>
                </a:solidFill>
                <a:latin typeface="Arial"/>
                <a:ea typeface="Arial"/>
                <a:cs typeface="Arial"/>
              </a:rPr>
              <a:t>The formulas below calculate turning and position from geometry.</a:t>
            </a:r>
          </a:p>
          <a:p>
            <a:pPr>
              <a:buNone/>
              <a:defRPr sz="1725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endParaRPr sz="1575" b="0" dirty="0">
              <a:solidFill>
                <a:srgbClr val="404040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575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endParaRPr sz="1575" dirty="0">
              <a:solidFill>
                <a:srgbClr val="4040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lide number">
            <a:extLst>
              <a:ext uri="{FF2B5EF4-FFF2-40B4-BE49-F238E27FC236}">
                <a16:creationId xmlns:a16="http://schemas.microsoft.com/office/drawing/2014/main" id="{9534E56A-0651-49D0-83FF-A1844C866A74}"/>
              </a:ext>
            </a:extLst>
          </p:cNvPr>
          <p:cNvSpPr>
            <a:spLocks noGrp="1"/>
          </p:cNvSpPr>
          <p:nvPr/>
        </p:nvSpPr>
        <p:spPr>
          <a:xfrm>
            <a:off x="11144250" y="635317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75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9" name="Kin diagram title">
            <a:extLst>
              <a:ext uri="{FF2B5EF4-FFF2-40B4-BE49-F238E27FC236}">
                <a16:creationId xmlns:a16="http://schemas.microsoft.com/office/drawing/2014/main" id="{4EC14DED-B31D-4256-9A3E-2D4184534F26}"/>
              </a:ext>
            </a:extLst>
          </p:cNvPr>
          <p:cNvSpPr>
            <a:spLocks noGrp="1"/>
          </p:cNvSpPr>
          <p:nvPr/>
        </p:nvSpPr>
        <p:spPr>
          <a:xfrm>
            <a:off x="6429375" y="1581150"/>
            <a:ext cx="4619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500" b="1">
                <a:solidFill>
                  <a:srgbClr val="193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385D"/>
                </a:solidFill>
                <a:latin typeface="Arial"/>
                <a:ea typeface="Arial"/>
                <a:cs typeface="Arial"/>
              </a:rPr>
              <a:t>Kinematic bicycle model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2C65C1D-A1B2-68B2-7B0D-13E476668D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877" y="1945821"/>
            <a:ext cx="4258752" cy="361405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5DFE456-E2E9-27E5-B28C-F742CB2559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99" y="3905828"/>
            <a:ext cx="4951244" cy="207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159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3131BB3-2478-4CFD-AD0A-334FE01EF4B1}"/>
              </a:ext>
            </a:extLst>
          </p:cNvPr>
          <p:cNvSpPr>
            <a:spLocks noGrp="1"/>
          </p:cNvSpPr>
          <p:nvPr/>
        </p:nvSpPr>
        <p:spPr>
          <a:xfrm>
            <a:off x="677793" y="231097"/>
            <a:ext cx="971550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Dynamic Model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D01F4D-583B-44D1-AE0A-3B1AA9AD18E7}"/>
              </a:ext>
            </a:extLst>
          </p:cNvPr>
          <p:cNvSpPr>
            <a:spLocks noGrp="1"/>
          </p:cNvSpPr>
          <p:nvPr/>
        </p:nvSpPr>
        <p:spPr>
          <a:xfrm>
            <a:off x="759681" y="732705"/>
            <a:ext cx="97155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50" b="0" i="0" u="none" cap="none" spc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Tire forces determine lateral and yaw response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FE092EE-66C3-4599-98D1-EEA45B024D9A}"/>
              </a:ext>
            </a:extLst>
          </p:cNvPr>
          <p:cNvSpPr>
            <a:spLocks noGrp="1"/>
          </p:cNvSpPr>
          <p:nvPr/>
        </p:nvSpPr>
        <p:spPr>
          <a:xfrm>
            <a:off x="0" y="289322"/>
            <a:ext cx="204716" cy="66215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96DA929-E3E2-4405-B1AF-534E6F73F714}"/>
              </a:ext>
            </a:extLst>
          </p:cNvPr>
          <p:cNvSpPr>
            <a:spLocks noGrp="1"/>
          </p:cNvSpPr>
          <p:nvPr/>
        </p:nvSpPr>
        <p:spPr>
          <a:xfrm>
            <a:off x="318232" y="289322"/>
            <a:ext cx="140562" cy="662157"/>
          </a:xfrm>
          <a:prstGeom prst="rect">
            <a:avLst/>
          </a:prstGeom>
          <a:solidFill>
            <a:srgbClr val="17375E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56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138" y="180059"/>
            <a:ext cx="1103137" cy="1105291"/>
          </a:xfrm>
          <a:prstGeom prst="rect">
            <a:avLst/>
          </a:prstGeom>
        </p:spPr>
      </p:pic>
      <p:sp>
        <p:nvSpPr>
          <p:cNvPr id="34" name="Main explanation">
            <a:extLst>
              <a:ext uri="{FF2B5EF4-FFF2-40B4-BE49-F238E27FC236}">
                <a16:creationId xmlns:a16="http://schemas.microsoft.com/office/drawing/2014/main" id="{4A77DD80-C66C-4C0A-9B79-8332F58FAF28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4810125" cy="426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404040"/>
                </a:solidFill>
                <a:latin typeface="Arial"/>
                <a:ea typeface="Arial"/>
                <a:cs typeface="Arial"/>
              </a:rPr>
              <a:t>The dynamic model also considers tire forces, vehicle mass and resistance to turning. It describes sideways motion and yaw response.</a:t>
            </a:r>
          </a:p>
          <a:p>
            <a:pPr>
              <a:buNone/>
              <a:defRPr sz="1725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endParaRPr sz="1725" b="0" dirty="0">
              <a:solidFill>
                <a:srgbClr val="404040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725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endParaRPr sz="1725" dirty="0">
              <a:solidFill>
                <a:srgbClr val="404040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575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endParaRPr sz="1575" b="0" dirty="0">
              <a:solidFill>
                <a:srgbClr val="4040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lide number">
            <a:extLst>
              <a:ext uri="{FF2B5EF4-FFF2-40B4-BE49-F238E27FC236}">
                <a16:creationId xmlns:a16="http://schemas.microsoft.com/office/drawing/2014/main" id="{89235454-80F0-4D2D-AFD4-6EA173EE3F76}"/>
              </a:ext>
            </a:extLst>
          </p:cNvPr>
          <p:cNvSpPr>
            <a:spLocks noGrp="1"/>
          </p:cNvSpPr>
          <p:nvPr/>
        </p:nvSpPr>
        <p:spPr>
          <a:xfrm>
            <a:off x="11144250" y="635317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75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7" name="Assumptions">
            <a:extLst>
              <a:ext uri="{FF2B5EF4-FFF2-40B4-BE49-F238E27FC236}">
                <a16:creationId xmlns:a16="http://schemas.microsoft.com/office/drawing/2014/main" id="{06C5A007-5D3F-4059-9586-48C9B172E9A9}"/>
              </a:ext>
            </a:extLst>
          </p:cNvPr>
          <p:cNvSpPr>
            <a:spLocks noGrp="1"/>
          </p:cNvSpPr>
          <p:nvPr/>
        </p:nvSpPr>
        <p:spPr>
          <a:xfrm>
            <a:off x="762000" y="6067425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A6A6A"/>
                </a:solidFill>
                <a:latin typeface="Arial"/>
                <a:ea typeface="Arial"/>
                <a:cs typeface="Arial"/>
              </a:rPr>
              <a:t>Assumptions: small angles, linear tires and locally constant longitudinal speed. No tire saturation model.</a:t>
            </a:r>
          </a:p>
        </p:txBody>
      </p:sp>
      <p:sp>
        <p:nvSpPr>
          <p:cNvPr id="39" name="Dyn diagram title">
            <a:extLst>
              <a:ext uri="{FF2B5EF4-FFF2-40B4-BE49-F238E27FC236}">
                <a16:creationId xmlns:a16="http://schemas.microsoft.com/office/drawing/2014/main" id="{54E96466-82E0-4D13-960B-623FF2E574C5}"/>
              </a:ext>
            </a:extLst>
          </p:cNvPr>
          <p:cNvSpPr>
            <a:spLocks noGrp="1"/>
          </p:cNvSpPr>
          <p:nvPr/>
        </p:nvSpPr>
        <p:spPr>
          <a:xfrm>
            <a:off x="574381" y="2506218"/>
            <a:ext cx="4619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500" b="1">
                <a:solidFill>
                  <a:srgbClr val="19385D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19385D"/>
                </a:solidFill>
                <a:latin typeface="Arial"/>
                <a:ea typeface="Arial"/>
                <a:cs typeface="Arial"/>
              </a:rPr>
              <a:t>Dynamic bicycle model</a:t>
            </a:r>
          </a:p>
        </p:txBody>
      </p:sp>
      <p:graphicFrame>
        <p:nvGraphicFramePr>
          <p:cNvPr id="71" name="Chart"/>
          <p:cNvGraphicFramePr/>
          <p:nvPr/>
        </p:nvGraphicFramePr>
        <p:xfrm>
          <a:off x="6422118" y="3048172"/>
          <a:ext cx="4619625" cy="2095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D1791DFE-024A-CEB9-D8EB-3FCCED2BDA38}"/>
              </a:ext>
            </a:extLst>
          </p:cNvPr>
          <p:cNvSpPr txBox="1"/>
          <p:nvPr/>
        </p:nvSpPr>
        <p:spPr>
          <a:xfrm>
            <a:off x="6992258" y="1543114"/>
            <a:ext cx="4049485" cy="1096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575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575" dirty="0">
                <a:solidFill>
                  <a:srgbClr val="404040"/>
                </a:solidFill>
                <a:latin typeface="Arial"/>
                <a:cs typeface="Arial"/>
              </a:rPr>
              <a:t>Dynamic LQR uses this model to choose steering. In the double lane-change test, it produced the lowest mean error.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B5AB75-1E52-330D-C84B-134F48A264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964" y="2853498"/>
            <a:ext cx="4412803" cy="2989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330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3131BB3-2478-4CFD-AD0A-334FE01EF4B1}"/>
              </a:ext>
            </a:extLst>
          </p:cNvPr>
          <p:cNvSpPr>
            <a:spLocks noGrp="1"/>
          </p:cNvSpPr>
          <p:nvPr/>
        </p:nvSpPr>
        <p:spPr>
          <a:xfrm>
            <a:off x="677793" y="231097"/>
            <a:ext cx="971550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Task 1: Built-in Route Tracking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D01F4D-583B-44D1-AE0A-3B1AA9AD18E7}"/>
              </a:ext>
            </a:extLst>
          </p:cNvPr>
          <p:cNvSpPr>
            <a:spLocks noGrp="1"/>
          </p:cNvSpPr>
          <p:nvPr/>
        </p:nvSpPr>
        <p:spPr>
          <a:xfrm>
            <a:off x="759681" y="732705"/>
            <a:ext cx="9715500" cy="29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50" b="0" i="0" u="none" cap="none" spc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Four controllers were tested on four standard routes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FE092EE-66C3-4599-98D1-EEA45B024D9A}"/>
              </a:ext>
            </a:extLst>
          </p:cNvPr>
          <p:cNvSpPr>
            <a:spLocks noGrp="1"/>
          </p:cNvSpPr>
          <p:nvPr/>
        </p:nvSpPr>
        <p:spPr>
          <a:xfrm>
            <a:off x="0" y="289322"/>
            <a:ext cx="204716" cy="66215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96DA929-E3E2-4405-B1AF-534E6F73F714}"/>
              </a:ext>
            </a:extLst>
          </p:cNvPr>
          <p:cNvSpPr>
            <a:spLocks noGrp="1"/>
          </p:cNvSpPr>
          <p:nvPr/>
        </p:nvSpPr>
        <p:spPr>
          <a:xfrm>
            <a:off x="318232" y="289322"/>
            <a:ext cx="140562" cy="662157"/>
          </a:xfrm>
          <a:prstGeom prst="rect">
            <a:avLst/>
          </a:prstGeom>
          <a:solidFill>
            <a:srgbClr val="17375E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56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138" y="180059"/>
            <a:ext cx="1103137" cy="1105291"/>
          </a:xfrm>
          <a:prstGeom prst="rect">
            <a:avLst/>
          </a:prstGeom>
        </p:spPr>
      </p:pic>
      <p:sp>
        <p:nvSpPr>
          <p:cNvPr id="34" name="Main explanation">
            <a:extLst>
              <a:ext uri="{FF2B5EF4-FFF2-40B4-BE49-F238E27FC236}">
                <a16:creationId xmlns:a16="http://schemas.microsoft.com/office/drawing/2014/main" id="{4A77DD80-C66C-4C0A-9B79-8332F58FAF28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4810125" cy="426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65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All 16 runs reached the goal. The routes included a double lane change, a right-angle turn, an S-curve and a mixed course.</a:t>
            </a:r>
          </a:p>
          <a:p>
            <a:pPr>
              <a:buNone/>
              <a:defRPr sz="1725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endParaRPr sz="1725" b="0">
              <a:solidFill>
                <a:srgbClr val="404040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65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404040"/>
                </a:solidFill>
                <a:latin typeface="Arial"/>
                <a:ea typeface="Arial"/>
                <a:cs typeface="Arial"/>
              </a:rPr>
              <a:t>Dynamic LQR produced the lowest mean lateral error on every route.</a:t>
            </a:r>
          </a:p>
          <a:p>
            <a:pPr>
              <a:buNone/>
              <a:defRPr sz="1725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endParaRPr sz="1725">
              <a:solidFill>
                <a:srgbClr val="404040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650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PP was smooth but cut corners. Kinematic LQR improved accuracy. MPC also reduced error compared with PP, but required more tuning.</a:t>
            </a:r>
          </a:p>
        </p:txBody>
      </p:sp>
      <p:sp>
        <p:nvSpPr>
          <p:cNvPr id="35" name="Slide number">
            <a:extLst>
              <a:ext uri="{FF2B5EF4-FFF2-40B4-BE49-F238E27FC236}">
                <a16:creationId xmlns:a16="http://schemas.microsoft.com/office/drawing/2014/main" id="{89235454-80F0-4D2D-AFD4-6EA173EE3F76}"/>
              </a:ext>
            </a:extLst>
          </p:cNvPr>
          <p:cNvSpPr>
            <a:spLocks noGrp="1"/>
          </p:cNvSpPr>
          <p:nvPr/>
        </p:nvSpPr>
        <p:spPr>
          <a:xfrm>
            <a:off x="11144250" y="635317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75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7" name="Assumptions">
            <a:extLst>
              <a:ext uri="{FF2B5EF4-FFF2-40B4-BE49-F238E27FC236}">
                <a16:creationId xmlns:a16="http://schemas.microsoft.com/office/drawing/2014/main" id="{06C5A007-5D3F-4059-9586-48C9B172E9A9}"/>
              </a:ext>
            </a:extLst>
          </p:cNvPr>
          <p:cNvSpPr>
            <a:spLocks noGrp="1"/>
          </p:cNvSpPr>
          <p:nvPr/>
        </p:nvSpPr>
        <p:spPr>
          <a:xfrm>
            <a:off x="762000" y="6067425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A6A6A"/>
                </a:solidFill>
                <a:latin typeface="Arial"/>
                <a:ea typeface="Arial"/>
                <a:cs typeface="Arial"/>
              </a:rPr>
              <a:t>The chart shows mean absolute lateral error. Lower values indicate better path tracking.</a:t>
            </a:r>
          </a:p>
        </p:txBody>
      </p:sp>
      <p:graphicFrame>
        <p:nvGraphicFramePr>
          <p:cNvPr id="60" name="Chart"/>
          <p:cNvGraphicFramePr/>
          <p:nvPr/>
        </p:nvGraphicFramePr>
        <p:xfrm>
          <a:off x="5810250" y="1695450"/>
          <a:ext cx="5905500" cy="4048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653095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8D9A8C7-95BB-47D2-AE1F-375CBD0A33AA}"/>
              </a:ext>
            </a:extLst>
          </p:cNvPr>
          <p:cNvSpPr>
            <a:spLocks noGrp="1"/>
          </p:cNvSpPr>
          <p:nvPr/>
        </p:nvSpPr>
        <p:spPr>
          <a:xfrm>
            <a:off x="677793" y="231097"/>
            <a:ext cx="971550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Task 1: Main Findings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BB525F-55BA-42A3-8F69-1654F0058F29}"/>
              </a:ext>
            </a:extLst>
          </p:cNvPr>
          <p:cNvSpPr>
            <a:spLocks noGrp="1"/>
          </p:cNvSpPr>
          <p:nvPr/>
        </p:nvSpPr>
        <p:spPr>
          <a:xfrm>
            <a:off x="759681" y="732705"/>
            <a:ext cx="9715500" cy="29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50" b="0" i="0" u="none" cap="none" spc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Dynamic LQR gave the best average accuracy in this simulation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EF474C-AD0B-42FB-9772-2AA55D93B3F9}"/>
              </a:ext>
            </a:extLst>
          </p:cNvPr>
          <p:cNvSpPr>
            <a:spLocks noGrp="1"/>
          </p:cNvSpPr>
          <p:nvPr/>
        </p:nvSpPr>
        <p:spPr>
          <a:xfrm>
            <a:off x="0" y="289322"/>
            <a:ext cx="204716" cy="66215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669AA32-054D-459D-9CD1-8C0515326C10}"/>
              </a:ext>
            </a:extLst>
          </p:cNvPr>
          <p:cNvSpPr>
            <a:spLocks noGrp="1"/>
          </p:cNvSpPr>
          <p:nvPr/>
        </p:nvSpPr>
        <p:spPr>
          <a:xfrm>
            <a:off x="318232" y="289322"/>
            <a:ext cx="140562" cy="662157"/>
          </a:xfrm>
          <a:prstGeom prst="rect">
            <a:avLst/>
          </a:prstGeom>
          <a:solidFill>
            <a:srgbClr val="17375E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138" y="180059"/>
            <a:ext cx="1103137" cy="1105291"/>
          </a:xfrm>
          <a:prstGeom prst="rect">
            <a:avLst/>
          </a:prstGeom>
        </p:spPr>
      </p:pic>
      <p:sp>
        <p:nvSpPr>
          <p:cNvPr id="34" name="Main explanation">
            <a:extLst>
              <a:ext uri="{FF2B5EF4-FFF2-40B4-BE49-F238E27FC236}">
                <a16:creationId xmlns:a16="http://schemas.microsoft.com/office/drawing/2014/main" id="{060ED620-08F3-4C76-AB79-A38CCD15FD9E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4810125" cy="426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Across the four routes, Dynamic LQR had the lowest average mean error at 0.076 meters. Kinematic LQR averaged 0.166 meters.</a:t>
            </a:r>
          </a:p>
          <a:p>
            <a:endParaRPr sz="1875" b="0">
              <a:solidFill>
                <a:srgbClr val="404040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575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The result shows the benefit of including lateral and yaw dynamics in controller design.</a:t>
            </a:r>
          </a:p>
          <a:p>
            <a:endParaRPr sz="1875" b="0">
              <a:solidFill>
                <a:srgbClr val="404040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575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Optional parameter check: lowering the steering limit from 35 to 20 degrees increased the kinematic LQR peak error on the right-angle route from 0.719 to 1.093 meters.</a:t>
            </a:r>
          </a:p>
        </p:txBody>
      </p:sp>
      <p:sp>
        <p:nvSpPr>
          <p:cNvPr id="35" name="Slide number">
            <a:extLst>
              <a:ext uri="{FF2B5EF4-FFF2-40B4-BE49-F238E27FC236}">
                <a16:creationId xmlns:a16="http://schemas.microsoft.com/office/drawing/2014/main" id="{E62A2C2C-83A8-4D08-AC70-19B4C31E288A}"/>
              </a:ext>
            </a:extLst>
          </p:cNvPr>
          <p:cNvSpPr>
            <a:spLocks noGrp="1"/>
          </p:cNvSpPr>
          <p:nvPr/>
        </p:nvSpPr>
        <p:spPr>
          <a:xfrm>
            <a:off x="11144250" y="635317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75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7" name="Comparison scope">
            <a:extLst>
              <a:ext uri="{FF2B5EF4-FFF2-40B4-BE49-F238E27FC236}">
                <a16:creationId xmlns:a16="http://schemas.microsoft.com/office/drawing/2014/main" id="{218DAF73-E681-4DED-876B-868D82429D45}"/>
              </a:ext>
            </a:extLst>
          </p:cNvPr>
          <p:cNvSpPr>
            <a:spLocks noGrp="1"/>
          </p:cNvSpPr>
          <p:nvPr/>
        </p:nvSpPr>
        <p:spPr>
          <a:xfrm>
            <a:off x="762000" y="6067425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A6A6A"/>
                </a:solidFill>
                <a:latin typeface="Arial"/>
                <a:ea typeface="Arial"/>
                <a:cs typeface="Arial"/>
              </a:rPr>
              <a:t>The steering-limit check is an optional Task 1 parameter experiment, not a separate course task.</a:t>
            </a:r>
          </a:p>
        </p:txBody>
      </p:sp>
      <p:graphicFrame>
        <p:nvGraphicFramePr>
          <p:cNvPr id="48" name="Chart"/>
          <p:cNvGraphicFramePr/>
          <p:nvPr/>
        </p:nvGraphicFramePr>
        <p:xfrm>
          <a:off x="5810250" y="1695450"/>
          <a:ext cx="5905500" cy="4048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68398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5DCC6F5-42DC-483E-BF51-C1053123FF07}"/>
              </a:ext>
            </a:extLst>
          </p:cNvPr>
          <p:cNvSpPr>
            <a:spLocks noGrp="1"/>
          </p:cNvSpPr>
          <p:nvPr/>
        </p:nvSpPr>
        <p:spPr>
          <a:xfrm>
            <a:off x="677793" y="231097"/>
            <a:ext cx="971550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Task 2: Circular Tracking at Different Speeds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52C8DB4-5D5C-43D2-A48A-7D970501B342}"/>
              </a:ext>
            </a:extLst>
          </p:cNvPr>
          <p:cNvSpPr>
            <a:spLocks noGrp="1"/>
          </p:cNvSpPr>
          <p:nvPr/>
        </p:nvSpPr>
        <p:spPr>
          <a:xfrm>
            <a:off x="759681" y="732705"/>
            <a:ext cx="9715500" cy="29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50" b="0" i="0" u="none" cap="none" spc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Circle radius 12 m, time step 0.1 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50F91EF-2555-45CD-A3FD-F638206207C7}"/>
              </a:ext>
            </a:extLst>
          </p:cNvPr>
          <p:cNvSpPr>
            <a:spLocks noGrp="1"/>
          </p:cNvSpPr>
          <p:nvPr/>
        </p:nvSpPr>
        <p:spPr>
          <a:xfrm>
            <a:off x="0" y="289322"/>
            <a:ext cx="204716" cy="66215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C74619A-C5EB-4EC5-B897-1D0C8D719231}"/>
              </a:ext>
            </a:extLst>
          </p:cNvPr>
          <p:cNvSpPr>
            <a:spLocks noGrp="1"/>
          </p:cNvSpPr>
          <p:nvPr/>
        </p:nvSpPr>
        <p:spPr>
          <a:xfrm>
            <a:off x="318232" y="289322"/>
            <a:ext cx="140562" cy="662157"/>
          </a:xfrm>
          <a:prstGeom prst="rect">
            <a:avLst/>
          </a:prstGeom>
          <a:solidFill>
            <a:srgbClr val="17375E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138" y="180059"/>
            <a:ext cx="1103137" cy="1105291"/>
          </a:xfrm>
          <a:prstGeom prst="rect">
            <a:avLst/>
          </a:prstGeom>
        </p:spPr>
      </p:pic>
      <p:sp>
        <p:nvSpPr>
          <p:cNvPr id="34" name="Main explanation">
            <a:extLst>
              <a:ext uri="{FF2B5EF4-FFF2-40B4-BE49-F238E27FC236}">
                <a16:creationId xmlns:a16="http://schemas.microsoft.com/office/drawing/2014/main" id="{F90BD0DB-F580-48CD-8FAE-5A14839F0604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4810125" cy="426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At low speed, all three controllers followed the circle with steering close to the geometric value of 0.205 radians.</a:t>
            </a:r>
          </a:p>
          <a:p>
            <a:endParaRPr sz="1875" b="0">
              <a:solidFill>
                <a:srgbClr val="404040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575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At high speed, kinematic LQR steering oscillated more and reached the steering limit for 22.6 percent of the run.</a:t>
            </a:r>
          </a:p>
          <a:p>
            <a:endParaRPr sz="1875" b="0">
              <a:solidFill>
                <a:srgbClr val="404040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575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PP produced the smoothest steering. MPC changed steering less than kinematic LQR. Actual mean speeds differed, so this was not an equal-speed comparison.</a:t>
            </a:r>
          </a:p>
        </p:txBody>
      </p:sp>
      <p:sp>
        <p:nvSpPr>
          <p:cNvPr id="35" name="Slide number">
            <a:extLst>
              <a:ext uri="{FF2B5EF4-FFF2-40B4-BE49-F238E27FC236}">
                <a16:creationId xmlns:a16="http://schemas.microsoft.com/office/drawing/2014/main" id="{1ED510A8-0B0B-4F8B-B6FE-305B28AE413A}"/>
              </a:ext>
            </a:extLst>
          </p:cNvPr>
          <p:cNvSpPr>
            <a:spLocks noGrp="1"/>
          </p:cNvSpPr>
          <p:nvPr/>
        </p:nvSpPr>
        <p:spPr>
          <a:xfrm>
            <a:off x="11144250" y="635317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75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7" name="Speed and acceleration caveat">
            <a:extLst>
              <a:ext uri="{FF2B5EF4-FFF2-40B4-BE49-F238E27FC236}">
                <a16:creationId xmlns:a16="http://schemas.microsoft.com/office/drawing/2014/main" id="{FF40830D-6BCC-40DC-B28D-0CA0657BCA14}"/>
              </a:ext>
            </a:extLst>
          </p:cNvPr>
          <p:cNvSpPr>
            <a:spLocks noGrp="1"/>
          </p:cNvSpPr>
          <p:nvPr/>
        </p:nvSpPr>
        <p:spPr>
          <a:xfrm>
            <a:off x="762000" y="6067425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A6A6A"/>
                </a:solidFill>
                <a:latin typeface="Arial"/>
                <a:ea typeface="Arial"/>
                <a:cs typeface="Arial"/>
              </a:rPr>
              <a:t>Mean high-speed arc speeds: PP 6.09, kinematic LQR 6.08 and MPC 6.95 m/s.</a:t>
            </a:r>
          </a:p>
        </p:txBody>
      </p:sp>
      <p:graphicFrame>
        <p:nvGraphicFramePr>
          <p:cNvPr id="48" name="Chart"/>
          <p:cNvGraphicFramePr/>
          <p:nvPr/>
        </p:nvGraphicFramePr>
        <p:xfrm>
          <a:off x="5810250" y="1695450"/>
          <a:ext cx="5905500" cy="4048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994415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FD160DC-A5D2-4C27-98B0-7F4330151B77}"/>
              </a:ext>
            </a:extLst>
          </p:cNvPr>
          <p:cNvSpPr>
            <a:spLocks noGrp="1"/>
          </p:cNvSpPr>
          <p:nvPr/>
        </p:nvSpPr>
        <p:spPr>
          <a:xfrm>
            <a:off x="677793" y="231097"/>
            <a:ext cx="971550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Task 3: GPX Route Tracking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93D55C-6AF3-43D4-AAE7-147CEE9296DE}"/>
              </a:ext>
            </a:extLst>
          </p:cNvPr>
          <p:cNvSpPr>
            <a:spLocks noGrp="1"/>
          </p:cNvSpPr>
          <p:nvPr/>
        </p:nvSpPr>
        <p:spPr>
          <a:xfrm>
            <a:off x="759681" y="732705"/>
            <a:ext cx="9715500" cy="29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50" b="0" i="0" u="none" cap="none" spc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Repository example route, 3.914 km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4C6C49-C151-496D-8E58-1B63547CB545}"/>
              </a:ext>
            </a:extLst>
          </p:cNvPr>
          <p:cNvSpPr>
            <a:spLocks noGrp="1"/>
          </p:cNvSpPr>
          <p:nvPr/>
        </p:nvSpPr>
        <p:spPr>
          <a:xfrm>
            <a:off x="0" y="289322"/>
            <a:ext cx="204716" cy="66215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3353101-7514-4889-BE40-0CDF23D8B66D}"/>
              </a:ext>
            </a:extLst>
          </p:cNvPr>
          <p:cNvSpPr>
            <a:spLocks noGrp="1"/>
          </p:cNvSpPr>
          <p:nvPr/>
        </p:nvSpPr>
        <p:spPr>
          <a:xfrm>
            <a:off x="318232" y="289322"/>
            <a:ext cx="140562" cy="662157"/>
          </a:xfrm>
          <a:prstGeom prst="rect">
            <a:avLst/>
          </a:prstGeom>
          <a:solidFill>
            <a:srgbClr val="17375E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138" y="180059"/>
            <a:ext cx="1103137" cy="1105291"/>
          </a:xfrm>
          <a:prstGeom prst="rect">
            <a:avLst/>
          </a:prstGeom>
        </p:spPr>
      </p:pic>
      <p:sp>
        <p:nvSpPr>
          <p:cNvPr id="34" name="Main explanation">
            <a:extLst>
              <a:ext uri="{FF2B5EF4-FFF2-40B4-BE49-F238E27FC236}">
                <a16:creationId xmlns:a16="http://schemas.microsoft.com/office/drawing/2014/main" id="{4921CE74-8BA0-4520-BF8A-21ADDAE69B25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4810125" cy="426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At a target speed of 8 meters per second, PP and kinematic LQR completed the full route.</a:t>
            </a:r>
          </a:p>
          <a:p>
            <a:endParaRPr sz="1875" b="0">
              <a:solidFill>
                <a:srgbClr val="404040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575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MPC stopped after 96.1 seconds and covered about 732 meters because its solver reached a limit. Its partial result cannot be compared fairly with the completed runs.</a:t>
            </a:r>
          </a:p>
          <a:p>
            <a:endParaRPr sz="1875" b="0">
              <a:solidFill>
                <a:srgbClr val="404040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575" b="0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04040"/>
                </a:solidFill>
                <a:latin typeface="Arial"/>
                <a:ea typeface="Arial"/>
                <a:cs typeface="Arial"/>
              </a:rPr>
              <a:t>PP also completed the route at 4 meters per second. The lower speed reduced error but almost doubled travel time.</a:t>
            </a:r>
          </a:p>
        </p:txBody>
      </p:sp>
      <p:sp>
        <p:nvSpPr>
          <p:cNvPr id="35" name="Slide number">
            <a:extLst>
              <a:ext uri="{FF2B5EF4-FFF2-40B4-BE49-F238E27FC236}">
                <a16:creationId xmlns:a16="http://schemas.microsoft.com/office/drawing/2014/main" id="{3CDDE4DC-50A3-4728-B375-C3E7EA212FB9}"/>
              </a:ext>
            </a:extLst>
          </p:cNvPr>
          <p:cNvSpPr>
            <a:spLocks noGrp="1"/>
          </p:cNvSpPr>
          <p:nvPr/>
        </p:nvSpPr>
        <p:spPr>
          <a:xfrm>
            <a:off x="11144250" y="635317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75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7" name="GPX note">
            <a:extLst>
              <a:ext uri="{FF2B5EF4-FFF2-40B4-BE49-F238E27FC236}">
                <a16:creationId xmlns:a16="http://schemas.microsoft.com/office/drawing/2014/main" id="{B3B7472D-60AB-4590-9058-ED417AA6D1EC}"/>
              </a:ext>
            </a:extLst>
          </p:cNvPr>
          <p:cNvSpPr>
            <a:spLocks noGrp="1"/>
          </p:cNvSpPr>
          <p:nvPr/>
        </p:nvSpPr>
        <p:spPr>
          <a:xfrm>
            <a:off x="762000" y="6067425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00" b="0">
                <a:solidFill>
                  <a:srgbClr val="6A6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A6A6A"/>
                </a:solidFill>
                <a:latin typeface="Arial"/>
                <a:ea typeface="Arial"/>
                <a:cs typeface="Arial"/>
              </a:rPr>
              <a:t>The GPX test used the repository example route. Sparse points and sharp corners limit real-road interpretation.</a:t>
            </a:r>
          </a:p>
        </p:txBody>
      </p:sp>
      <p:graphicFrame>
        <p:nvGraphicFramePr>
          <p:cNvPr id="48" name="Chart"/>
          <p:cNvGraphicFramePr/>
          <p:nvPr/>
        </p:nvGraphicFramePr>
        <p:xfrm>
          <a:off x="5810250" y="1695450"/>
          <a:ext cx="5905500" cy="4048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145555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B5012-C5FB-6DB3-62B2-DECE67194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79947613-0853-33B6-19B6-9F3B098F21AF}"/>
              </a:ext>
            </a:extLst>
          </p:cNvPr>
          <p:cNvGrpSpPr/>
          <p:nvPr/>
        </p:nvGrpSpPr>
        <p:grpSpPr>
          <a:xfrm>
            <a:off x="-5263374" y="-227994"/>
            <a:ext cx="17933202" cy="11722860"/>
            <a:chOff x="-5400008" y="-227994"/>
            <a:chExt cx="17933202" cy="11722860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88C79978-7829-6947-178D-5C5A863F9B18}"/>
                </a:ext>
              </a:extLst>
            </p:cNvPr>
            <p:cNvSpPr/>
            <p:nvPr/>
          </p:nvSpPr>
          <p:spPr>
            <a:xfrm>
              <a:off x="-557048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Polygon 3">
              <a:extLst>
                <a:ext uri="{FF2B5EF4-FFF2-40B4-BE49-F238E27FC236}">
                  <a16:creationId xmlns:a16="http://schemas.microsoft.com/office/drawing/2014/main" id="{2DE09212-872B-BC17-67B7-6DF068A8EB29}"/>
                </a:ext>
              </a:extLst>
            </p:cNvPr>
            <p:cNvSpPr/>
            <p:nvPr/>
          </p:nvSpPr>
          <p:spPr>
            <a:xfrm>
              <a:off x="-5400008" y="7052501"/>
              <a:ext cx="10799921" cy="4442365"/>
            </a:xfrm>
            <a:custGeom>
              <a:avLst/>
              <a:gdLst/>
              <a:ahLst/>
              <a:cxnLst/>
              <a:rect l="l" t="t" r="r" b="b"/>
              <a:pathLst>
                <a:path w="10799921" h="4442365">
                  <a:moveTo>
                    <a:pt x="10799921" y="0"/>
                  </a:moveTo>
                  <a:lnTo>
                    <a:pt x="10799921" y="4442365"/>
                  </a:lnTo>
                  <a:lnTo>
                    <a:pt x="0" y="4442365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5624392-97CF-E4EB-186A-84C8A80A6B4F}"/>
                </a:ext>
              </a:extLst>
            </p:cNvPr>
            <p:cNvSpPr/>
            <p:nvPr/>
          </p:nvSpPr>
          <p:spPr>
            <a:xfrm>
              <a:off x="8684904" y="-227994"/>
              <a:ext cx="3848290" cy="2031492"/>
            </a:xfrm>
            <a:custGeom>
              <a:avLst/>
              <a:gdLst/>
              <a:ahLst/>
              <a:cxnLst/>
              <a:rect l="l" t="t" r="r" b="b"/>
              <a:pathLst>
                <a:path w="3848290" h="2031492">
                  <a:moveTo>
                    <a:pt x="0" y="0"/>
                  </a:moveTo>
                  <a:lnTo>
                    <a:pt x="0" y="448628"/>
                  </a:lnTo>
                  <a:lnTo>
                    <a:pt x="3848290" y="2031492"/>
                  </a:lnTo>
                  <a:lnTo>
                    <a:pt x="3848290" y="1582864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46175FB-789D-15D8-A738-383B79F83EE0}"/>
                </a:ext>
              </a:extLst>
            </p:cNvPr>
            <p:cNvSpPr/>
            <p:nvPr/>
          </p:nvSpPr>
          <p:spPr>
            <a:xfrm>
              <a:off x="6661690" y="676561"/>
              <a:ext cx="3176778" cy="1677067"/>
            </a:xfrm>
            <a:custGeom>
              <a:avLst/>
              <a:gdLst/>
              <a:ahLst/>
              <a:cxnLst/>
              <a:rect l="l" t="t" r="r" b="b"/>
              <a:pathLst>
                <a:path w="3176778" h="1677067">
                  <a:moveTo>
                    <a:pt x="0" y="0"/>
                  </a:moveTo>
                  <a:lnTo>
                    <a:pt x="0" y="370332"/>
                  </a:lnTo>
                  <a:lnTo>
                    <a:pt x="3176778" y="1677067"/>
                  </a:lnTo>
                  <a:lnTo>
                    <a:pt x="3176778" y="1306735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76429E6-B764-9100-6391-0FEFC7BFE53F}"/>
                </a:ext>
              </a:extLst>
            </p:cNvPr>
            <p:cNvSpPr/>
            <p:nvPr/>
          </p:nvSpPr>
          <p:spPr>
            <a:xfrm>
              <a:off x="7938626" y="951405"/>
              <a:ext cx="2510885" cy="1325594"/>
            </a:xfrm>
            <a:custGeom>
              <a:avLst/>
              <a:gdLst/>
              <a:ahLst/>
              <a:cxnLst/>
              <a:rect l="l" t="t" r="r" b="b"/>
              <a:pathLst>
                <a:path w="2510885" h="1325594">
                  <a:moveTo>
                    <a:pt x="0" y="0"/>
                  </a:moveTo>
                  <a:lnTo>
                    <a:pt x="0" y="292703"/>
                  </a:lnTo>
                  <a:lnTo>
                    <a:pt x="2510885" y="1325594"/>
                  </a:lnTo>
                  <a:lnTo>
                    <a:pt x="2510885" y="103279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F2EF03A-63B4-CCAC-E744-705E9E06B7C2}"/>
              </a:ext>
            </a:extLst>
          </p:cNvPr>
          <p:cNvGrpSpPr/>
          <p:nvPr/>
        </p:nvGrpSpPr>
        <p:grpSpPr>
          <a:xfrm>
            <a:off x="624934" y="235761"/>
            <a:ext cx="5685091" cy="670560"/>
            <a:chOff x="2800731" y="257444"/>
            <a:chExt cx="5685091" cy="670560"/>
          </a:xfrm>
        </p:grpSpPr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89CC1DA-8906-7FAF-BAA9-A91E09AAC1D3}"/>
                </a:ext>
              </a:extLst>
            </p:cNvPr>
            <p:cNvSpPr txBox="1"/>
            <p:nvPr/>
          </p:nvSpPr>
          <p:spPr>
            <a:xfrm>
              <a:off x="3807593" y="257444"/>
              <a:ext cx="201168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Southeast University</a:t>
              </a:r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69EF2D98-E55B-BAA8-D1C4-050B607FD14C}"/>
                </a:ext>
              </a:extLst>
            </p:cNvPr>
            <p:cNvSpPr/>
            <p:nvPr/>
          </p:nvSpPr>
          <p:spPr>
            <a:xfrm>
              <a:off x="2800731" y="799910"/>
              <a:ext cx="5685091" cy="9525"/>
            </a:xfrm>
            <a:custGeom>
              <a:avLst/>
              <a:gdLst/>
              <a:ahLst/>
              <a:cxnLst/>
              <a:rect l="l" t="t" r="r" b="b"/>
              <a:pathLst>
                <a:path w="5685091" h="9525">
                  <a:moveTo>
                    <a:pt x="0" y="0"/>
                  </a:moveTo>
                  <a:lnTo>
                    <a:pt x="5685091" y="0"/>
                  </a:lnTo>
                </a:path>
              </a:pathLst>
            </a:custGeom>
            <a:noFill/>
            <a:ln w="28575">
              <a:solidFill>
                <a:srgbClr val="17375E"/>
              </a:solidFill>
            </a:ln>
          </p:spPr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9373634D-B291-AA18-B987-E6B5DABF0B8C}"/>
              </a:ext>
            </a:extLst>
          </p:cNvPr>
          <p:cNvGrpSpPr/>
          <p:nvPr/>
        </p:nvGrpSpPr>
        <p:grpSpPr>
          <a:xfrm>
            <a:off x="420414" y="1857726"/>
            <a:ext cx="9759082" cy="2819401"/>
            <a:chOff x="877538" y="1590674"/>
            <a:chExt cx="9759082" cy="2819401"/>
          </a:xfrm>
        </p:grpSpPr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8CBC77EB-CE35-14B0-7BD7-433C92AEFA5C}"/>
                </a:ext>
              </a:extLst>
            </p:cNvPr>
            <p:cNvSpPr txBox="1"/>
            <p:nvPr/>
          </p:nvSpPr>
          <p:spPr>
            <a:xfrm>
              <a:off x="877538" y="1590674"/>
              <a:ext cx="9759082" cy="1477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48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4. Can the Car Find Its Way </a:t>
              </a:r>
            </a:p>
            <a:p>
              <a:r>
                <a:rPr lang="en-US" altLang="zh-CN" sz="48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from the Dorm to the Classroom?</a:t>
              </a:r>
              <a:endParaRPr lang="zh-CN" sz="4800" b="1" dirty="0">
                <a:solidFill>
                  <a:srgbClr val="17375E"/>
                </a:solidFill>
                <a:latin typeface="Century Gothic"/>
                <a:ea typeface="Microsoft YaHei"/>
                <a:cs typeface="Century Gothic"/>
              </a:endParaRP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38FB4B5-E44D-E9FC-D9CC-675E687EB8CC}"/>
                </a:ext>
              </a:extLst>
            </p:cNvPr>
            <p:cNvSpPr txBox="1"/>
            <p:nvPr/>
          </p:nvSpPr>
          <p:spPr>
            <a:xfrm>
              <a:off x="877538" y="3850731"/>
              <a:ext cx="9306074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sz="19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Problem </a:t>
              </a:r>
              <a:r>
                <a:rPr lang="en-US" altLang="zh-CN" sz="19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4</a:t>
              </a:r>
              <a:r>
                <a:rPr lang="zh-CN" sz="19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:</a:t>
              </a:r>
              <a:r>
                <a:rPr lang="en-US" altLang="zh-CN" sz="19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Map Construction, Reference Path Generation and Pure Pursuit Tracking</a:t>
              </a:r>
              <a:endParaRPr lang="zh-CN" sz="1950" dirty="0">
                <a:solidFill>
                  <a:srgbClr val="404040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F0D0EE38-DEB6-7EF9-7AD5-5E70E55FC3C6}"/>
                </a:ext>
              </a:extLst>
            </p:cNvPr>
            <p:cNvSpPr/>
            <p:nvPr/>
          </p:nvSpPr>
          <p:spPr>
            <a:xfrm>
              <a:off x="877538" y="4400550"/>
              <a:ext cx="5146834" cy="9525"/>
            </a:xfrm>
            <a:custGeom>
              <a:avLst/>
              <a:gdLst/>
              <a:ahLst/>
              <a:cxnLst/>
              <a:rect l="l" t="t" r="r" b="b"/>
              <a:pathLst>
                <a:path w="5146834" h="9525">
                  <a:moveTo>
                    <a:pt x="0" y="0"/>
                  </a:moveTo>
                  <a:lnTo>
                    <a:pt x="5146834" y="0"/>
                  </a:lnTo>
                </a:path>
              </a:pathLst>
            </a:custGeom>
            <a:noFill/>
            <a:ln w="6353">
              <a:solidFill>
                <a:srgbClr val="17375E"/>
              </a:solidFill>
            </a:ln>
          </p:spPr>
        </p:sp>
      </p:grpSp>
    </p:spTree>
    <p:extLst>
      <p:ext uri="{BB962C8B-B14F-4D97-AF65-F5344CB8AC3E}">
        <p14:creationId xmlns:p14="http://schemas.microsoft.com/office/powerpoint/2010/main" val="4273342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29615" y="658178"/>
            <a:ext cx="10714672" cy="518160"/>
            <a:chOff x="729615" y="658178"/>
            <a:chExt cx="10714672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162896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Task pipeline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39501" y="812006"/>
              <a:ext cx="40047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1450.6 m total · 2903 reference points · 7 sharp turns · runs offline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77255" y="1473200"/>
            <a:ext cx="1055489" cy="1034256"/>
            <a:chOff x="1377255" y="1473200"/>
            <a:chExt cx="1055489" cy="1034256"/>
          </a:xfrm>
        </p:grpSpPr>
        <p:grpSp>
          <p:nvGrpSpPr>
            <p:cNvPr id="12" name="Group 12"/>
            <p:cNvGrpSpPr/>
            <p:nvPr/>
          </p:nvGrpSpPr>
          <p:grpSpPr>
            <a:xfrm>
              <a:off x="1762125" y="1473200"/>
              <a:ext cx="305371" cy="285750"/>
              <a:chOff x="1762125" y="1473200"/>
              <a:chExt cx="305371" cy="2857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762125" y="1473200"/>
                <a:ext cx="28575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54000">
                    <a:moveTo>
                      <a:pt x="142875" y="230188"/>
                    </a:moveTo>
                    <a:lnTo>
                      <a:pt x="95250" y="206375"/>
                    </a:lnTo>
                    <a:lnTo>
                      <a:pt x="0" y="254000"/>
                    </a:lnTo>
                    <a:lnTo>
                      <a:pt x="0" y="47625"/>
                    </a:lnTo>
                    <a:lnTo>
                      <a:pt x="95250" y="0"/>
                    </a:lnTo>
                    <a:lnTo>
                      <a:pt x="190500" y="47625"/>
                    </a:lnTo>
                    <a:lnTo>
                      <a:pt x="285750" y="0"/>
                    </a:lnTo>
                    <a:lnTo>
                      <a:pt x="285750" y="119062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857375" y="14732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952625" y="1520825"/>
                <a:ext cx="9525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7313">
                    <a:moveTo>
                      <a:pt x="0" y="0"/>
                    </a:moveTo>
                    <a:lnTo>
                      <a:pt x="0" y="87313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964753" y="1647815"/>
                <a:ext cx="102743" cy="111135"/>
              </a:xfrm>
              <a:custGeom>
                <a:avLst/>
                <a:gdLst/>
                <a:ahLst/>
                <a:cxnLst/>
                <a:rect l="l" t="t" r="r" b="b"/>
                <a:pathLst>
                  <a:path w="102743" h="111135">
                    <a:moveTo>
                      <a:pt x="85043" y="81306"/>
                    </a:moveTo>
                    <a:cubicBezTo>
                      <a:pt x="98666" y="67687"/>
                      <a:pt x="102743" y="47201"/>
                      <a:pt x="95373" y="29403"/>
                    </a:cubicBezTo>
                    <a:cubicBezTo>
                      <a:pt x="88002" y="11605"/>
                      <a:pt x="70636" y="0"/>
                      <a:pt x="51372" y="0"/>
                    </a:cubicBezTo>
                    <a:cubicBezTo>
                      <a:pt x="32108" y="0"/>
                      <a:pt x="14741" y="11605"/>
                      <a:pt x="7371" y="29403"/>
                    </a:cubicBezTo>
                    <a:cubicBezTo>
                      <a:pt x="0" y="47201"/>
                      <a:pt x="4077" y="67687"/>
                      <a:pt x="17701" y="81306"/>
                    </a:cubicBezTo>
                    <a:cubicBezTo>
                      <a:pt x="24337" y="87958"/>
                      <a:pt x="35560" y="97895"/>
                      <a:pt x="51372" y="111135"/>
                    </a:cubicBezTo>
                    <a:cubicBezTo>
                      <a:pt x="68056" y="97006"/>
                      <a:pt x="79296" y="87069"/>
                      <a:pt x="85043" y="81306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016125" y="16954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425892" y="20097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Map construction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77255" y="2278856"/>
              <a:ext cx="10554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Outputs a GPX path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862864" y="1457325"/>
            <a:ext cx="1418272" cy="1050131"/>
            <a:chOff x="3862864" y="1457325"/>
            <a:chExt cx="1418272" cy="1050131"/>
          </a:xfrm>
        </p:grpSpPr>
        <p:grpSp>
          <p:nvGrpSpPr>
            <p:cNvPr id="19" name="Group 19"/>
            <p:cNvGrpSpPr/>
            <p:nvPr/>
          </p:nvGrpSpPr>
          <p:grpSpPr>
            <a:xfrm>
              <a:off x="4429125" y="1457325"/>
              <a:ext cx="285750" cy="285750"/>
              <a:chOff x="4429125" y="1457325"/>
              <a:chExt cx="285750" cy="2857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4429125" y="16795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4651375" y="14573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63500"/>
                    </a:move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  <a:cubicBezTo>
                      <a:pt x="0" y="49285"/>
                      <a:pt x="14215" y="63500"/>
                      <a:pt x="31750" y="63500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540250" y="1489075"/>
                <a:ext cx="6350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22250">
                    <a:moveTo>
                      <a:pt x="63500" y="0"/>
                    </a:moveTo>
                    <a:cubicBezTo>
                      <a:pt x="45965" y="0"/>
                      <a:pt x="31750" y="14215"/>
                      <a:pt x="31750" y="31750"/>
                    </a:cubicBezTo>
                    <a:lnTo>
                      <a:pt x="31750" y="190500"/>
                    </a:lnTo>
                    <a:cubicBezTo>
                      <a:pt x="31750" y="208035"/>
                      <a:pt x="17535" y="222250"/>
                      <a:pt x="0" y="222250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3862864" y="200977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Reference path generation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64794" y="2278856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Outputs a speed profile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598872" y="1457325"/>
            <a:ext cx="1280255" cy="1050131"/>
            <a:chOff x="6598872" y="1457325"/>
            <a:chExt cx="1280255" cy="1050131"/>
          </a:xfrm>
        </p:grpSpPr>
        <p:grpSp>
          <p:nvGrpSpPr>
            <p:cNvPr id="28" name="Group 28"/>
            <p:cNvGrpSpPr/>
            <p:nvPr/>
          </p:nvGrpSpPr>
          <p:grpSpPr>
            <a:xfrm>
              <a:off x="7096125" y="1457325"/>
              <a:ext cx="285750" cy="285750"/>
              <a:chOff x="7096125" y="1457325"/>
              <a:chExt cx="285750" cy="28575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096125" y="1457325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0" y="142875"/>
                    </a:moveTo>
                    <a:cubicBezTo>
                      <a:pt x="0" y="221783"/>
                      <a:pt x="63967" y="285750"/>
                      <a:pt x="142875" y="285750"/>
                    </a:cubicBezTo>
                    <a:cubicBezTo>
                      <a:pt x="221783" y="285750"/>
                      <a:pt x="285750" y="221783"/>
                      <a:pt x="285750" y="142875"/>
                    </a:cubicBezTo>
                    <a:cubicBezTo>
                      <a:pt x="285750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207250" y="15684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239000" y="1631950"/>
                <a:ext cx="95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25">
                    <a:moveTo>
                      <a:pt x="0" y="0"/>
                    </a:moveTo>
                    <a:lnTo>
                      <a:pt x="0" y="111125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100094" y="1568450"/>
                <a:ext cx="107156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31750">
                    <a:moveTo>
                      <a:pt x="107156" y="317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270750" y="1568450"/>
                <a:ext cx="107156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31750">
                    <a:moveTo>
                      <a:pt x="0" y="31750"/>
                    </a:moveTo>
                    <a:lnTo>
                      <a:pt x="107156" y="0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598872" y="2009775"/>
              <a:ext cx="128025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Pure Pursuit implementation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13947" y="22788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Outputs the controller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196864" y="1520825"/>
            <a:ext cx="1418272" cy="986631"/>
            <a:chOff x="9196864" y="1520825"/>
            <a:chExt cx="1418272" cy="986631"/>
          </a:xfrm>
        </p:grpSpPr>
        <p:grpSp>
          <p:nvGrpSpPr>
            <p:cNvPr id="34" name="Group 34"/>
            <p:cNvGrpSpPr/>
            <p:nvPr/>
          </p:nvGrpSpPr>
          <p:grpSpPr>
            <a:xfrm>
              <a:off x="9763125" y="1520825"/>
              <a:ext cx="285750" cy="158750"/>
              <a:chOff x="9763125" y="1520825"/>
              <a:chExt cx="285750" cy="15875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9763125" y="1520825"/>
                <a:ext cx="285750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58750">
                    <a:moveTo>
                      <a:pt x="0" y="158750"/>
                    </a:moveTo>
                    <a:lnTo>
                      <a:pt x="95250" y="63500"/>
                    </a:lnTo>
                    <a:lnTo>
                      <a:pt x="158750" y="127000"/>
                    </a:ln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937750" y="1520825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0"/>
                    </a:moveTo>
                    <a:lnTo>
                      <a:pt x="111125" y="0"/>
                    </a:lnTo>
                    <a:lnTo>
                      <a:pt x="111125" y="111125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9196864" y="200977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Experimental data analysis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63100" y="227885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Outputs the conclusions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62000" y="1600200"/>
            <a:ext cx="10668000" cy="1076325"/>
            <a:chOff x="762000" y="1600200"/>
            <a:chExt cx="10668000" cy="1076325"/>
          </a:xfrm>
        </p:grpSpPr>
        <p:sp>
          <p:nvSpPr>
            <p:cNvPr id="38" name="Line 38"/>
            <p:cNvSpPr/>
            <p:nvPr/>
          </p:nvSpPr>
          <p:spPr>
            <a:xfrm>
              <a:off x="2781300" y="1600200"/>
              <a:ext cx="952500" cy="1"/>
            </a:xfrm>
            <a:prstGeom prst="line">
              <a:avLst/>
            </a:prstGeom>
            <a:noFill/>
            <a:ln w="19050">
              <a:solidFill>
                <a:srgbClr val="17375E"/>
              </a:solidFill>
              <a:tailEnd type="triangle" w="lg" len="lg"/>
            </a:ln>
          </p:spPr>
        </p:sp>
        <p:sp>
          <p:nvSpPr>
            <p:cNvPr id="39" name="Line 39"/>
            <p:cNvSpPr/>
            <p:nvPr/>
          </p:nvSpPr>
          <p:spPr>
            <a:xfrm>
              <a:off x="5448300" y="1600200"/>
              <a:ext cx="952500" cy="1"/>
            </a:xfrm>
            <a:prstGeom prst="line">
              <a:avLst/>
            </a:prstGeom>
            <a:noFill/>
            <a:ln w="19050">
              <a:solidFill>
                <a:srgbClr val="17375E"/>
              </a:solidFill>
              <a:tailEnd type="triangle" w="lg" len="lg"/>
            </a:ln>
          </p:spPr>
        </p:sp>
        <p:sp>
          <p:nvSpPr>
            <p:cNvPr id="40" name="Line 40"/>
            <p:cNvSpPr/>
            <p:nvPr/>
          </p:nvSpPr>
          <p:spPr>
            <a:xfrm>
              <a:off x="8115300" y="1600200"/>
              <a:ext cx="952500" cy="1"/>
            </a:xfrm>
            <a:prstGeom prst="line">
              <a:avLst/>
            </a:prstGeom>
            <a:noFill/>
            <a:ln w="19050">
              <a:solidFill>
                <a:srgbClr val="17375E"/>
              </a:solidFill>
              <a:tailEnd type="triangle" w="lg" len="lg"/>
            </a:ln>
          </p:spPr>
        </p:sp>
        <p:sp>
          <p:nvSpPr>
            <p:cNvPr id="41" name="Line 41"/>
            <p:cNvSpPr/>
            <p:nvPr/>
          </p:nvSpPr>
          <p:spPr>
            <a:xfrm>
              <a:off x="762000" y="266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3429000" y="2785110"/>
            <a:ext cx="5334000" cy="3989546"/>
            <a:chOff x="3429000" y="2785110"/>
            <a:chExt cx="5334000" cy="3989546"/>
          </a:xfrm>
        </p:grpSpPr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29000" y="2785110"/>
              <a:ext cx="5334000" cy="3726180"/>
            </a:xfrm>
            <a:prstGeom prst="rect">
              <a:avLst/>
            </a:prstGeom>
          </p:spPr>
        </p:pic>
        <p:sp>
          <p:nvSpPr>
            <p:cNvPr id="44" name="TextBox 44"/>
            <p:cNvSpPr txBox="1"/>
            <p:nvPr/>
          </p:nvSpPr>
          <p:spPr>
            <a:xfrm>
              <a:off x="5145167" y="6546056"/>
              <a:ext cx="19016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Following animation, the full 1450.6 m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46" name="TextBox 46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2" grpId="0"/>
      <p:bldP spid="31" grpId="0"/>
      <p:bldP spid="37" grpId="0"/>
      <p:bldP spid="42" grpId="0"/>
      <p:bldP spid="4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729615" y="658178"/>
            <a:ext cx="1628966" cy="518160"/>
            <a:chOff x="729615" y="658178"/>
            <a:chExt cx="1628966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162896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Map construction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62000" y="1428750"/>
            <a:ext cx="2457450" cy="1714500"/>
            <a:chOff x="762000" y="1428750"/>
            <a:chExt cx="2457450" cy="1714500"/>
          </a:xfrm>
        </p:grpSpPr>
        <p:sp>
          <p:nvSpPr>
            <p:cNvPr id="6" name="Rectangle 6"/>
            <p:cNvSpPr/>
            <p:nvPr/>
          </p:nvSpPr>
          <p:spPr>
            <a:xfrm>
              <a:off x="762000" y="1428750"/>
              <a:ext cx="2457450" cy="1714500"/>
            </a:xfrm>
            <a:prstGeom prst="roundRect">
              <a:avLst>
                <a:gd name="adj" fmla="val 444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762000" y="1657350"/>
              <a:ext cx="57150" cy="5334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3462" y="180260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Road network nodes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3460" y="2242185"/>
              <a:ext cx="110370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1,745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3462" y="273605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After merging duplicate intersections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448050" y="1428750"/>
            <a:ext cx="2457450" cy="1714500"/>
            <a:chOff x="3448050" y="1428750"/>
            <a:chExt cx="2457450" cy="1714500"/>
          </a:xfrm>
        </p:grpSpPr>
        <p:sp>
          <p:nvSpPr>
            <p:cNvPr id="12" name="Rectangle 12"/>
            <p:cNvSpPr/>
            <p:nvPr/>
          </p:nvSpPr>
          <p:spPr>
            <a:xfrm>
              <a:off x="3448050" y="1428750"/>
              <a:ext cx="2457450" cy="1714500"/>
            </a:xfrm>
            <a:prstGeom prst="roundRect">
              <a:avLst>
                <a:gd name="adj" fmla="val 444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3448050" y="1657350"/>
              <a:ext cx="57150" cy="5334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719512" y="1802606"/>
              <a:ext cx="5214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Road segments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99510" y="2242185"/>
              <a:ext cx="110370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1,989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19512" y="27360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Drivable segments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3333750"/>
            <a:ext cx="2457450" cy="1714500"/>
            <a:chOff x="762000" y="3333750"/>
            <a:chExt cx="2457450" cy="1714500"/>
          </a:xfrm>
        </p:grpSpPr>
        <p:sp>
          <p:nvSpPr>
            <p:cNvPr id="18" name="Rectangle 18"/>
            <p:cNvSpPr/>
            <p:nvPr/>
          </p:nvSpPr>
          <p:spPr>
            <a:xfrm>
              <a:off x="762000" y="3333750"/>
              <a:ext cx="2457450" cy="1714500"/>
            </a:xfrm>
            <a:prstGeom prst="roundRect">
              <a:avLst>
                <a:gd name="adj" fmla="val 444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19" name="Rectangle 19"/>
            <p:cNvSpPr/>
            <p:nvPr/>
          </p:nvSpPr>
          <p:spPr>
            <a:xfrm>
              <a:off x="762000" y="3562350"/>
              <a:ext cx="57150" cy="5334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33462" y="370760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Total network length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13460" y="4147185"/>
              <a:ext cx="176619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146.7 km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3462" y="46410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Campus and surroundings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448050" y="3333750"/>
            <a:ext cx="2457450" cy="1714500"/>
            <a:chOff x="3448050" y="3333750"/>
            <a:chExt cx="2457450" cy="1714500"/>
          </a:xfrm>
        </p:grpSpPr>
        <p:sp>
          <p:nvSpPr>
            <p:cNvPr id="24" name="Rectangle 24"/>
            <p:cNvSpPr/>
            <p:nvPr/>
          </p:nvSpPr>
          <p:spPr>
            <a:xfrm>
              <a:off x="3448050" y="3333750"/>
              <a:ext cx="2457450" cy="1714500"/>
            </a:xfrm>
            <a:prstGeom prst="roundRect">
              <a:avLst>
                <a:gd name="adj" fmla="val 444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25" name="Rectangle 25"/>
            <p:cNvSpPr/>
            <p:nvPr/>
          </p:nvSpPr>
          <p:spPr>
            <a:xfrm>
              <a:off x="3448050" y="3562350"/>
              <a:ext cx="57150" cy="5334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19512" y="370760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Connected components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99510" y="4147185"/>
              <a:ext cx="19279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E7D32"/>
                  </a:solidFill>
                  <a:latin typeface="Century Gothic"/>
                  <a:ea typeface="Microsoft YaHei"/>
                  <a:cs typeface="Century Gothic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19512" y="464105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The whole graph is connected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42950" y="5324475"/>
            <a:ext cx="6643211" cy="954881"/>
            <a:chOff x="742950" y="5324475"/>
            <a:chExt cx="6643211" cy="954881"/>
          </a:xfrm>
        </p:grpSpPr>
        <p:sp>
          <p:nvSpPr>
            <p:cNvPr id="30" name="TextBox 30"/>
            <p:cNvSpPr txBox="1"/>
            <p:nvPr/>
          </p:nvSpPr>
          <p:spPr>
            <a:xfrm>
              <a:off x="742950" y="5324475"/>
              <a:ext cx="66432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Start and goal are first snapped to the nearest nodes (44.4 m / 74.5 m off), then Dijkstra is run.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2950" y="5648325"/>
              <a:ext cx="562451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This yields a </a:t>
              </a:r>
              <a:r>
                <a:rPr lang="zh-CN" sz="15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54-node,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zh-CN" sz="15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1463.5 m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 polyline; 1450.6 m after filleting.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7712" y="605075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Fully offline, no network access.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505575" y="1434151"/>
            <a:ext cx="4705350" cy="4807105"/>
            <a:chOff x="6505575" y="1434151"/>
            <a:chExt cx="4705350" cy="4807105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05575" y="1434151"/>
              <a:ext cx="4705350" cy="4465947"/>
            </a:xfrm>
            <a:prstGeom prst="rect">
              <a:avLst/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7940278" y="601265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Road network, with this route highlighted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37" name="TextBox 37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23" grpId="0"/>
      <p:bldP spid="29" grpId="0"/>
      <p:bldP spid="33" grpId="0"/>
      <p:bldP spid="3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29615" y="658178"/>
            <a:ext cx="10714672" cy="518160"/>
            <a:chOff x="729615" y="658178"/>
            <a:chExt cx="10714672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162896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Reference path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622506" y="812006"/>
              <a:ext cx="2821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The raw polyline has a radius of only 2.4 m at s = 589 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42950" y="1247775"/>
            <a:ext cx="8143875" cy="304800"/>
            <a:chOff x="742950" y="1247775"/>
            <a:chExt cx="8143875" cy="304800"/>
          </a:xfrm>
        </p:grpSpPr>
        <p:sp>
          <p:nvSpPr>
            <p:cNvPr id="7" name="TextBox 7"/>
            <p:cNvSpPr txBox="1"/>
            <p:nvPr/>
          </p:nvSpPr>
          <p:spPr>
            <a:xfrm>
              <a:off x="742950" y="1247775"/>
              <a:ext cx="81438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Dashed line: the vehicle's curvature limit of </a:t>
              </a:r>
              <a:r>
                <a:rPr lang="zh-CN" sz="15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0.2801 1/m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 (front wheel 35°, wheelbase 2.50 m); the raw polyline exceeds it</a:t>
              </a:r>
              <a:r>
                <a:rPr lang="zh-CN" sz="1500" b="1" dirty="0">
                  <a:solidFill>
                    <a:srgbClr val="E92E25"/>
                  </a:solidFill>
                  <a:latin typeface="Arial"/>
                  <a:ea typeface="Microsoft YaHei"/>
                  <a:cs typeface="Arial"/>
                </a:rPr>
                <a:t> by 5.7 times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381250" y="1752600"/>
            <a:ext cx="8572500" cy="1524000"/>
            <a:chOff x="2381250" y="1752600"/>
            <a:chExt cx="8572500" cy="1524000"/>
          </a:xfrm>
        </p:grpSpPr>
        <p:sp>
          <p:nvSpPr>
            <p:cNvPr id="9" name="Rectangle 9"/>
            <p:cNvSpPr/>
            <p:nvPr/>
          </p:nvSpPr>
          <p:spPr>
            <a:xfrm>
              <a:off x="2381250" y="1752600"/>
              <a:ext cx="8572500" cy="381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381250" y="2324100"/>
              <a:ext cx="8572500" cy="381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381250" y="2895600"/>
              <a:ext cx="8572500" cy="381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2381250" y="1752600"/>
            <a:ext cx="8572500" cy="1524000"/>
            <a:chOff x="2381250" y="1752600"/>
            <a:chExt cx="8572500" cy="1524000"/>
          </a:xfrm>
        </p:grpSpPr>
        <p:sp>
          <p:nvSpPr>
            <p:cNvPr id="13" name="Rectangle 13"/>
            <p:cNvSpPr/>
            <p:nvPr/>
          </p:nvSpPr>
          <p:spPr>
            <a:xfrm>
              <a:off x="2381250" y="1752600"/>
              <a:ext cx="8572500" cy="381000"/>
            </a:xfrm>
            <a:prstGeom prst="rect">
              <a:avLst/>
            </a:prstGeom>
            <a:solidFill>
              <a:srgbClr val="E92E2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381250" y="2324100"/>
              <a:ext cx="723900" cy="3810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381250" y="2895600"/>
              <a:ext cx="622935" cy="38100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742950" y="1857375"/>
            <a:ext cx="1133475" cy="1447800"/>
            <a:chOff x="742950" y="1857375"/>
            <a:chExt cx="1133475" cy="1447800"/>
          </a:xfrm>
        </p:grpSpPr>
        <p:sp>
          <p:nvSpPr>
            <p:cNvPr id="17" name="TextBox 17"/>
            <p:cNvSpPr txBox="1"/>
            <p:nvPr/>
          </p:nvSpPr>
          <p:spPr>
            <a:xfrm>
              <a:off x="742950" y="1857375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Raw polyline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2950" y="2428875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After Gaussian smoothing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2950" y="3000375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Then filleted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095625" y="1857375"/>
            <a:ext cx="7762875" cy="1447800"/>
            <a:chOff x="3095625" y="1857375"/>
            <a:chExt cx="7762875" cy="1447800"/>
          </a:xfrm>
        </p:grpSpPr>
        <p:sp>
          <p:nvSpPr>
            <p:cNvPr id="21" name="TextBox 21"/>
            <p:cNvSpPr txBox="1"/>
            <p:nvPr/>
          </p:nvSpPr>
          <p:spPr>
            <a:xfrm>
              <a:off x="8278582" y="1857375"/>
              <a:ext cx="257991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1.6049 1/m (R 0.62 m)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00400" y="2428875"/>
              <a:ext cx="11767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32"/>
                  </a:solidFill>
                  <a:latin typeface="Century Gothic"/>
                  <a:ea typeface="Microsoft YaHei"/>
                  <a:cs typeface="Century Gothic"/>
                </a:rPr>
                <a:t>0.1355 1/m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95625" y="3000375"/>
              <a:ext cx="11192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0.1166 1/m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877628" y="1554956"/>
            <a:ext cx="400050" cy="1874044"/>
            <a:chOff x="3877628" y="1554956"/>
            <a:chExt cx="400050" cy="1874044"/>
          </a:xfrm>
        </p:grpSpPr>
        <p:sp>
          <p:nvSpPr>
            <p:cNvPr id="25" name="Line 25"/>
            <p:cNvSpPr/>
            <p:nvPr/>
          </p:nvSpPr>
          <p:spPr>
            <a:xfrm>
              <a:off x="3877628" y="1562100"/>
              <a:ext cx="9525" cy="1866900"/>
            </a:xfrm>
            <a:custGeom>
              <a:avLst/>
              <a:gdLst/>
              <a:ahLst/>
              <a:cxnLst/>
              <a:rect l="l" t="t" r="r" b="b"/>
              <a:pathLst>
                <a:path w="9525" h="1866900">
                  <a:moveTo>
                    <a:pt x="0" y="0"/>
                  </a:moveTo>
                  <a:lnTo>
                    <a:pt x="0" y="1866900"/>
                  </a:lnTo>
                </a:path>
              </a:pathLst>
            </a:custGeom>
            <a:noFill/>
            <a:ln w="28575">
              <a:solidFill>
                <a:srgbClr val="FFC000"/>
              </a:solidFill>
              <a:custDash>
                <a:ds d="266666" sp="200000"/>
              </a:custDash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20490" y="1554956"/>
              <a:ext cx="3571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Limit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133725" y="3619500"/>
            <a:ext cx="5924550" cy="2926556"/>
            <a:chOff x="3133725" y="3619500"/>
            <a:chExt cx="5924550" cy="2926556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33725" y="3619500"/>
              <a:ext cx="5924550" cy="2667000"/>
            </a:xfrm>
            <a:prstGeom prst="rect">
              <a:avLst/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4114145" y="6317456"/>
              <a:ext cx="39637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Curvature along the distance: smoothing accounts for 92% of the reduction, filleting a further 14%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31" name="TextBox 31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04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6" grpId="0"/>
      <p:bldP spid="20" grpId="0"/>
      <p:bldP spid="24" grpId="0"/>
      <p:bldP spid="27" grpId="0"/>
      <p:bldP spid="3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29615" y="658178"/>
            <a:ext cx="10719435" cy="518160"/>
            <a:chOff x="729615" y="658178"/>
            <a:chExt cx="10719435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162896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Speed profile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351645" y="771525"/>
              <a:ext cx="20974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002060"/>
                  </a:solidFill>
                  <a:latin typeface="Consolas"/>
                  <a:ea typeface="Microsoft YaHei"/>
                  <a:cs typeface="Consolas"/>
                </a:rPr>
                <a:t>v = √(a</a:t>
              </a:r>
              <a:r>
                <a:rPr lang="zh-CN" sz="1125" dirty="0">
                  <a:solidFill>
                    <a:srgbClr val="002060"/>
                  </a:solidFill>
                  <a:latin typeface="Consolas"/>
                  <a:ea typeface="Microsoft YaHei"/>
                  <a:cs typeface="Consolas"/>
                </a:rPr>
                <a:t>lat,max</a:t>
              </a:r>
              <a:r>
                <a:rPr lang="zh-CN" sz="1500" dirty="0">
                  <a:solidFill>
                    <a:srgbClr val="002060"/>
                  </a:solidFill>
                  <a:latin typeface="Consolas"/>
                  <a:ea typeface="Microsoft YaHei"/>
                  <a:cs typeface="Consolas"/>
                </a:rPr>
                <a:t> / κ)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428750"/>
            <a:ext cx="3400425" cy="1333500"/>
            <a:chOff x="762000" y="1428750"/>
            <a:chExt cx="3400425" cy="1333500"/>
          </a:xfrm>
        </p:grpSpPr>
        <p:sp>
          <p:nvSpPr>
            <p:cNvPr id="7" name="Rectangle 7"/>
            <p:cNvSpPr/>
            <p:nvPr/>
          </p:nvSpPr>
          <p:spPr>
            <a:xfrm>
              <a:off x="762000" y="1428750"/>
              <a:ext cx="3400425" cy="1333500"/>
            </a:xfrm>
            <a:prstGeom prst="roundRect">
              <a:avLst>
                <a:gd name="adj" fmla="val 571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762000" y="1619250"/>
              <a:ext cx="57150" cy="43815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4412" y="166925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Peak lateral acceleration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94410" y="2070735"/>
              <a:ext cx="209743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4.34 m/s²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4412" y="2488406"/>
              <a:ext cx="25260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It is 7.30 at constant speed along the same path — a 41% reduction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391025" y="1428750"/>
            <a:ext cx="3400425" cy="1333500"/>
            <a:chOff x="4391025" y="1428750"/>
            <a:chExt cx="3400425" cy="1333500"/>
          </a:xfrm>
        </p:grpSpPr>
        <p:sp>
          <p:nvSpPr>
            <p:cNvPr id="13" name="Rectangle 13"/>
            <p:cNvSpPr/>
            <p:nvPr/>
          </p:nvSpPr>
          <p:spPr>
            <a:xfrm>
              <a:off x="4391025" y="1428750"/>
              <a:ext cx="3400425" cy="1333500"/>
            </a:xfrm>
            <a:prstGeom prst="roundRect">
              <a:avLst>
                <a:gd name="adj" fmla="val 571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14" name="Rectangle 14"/>
            <p:cNvSpPr/>
            <p:nvPr/>
          </p:nvSpPr>
          <p:spPr>
            <a:xfrm>
              <a:off x="4391025" y="1619250"/>
              <a:ext cx="57150" cy="43815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43438" y="16692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Planned deceleration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23435" y="2070735"/>
              <a:ext cx="199392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1.75 m/s²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43438" y="2488406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Slope of the deceleration ramp, set to half the tyre limit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020050" y="1428750"/>
            <a:ext cx="3400425" cy="1333500"/>
            <a:chOff x="8020050" y="1428750"/>
            <a:chExt cx="3400425" cy="1333500"/>
          </a:xfrm>
        </p:grpSpPr>
        <p:sp>
          <p:nvSpPr>
            <p:cNvPr id="19" name="Rectangle 19"/>
            <p:cNvSpPr/>
            <p:nvPr/>
          </p:nvSpPr>
          <p:spPr>
            <a:xfrm>
              <a:off x="8020050" y="1428750"/>
              <a:ext cx="3400425" cy="1333500"/>
            </a:xfrm>
            <a:prstGeom prst="roundRect">
              <a:avLst>
                <a:gd name="adj" fmla="val 571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20" name="Rectangle 20"/>
            <p:cNvSpPr/>
            <p:nvPr/>
          </p:nvSpPr>
          <p:spPr>
            <a:xfrm>
              <a:off x="8020050" y="1619250"/>
              <a:ext cx="57150" cy="43815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72462" y="16692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Deceleration lead distance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52460" y="2070735"/>
              <a:ext cx="85527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15 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72462" y="248840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Length of the deceleration ramp before the curvature peak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42950" y="2943225"/>
            <a:ext cx="9239250" cy="304800"/>
            <a:chOff x="742950" y="2943225"/>
            <a:chExt cx="9239250" cy="304800"/>
          </a:xfrm>
        </p:grpSpPr>
        <p:sp>
          <p:nvSpPr>
            <p:cNvPr id="25" name="TextBox 25"/>
            <p:cNvSpPr txBox="1"/>
            <p:nvPr/>
          </p:nvSpPr>
          <p:spPr>
            <a:xfrm>
              <a:off x="742950" y="2943225"/>
              <a:ext cx="9239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The speed limit must be </a:t>
              </a:r>
              <a:r>
                <a:rPr lang="zh-CN" sz="1500" b="1" dirty="0">
                  <a:solidFill>
                    <a:srgbClr val="E92E25"/>
                  </a:solidFill>
                  <a:latin typeface="Arial"/>
                  <a:ea typeface="Microsoft YaHei"/>
                  <a:cs typeface="Arial"/>
                </a:rPr>
                <a:t>propagated point by point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: scan the deceleration sections backwards and the acceleration sections forwards. Written as a one-shot array operation, neighbouring points are missed.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762250" y="3314700"/>
            <a:ext cx="6667500" cy="3231356"/>
            <a:chOff x="2762250" y="3314700"/>
            <a:chExt cx="6667500" cy="3231356"/>
          </a:xfrm>
        </p:grpSpPr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62250" y="3314700"/>
              <a:ext cx="6667500" cy="3000375"/>
            </a:xfrm>
            <a:prstGeom prst="rect">
              <a:avLst/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5095875" y="631745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Speed profile, decelerating ahead of the sharp turns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30" name="TextBox 30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4" grpId="0"/>
      <p:bldP spid="26" grpId="0"/>
      <p:bldP spid="2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29615" y="658178"/>
            <a:ext cx="10714673" cy="518160"/>
            <a:chOff x="729615" y="658178"/>
            <a:chExt cx="10714673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280211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Look-ahead distance and speed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55932" y="812006"/>
              <a:ext cx="39883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18 L_f sweeps; the peak error of every case falls at s ≈ 589 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75393" y="1333500"/>
            <a:ext cx="3907288" cy="3012281"/>
            <a:chOff x="1775393" y="1333500"/>
            <a:chExt cx="3907288" cy="3012281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75393" y="1333500"/>
              <a:ext cx="3907288" cy="266700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3077408" y="4117181"/>
              <a:ext cx="12937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Peak error vs speed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257925" y="1333500"/>
            <a:ext cx="4152900" cy="3012281"/>
            <a:chOff x="6257925" y="1333500"/>
            <a:chExt cx="4152900" cy="3012281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57925" y="1333500"/>
              <a:ext cx="4152900" cy="26670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7523202" y="4117181"/>
              <a:ext cx="16223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Peak error vs look-ahead distance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4476750"/>
            <a:ext cx="10668000" cy="1790700"/>
            <a:chOff x="762000" y="4476750"/>
            <a:chExt cx="10668000" cy="1790700"/>
          </a:xfrm>
        </p:grpSpPr>
        <p:sp>
          <p:nvSpPr>
            <p:cNvPr id="13" name="Rectangle 13"/>
            <p:cNvSpPr/>
            <p:nvPr/>
          </p:nvSpPr>
          <p:spPr>
            <a:xfrm>
              <a:off x="762000" y="4476750"/>
              <a:ext cx="10668000" cy="179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4476750"/>
              <a:ext cx="10668000" cy="36195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7250" y="4562475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Independent variable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38500" y="4562475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Observed quantity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43500" y="4562475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Trend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143250" y="4476750"/>
              <a:ext cx="9525" cy="1790700"/>
            </a:xfrm>
            <a:custGeom>
              <a:avLst/>
              <a:gdLst/>
              <a:ahLst/>
              <a:cxnLst/>
              <a:rect l="l" t="t" r="r" b="b"/>
              <a:pathLst>
                <a:path w="9525" h="1790700">
                  <a:moveTo>
                    <a:pt x="0" y="0"/>
                  </a:moveTo>
                  <a:lnTo>
                    <a:pt x="0" y="179070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048250" y="4476750"/>
              <a:ext cx="9525" cy="1790700"/>
            </a:xfrm>
            <a:custGeom>
              <a:avLst/>
              <a:gdLst/>
              <a:ahLst/>
              <a:cxnLst/>
              <a:rect l="l" t="t" r="r" b="b"/>
              <a:pathLst>
                <a:path w="9525" h="1790700">
                  <a:moveTo>
                    <a:pt x="0" y="0"/>
                  </a:moveTo>
                  <a:lnTo>
                    <a:pt x="0" y="179070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62000" y="53149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762000" y="5791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2000" y="5314950"/>
              <a:ext cx="10668000" cy="47625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857250" y="4981575"/>
            <a:ext cx="8859202" cy="1257300"/>
            <a:chOff x="857250" y="4981575"/>
            <a:chExt cx="8859202" cy="1257300"/>
          </a:xfrm>
        </p:grpSpPr>
        <p:sp>
          <p:nvSpPr>
            <p:cNvPr id="24" name="TextBox 24"/>
            <p:cNvSpPr txBox="1"/>
            <p:nvPr/>
          </p:nvSpPr>
          <p:spPr>
            <a:xfrm>
              <a:off x="857250" y="4981575"/>
              <a:ext cx="207549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Increasing L_f (1 → 12 m)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38500" y="4981575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Peak error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43500" y="4981575"/>
              <a:ext cx="29846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@8 m/s, from </a:t>
              </a:r>
              <a:r>
                <a:rPr lang="zh-CN" sz="1500" b="1" dirty="0">
                  <a:solidFill>
                    <a:srgbClr val="002060"/>
                  </a:solidFill>
                  <a:latin typeface="Century Gothic"/>
                  <a:ea typeface="Microsoft YaHei"/>
                  <a:cs typeface="Century Gothic"/>
                </a:rPr>
                <a:t>1.06 m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 to </a:t>
              </a:r>
              <a:r>
                <a:rPr lang="zh-CN" sz="1500" b="1" dirty="0">
                  <a:solidFill>
                    <a:srgbClr val="E92E25"/>
                  </a:solidFill>
                  <a:latin typeface="Century Gothic"/>
                  <a:ea typeface="Microsoft YaHei"/>
                  <a:cs typeface="Century Gothic"/>
                </a:rPr>
                <a:t>4.12 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7250" y="5457825"/>
              <a:ext cx="207549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Increasing L_f (1 → 12 m)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38500" y="5457825"/>
              <a:ext cx="13415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Steering rate P95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143500" y="5457825"/>
              <a:ext cx="45729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@3 m/s, from </a:t>
              </a:r>
              <a:r>
                <a:rPr lang="zh-CN" sz="1500" b="1" dirty="0">
                  <a:solidFill>
                    <a:srgbClr val="002060"/>
                  </a:solidFill>
                  <a:latin typeface="Century Gothic"/>
                  <a:ea typeface="Microsoft YaHei"/>
                  <a:cs typeface="Century Gothic"/>
                </a:rPr>
                <a:t>23.8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 down to </a:t>
              </a:r>
              <a:r>
                <a:rPr lang="zh-CN" sz="1500" b="1" dirty="0">
                  <a:solidFill>
                    <a:srgbClr val="2E7D32"/>
                  </a:solidFill>
                  <a:latin typeface="Century Gothic"/>
                  <a:ea typeface="Microsoft YaHei"/>
                  <a:cs typeface="Century Gothic"/>
                </a:rPr>
                <a:t>1.8 °/s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, reversals 463 →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7250" y="5934075"/>
              <a:ext cx="23164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Increasing speed (3 → 8 m/s)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38500" y="5934075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Peak error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43500" y="5934075"/>
              <a:ext cx="318182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At L_f = 3 m, from </a:t>
              </a:r>
              <a:r>
                <a:rPr lang="zh-CN" sz="1500" b="1" dirty="0">
                  <a:solidFill>
                    <a:srgbClr val="002060"/>
                  </a:solidFill>
                  <a:latin typeface="Century Gothic"/>
                  <a:ea typeface="Microsoft YaHei"/>
                  <a:cs typeface="Century Gothic"/>
                </a:rPr>
                <a:t>1.42 m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 to </a:t>
              </a:r>
              <a:r>
                <a:rPr lang="zh-CN" sz="1500" b="1" dirty="0">
                  <a:solidFill>
                    <a:srgbClr val="E92E25"/>
                  </a:solidFill>
                  <a:latin typeface="Century Gothic"/>
                  <a:ea typeface="Microsoft YaHei"/>
                  <a:cs typeface="Century Gothic"/>
                </a:rPr>
                <a:t>1.71 m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34" name="TextBox 34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06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23" grpId="0"/>
      <p:bldP spid="3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729615" y="658178"/>
            <a:ext cx="1628966" cy="518160"/>
            <a:chOff x="729615" y="658178"/>
            <a:chExt cx="1628966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162896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Four conclusions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047750" y="1809750"/>
            <a:ext cx="9525" cy="3810000"/>
            <a:chOff x="1047750" y="1809750"/>
            <a:chExt cx="9525" cy="3810000"/>
          </a:xfrm>
        </p:grpSpPr>
        <p:sp>
          <p:nvSpPr>
            <p:cNvPr id="6" name="Line 6"/>
            <p:cNvSpPr/>
            <p:nvPr/>
          </p:nvSpPr>
          <p:spPr>
            <a:xfrm>
              <a:off x="1047750" y="1809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38100">
              <a:gradFill>
                <a:gsLst>
                  <a:gs pos="0">
                    <a:srgbClr val="17375E"/>
                  </a:gs>
                  <a:gs pos="100000">
                    <a:srgbClr val="A6A6A6"/>
                  </a:gs>
                </a:gsLst>
                <a:lin ang="5400000" scaled="1"/>
              </a:gra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62000" y="1714500"/>
            <a:ext cx="5721191" cy="657225"/>
            <a:chOff x="762000" y="1714500"/>
            <a:chExt cx="5721191" cy="657225"/>
          </a:xfrm>
        </p:grpSpPr>
        <p:sp>
          <p:nvSpPr>
            <p:cNvPr id="8" name="Ellipse 8"/>
            <p:cNvSpPr/>
            <p:nvPr/>
          </p:nvSpPr>
          <p:spPr>
            <a:xfrm>
              <a:off x="762000" y="1714500"/>
              <a:ext cx="571500" cy="5715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857250" y="1809750"/>
              <a:ext cx="381000" cy="38100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94196" y="1905000"/>
              <a:ext cx="1071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99235" y="1751648"/>
              <a:ext cx="244182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Curvature smoothing has the largest effect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04950" y="2066925"/>
              <a:ext cx="497824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Same car, same speed, smoothing alone: </a:t>
              </a:r>
              <a:r>
                <a:rPr lang="zh-CN" sz="1500" b="1" dirty="0">
                  <a:solidFill>
                    <a:srgbClr val="E92E25"/>
                  </a:solidFill>
                  <a:latin typeface="Century Gothic"/>
                  <a:ea typeface="Microsoft YaHei"/>
                  <a:cs typeface="Century Gothic"/>
                </a:rPr>
                <a:t>17.83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 → </a:t>
              </a:r>
              <a:r>
                <a:rPr lang="zh-CN" sz="1500" b="1" dirty="0">
                  <a:solidFill>
                    <a:srgbClr val="2E7D32"/>
                  </a:solidFill>
                  <a:latin typeface="Century Gothic"/>
                  <a:ea typeface="Microsoft YaHei"/>
                  <a:cs typeface="Century Gothic"/>
                </a:rPr>
                <a:t>7.97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 m/s²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2857500"/>
            <a:ext cx="6630352" cy="657225"/>
            <a:chOff x="762000" y="2857500"/>
            <a:chExt cx="6630352" cy="657225"/>
          </a:xfrm>
        </p:grpSpPr>
        <p:sp>
          <p:nvSpPr>
            <p:cNvPr id="14" name="Ellipse 14"/>
            <p:cNvSpPr/>
            <p:nvPr/>
          </p:nvSpPr>
          <p:spPr>
            <a:xfrm>
              <a:off x="762000" y="2857500"/>
              <a:ext cx="571500" cy="5715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857250" y="2952750"/>
              <a:ext cx="381000" cy="38100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65442" y="304800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99235" y="2894648"/>
              <a:ext cx="333894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The curvature-based speed limit lowers the lateral acceleration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04950" y="3209925"/>
              <a:ext cx="58874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Same route, constant speed 7.30 → limited 4.34 m/s², terminal error +0.31 m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2000" y="4000500"/>
            <a:ext cx="6126480" cy="657225"/>
            <a:chOff x="762000" y="4000500"/>
            <a:chExt cx="6126480" cy="657225"/>
          </a:xfrm>
        </p:grpSpPr>
        <p:sp>
          <p:nvSpPr>
            <p:cNvPr id="20" name="Ellipse 20"/>
            <p:cNvSpPr/>
            <p:nvPr/>
          </p:nvSpPr>
          <p:spPr>
            <a:xfrm>
              <a:off x="762000" y="4000500"/>
              <a:ext cx="571500" cy="5715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857250" y="4095750"/>
              <a:ext cx="381000" cy="38100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5442" y="419100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99235" y="4037648"/>
              <a:ext cx="244182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The higher the speed, the larger the error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04950" y="4352925"/>
              <a:ext cx="53835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3 → 7 m/s, peak error 1.42 → 1.64 m, quantitatively confirming Problem 1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5143500"/>
            <a:ext cx="6630352" cy="657225"/>
            <a:chOff x="762000" y="5143500"/>
            <a:chExt cx="6630352" cy="657225"/>
          </a:xfrm>
        </p:grpSpPr>
        <p:sp>
          <p:nvSpPr>
            <p:cNvPr id="26" name="Ellipse 26"/>
            <p:cNvSpPr/>
            <p:nvPr/>
          </p:nvSpPr>
          <p:spPr>
            <a:xfrm>
              <a:off x="762000" y="5143500"/>
              <a:ext cx="571500" cy="5715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857250" y="5238750"/>
              <a:ext cx="381000" cy="38100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5442" y="533400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99235" y="5180648"/>
              <a:ext cx="244182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The look-ahead distance requires a trade-off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04950" y="5495925"/>
              <a:ext cx="58874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L_f 1 → 12 m: peak error </a:t>
              </a:r>
              <a:r>
                <a:rPr lang="zh-CN" sz="1500" b="1" dirty="0">
                  <a:solidFill>
                    <a:srgbClr val="E92E25"/>
                  </a:solidFill>
                  <a:latin typeface="Century Gothic"/>
                  <a:ea typeface="Microsoft YaHei"/>
                  <a:cs typeface="Century Gothic"/>
                </a:rPr>
                <a:t>1.06 → 4.12 m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, chatter </a:t>
              </a:r>
              <a:r>
                <a:rPr lang="zh-CN" sz="1500" b="1" dirty="0">
                  <a:solidFill>
                    <a:srgbClr val="2E7D32"/>
                  </a:solidFill>
                  <a:latin typeface="Century Gothic"/>
                  <a:ea typeface="Microsoft YaHei"/>
                  <a:cs typeface="Century Gothic"/>
                </a:rPr>
                <a:t>23.8 → 1.8 °/s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239000" y="1428750"/>
            <a:ext cx="4200525" cy="4679156"/>
            <a:chOff x="7239000" y="1428750"/>
            <a:chExt cx="4200525" cy="4679156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39000" y="1428750"/>
              <a:ext cx="4200525" cy="4286250"/>
            </a:xfrm>
            <a:prstGeom prst="rect">
              <a:avLst/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7701796" y="5879306"/>
              <a:ext cx="32654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Amplified by the sharp bend at s ≈ 589 m; the peak error of the whole run is here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35" name="TextBox 35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07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9" grpId="0"/>
      <p:bldP spid="25" grpId="0"/>
      <p:bldP spid="31" grpId="0"/>
      <p:bldP spid="3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-5400008" y="-514541"/>
            <a:ext cx="18473832" cy="12009407"/>
            <a:chOff x="-5400008" y="-514541"/>
            <a:chExt cx="18473832" cy="12009407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Polygon 3"/>
            <p:cNvSpPr/>
            <p:nvPr/>
          </p:nvSpPr>
          <p:spPr>
            <a:xfrm>
              <a:off x="-5400008" y="7052501"/>
              <a:ext cx="10799921" cy="4442365"/>
            </a:xfrm>
            <a:custGeom>
              <a:avLst/>
              <a:gdLst/>
              <a:ahLst/>
              <a:cxnLst/>
              <a:rect l="l" t="t" r="r" b="b"/>
              <a:pathLst>
                <a:path w="10799921" h="4442365">
                  <a:moveTo>
                    <a:pt x="10799921" y="0"/>
                  </a:moveTo>
                  <a:lnTo>
                    <a:pt x="10799921" y="4442365"/>
                  </a:lnTo>
                  <a:lnTo>
                    <a:pt x="0" y="4442365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9225534" y="-514541"/>
              <a:ext cx="3848290" cy="2031492"/>
            </a:xfrm>
            <a:custGeom>
              <a:avLst/>
              <a:gdLst/>
              <a:ahLst/>
              <a:cxnLst/>
              <a:rect l="l" t="t" r="r" b="b"/>
              <a:pathLst>
                <a:path w="3848290" h="2031492">
                  <a:moveTo>
                    <a:pt x="0" y="0"/>
                  </a:moveTo>
                  <a:lnTo>
                    <a:pt x="0" y="448628"/>
                  </a:lnTo>
                  <a:lnTo>
                    <a:pt x="3848290" y="2031492"/>
                  </a:lnTo>
                  <a:lnTo>
                    <a:pt x="3848290" y="1582864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  <p:sp>
          <p:nvSpPr>
            <p:cNvPr id="5" name="Freeform 5"/>
            <p:cNvSpPr/>
            <p:nvPr/>
          </p:nvSpPr>
          <p:spPr>
            <a:xfrm>
              <a:off x="6661690" y="676561"/>
              <a:ext cx="3176778" cy="1677067"/>
            </a:xfrm>
            <a:custGeom>
              <a:avLst/>
              <a:gdLst/>
              <a:ahLst/>
              <a:cxnLst/>
              <a:rect l="l" t="t" r="r" b="b"/>
              <a:pathLst>
                <a:path w="3176778" h="1677067">
                  <a:moveTo>
                    <a:pt x="0" y="0"/>
                  </a:moveTo>
                  <a:lnTo>
                    <a:pt x="0" y="370332"/>
                  </a:lnTo>
                  <a:lnTo>
                    <a:pt x="3176778" y="1677067"/>
                  </a:lnTo>
                  <a:lnTo>
                    <a:pt x="3176778" y="1306735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  <p:sp>
          <p:nvSpPr>
            <p:cNvPr id="6" name="Freeform 6"/>
            <p:cNvSpPr/>
            <p:nvPr/>
          </p:nvSpPr>
          <p:spPr>
            <a:xfrm>
              <a:off x="7192994" y="954215"/>
              <a:ext cx="2510885" cy="1325594"/>
            </a:xfrm>
            <a:custGeom>
              <a:avLst/>
              <a:gdLst/>
              <a:ahLst/>
              <a:cxnLst/>
              <a:rect l="l" t="t" r="r" b="b"/>
              <a:pathLst>
                <a:path w="2510885" h="1325594">
                  <a:moveTo>
                    <a:pt x="0" y="0"/>
                  </a:moveTo>
                  <a:lnTo>
                    <a:pt x="0" y="292703"/>
                  </a:lnTo>
                  <a:lnTo>
                    <a:pt x="2510885" y="1325594"/>
                  </a:lnTo>
                  <a:lnTo>
                    <a:pt x="2510885" y="103279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</p:grpSp>
      <p:grpSp>
        <p:nvGrpSpPr>
          <p:cNvPr id="10" name="Group 10"/>
          <p:cNvGrpSpPr/>
          <p:nvPr/>
        </p:nvGrpSpPr>
        <p:grpSpPr>
          <a:xfrm>
            <a:off x="707898" y="545592"/>
            <a:ext cx="7777924" cy="670560"/>
            <a:chOff x="707898" y="545592"/>
            <a:chExt cx="7777924" cy="670560"/>
          </a:xfrm>
        </p:grpSpPr>
        <p:sp>
          <p:nvSpPr>
            <p:cNvPr id="8" name="TextBox 8"/>
            <p:cNvSpPr txBox="1"/>
            <p:nvPr/>
          </p:nvSpPr>
          <p:spPr>
            <a:xfrm>
              <a:off x="707898" y="545592"/>
              <a:ext cx="201168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Southeast University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800731" y="799910"/>
              <a:ext cx="5685091" cy="9525"/>
            </a:xfrm>
            <a:custGeom>
              <a:avLst/>
              <a:gdLst/>
              <a:ahLst/>
              <a:cxnLst/>
              <a:rect l="l" t="t" r="r" b="b"/>
              <a:pathLst>
                <a:path w="5685091" h="9525">
                  <a:moveTo>
                    <a:pt x="0" y="0"/>
                  </a:moveTo>
                  <a:lnTo>
                    <a:pt x="5685091" y="0"/>
                  </a:lnTo>
                </a:path>
              </a:pathLst>
            </a:custGeom>
            <a:noFill/>
            <a:ln w="28575">
              <a:solidFill>
                <a:srgbClr val="17375E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4179570" y="2781300"/>
            <a:ext cx="3832860" cy="2105025"/>
            <a:chOff x="4179570" y="2781300"/>
            <a:chExt cx="3832860" cy="2105025"/>
          </a:xfrm>
        </p:grpSpPr>
        <p:sp>
          <p:nvSpPr>
            <p:cNvPr id="11" name="TextBox 11"/>
            <p:cNvSpPr txBox="1"/>
            <p:nvPr/>
          </p:nvSpPr>
          <p:spPr>
            <a:xfrm>
              <a:off x="4179570" y="2781300"/>
              <a:ext cx="383286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0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Thank you for listening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953000" y="38862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38100">
              <a:solidFill>
                <a:srgbClr val="FFC00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35900" y="4215765"/>
              <a:ext cx="312020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002060"/>
                  </a:solidFill>
                  <a:latin typeface="Century Gothic"/>
                  <a:ea typeface="Microsoft YaHei"/>
                  <a:cs typeface="Century Gothic"/>
                </a:rPr>
                <a:t>Comments and criticism welcome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219325" y="5022532"/>
            <a:ext cx="7753350" cy="335280"/>
            <a:chOff x="2219325" y="5022532"/>
            <a:chExt cx="7753350" cy="335280"/>
          </a:xfrm>
        </p:grpSpPr>
        <p:sp>
          <p:nvSpPr>
            <p:cNvPr id="15" name="TextBox 15"/>
            <p:cNvSpPr txBox="1"/>
            <p:nvPr/>
          </p:nvSpPr>
          <p:spPr>
            <a:xfrm>
              <a:off x="2219325" y="5022532"/>
              <a:ext cx="77533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Map construction · Reference path generation · Pure Pursuit implementation · Tracking visualisation · Experimental analysis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50570" y="5819775"/>
            <a:ext cx="11219498" cy="845344"/>
            <a:chOff x="750570" y="5819775"/>
            <a:chExt cx="11219498" cy="845344"/>
          </a:xfrm>
        </p:grpSpPr>
        <p:sp>
          <p:nvSpPr>
            <p:cNvPr id="17" name="Rectangle 17"/>
            <p:cNvSpPr/>
            <p:nvPr/>
          </p:nvSpPr>
          <p:spPr>
            <a:xfrm>
              <a:off x="11788140" y="5819775"/>
              <a:ext cx="181928" cy="545878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0570" y="647509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08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74837" y="6466999"/>
              <a:ext cx="22675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Course assignment for Intelligent Vehicles and Autonomous Driving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15083</Words>
  <Application>Microsoft Office PowerPoint</Application>
  <PresentationFormat>宽屏</PresentationFormat>
  <Paragraphs>486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5" baseType="lpstr">
      <vt:lpstr>Arial</vt:lpstr>
      <vt:lpstr>Calibri</vt:lpstr>
      <vt:lpstr>Century Gothic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1684370099@qq.com</cp:lastModifiedBy>
  <cp:revision>18</cp:revision>
  <dcterms:created xsi:type="dcterms:W3CDTF">2013-01-27T09:14:16Z</dcterms:created>
  <dcterms:modified xsi:type="dcterms:W3CDTF">2026-09-18T05:57:55Z</dcterms:modified>
  <cp:category/>
</cp:coreProperties>
</file>